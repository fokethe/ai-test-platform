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3"/>
  </p:notesMasterIdLst>
  <p:sldIdLst>
    <p:sldId id="256" r:id="rId2"/>
    <p:sldId id="265" r:id="rId3"/>
    <p:sldId id="266" r:id="rId4"/>
    <p:sldId id="267" r:id="rId5"/>
    <p:sldId id="268" r:id="rId6"/>
    <p:sldId id="269" r:id="rId7"/>
    <p:sldId id="273" r:id="rId8"/>
    <p:sldId id="270" r:id="rId9"/>
    <p:sldId id="271" r:id="rId10"/>
    <p:sldId id="272" r:id="rId11"/>
    <p:sldId id="274" r:id="rId12"/>
  </p:sldIdLst>
  <p:sldSz cx="12192000" cy="6858000"/>
  <p:notesSz cx="6858000" cy="12192000"/>
  <p:embeddedFontLst>
    <p:embeddedFont>
      <p:font typeface="MiSans" panose="02010600030101010101" charset="-122"/>
      <p:regular r:id="rId14"/>
    </p:embeddedFont>
    <p:embeddedFont>
      <p:font typeface="微软雅黑" panose="020B0503020204020204" pitchFamily="34" charset="-122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890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0" y="-788931"/>
            <a:ext cx="13388252" cy="9181103"/>
            <a:chOff x="0" y="-788931"/>
            <a:chExt cx="13388252" cy="9181103"/>
          </a:xfrm>
        </p:grpSpPr>
        <p:sp>
          <p:nvSpPr>
            <p:cNvPr id="25" name="矩形 24"/>
            <p:cNvSpPr/>
            <p:nvPr userDrawn="1"/>
          </p:nvSpPr>
          <p:spPr bwMode="auto">
            <a:xfrm>
              <a:off x="0" y="0"/>
              <a:ext cx="12192001" cy="6858001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accent1"/>
                </a:gs>
              </a:gsLst>
              <a:lin ang="0" scaled="1"/>
              <a:tileRect/>
            </a:grad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0" y="5041233"/>
              <a:ext cx="1878446" cy="1816770"/>
              <a:chOff x="0" y="5037829"/>
              <a:chExt cx="1881964" cy="1820171"/>
            </a:xfrm>
          </p:grpSpPr>
          <p:sp>
            <p:nvSpPr>
              <p:cNvPr id="19" name="任意多边形: 形状 18"/>
              <p:cNvSpPr/>
              <p:nvPr/>
            </p:nvSpPr>
            <p:spPr bwMode="auto">
              <a:xfrm>
                <a:off x="0" y="5037829"/>
                <a:ext cx="637048" cy="1286288"/>
              </a:xfrm>
              <a:custGeom>
                <a:avLst/>
                <a:gdLst>
                  <a:gd name="connsiteX0" fmla="*/ 0 w 637048"/>
                  <a:gd name="connsiteY0" fmla="*/ 0 h 1286288"/>
                  <a:gd name="connsiteX1" fmla="*/ 24119 w 637048"/>
                  <a:gd name="connsiteY1" fmla="*/ 4691 h 1286288"/>
                  <a:gd name="connsiteX2" fmla="*/ 50886 w 637048"/>
                  <a:gd name="connsiteY2" fmla="*/ 22467 h 1286288"/>
                  <a:gd name="connsiteX3" fmla="*/ 613366 w 637048"/>
                  <a:gd name="connsiteY3" fmla="*/ 585372 h 1286288"/>
                  <a:gd name="connsiteX4" fmla="*/ 613366 w 637048"/>
                  <a:gd name="connsiteY4" fmla="*/ 700916 h 1286288"/>
                  <a:gd name="connsiteX5" fmla="*/ 50886 w 637048"/>
                  <a:gd name="connsiteY5" fmla="*/ 1263821 h 1286288"/>
                  <a:gd name="connsiteX6" fmla="*/ 24119 w 637048"/>
                  <a:gd name="connsiteY6" fmla="*/ 1281597 h 1286288"/>
                  <a:gd name="connsiteX7" fmla="*/ 0 w 637048"/>
                  <a:gd name="connsiteY7" fmla="*/ 1286288 h 128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7048" h="1286288">
                    <a:moveTo>
                      <a:pt x="0" y="0"/>
                    </a:moveTo>
                    <a:lnTo>
                      <a:pt x="24119" y="4691"/>
                    </a:lnTo>
                    <a:cubicBezTo>
                      <a:pt x="33864" y="8641"/>
                      <a:pt x="42992" y="14566"/>
                      <a:pt x="50886" y="22467"/>
                    </a:cubicBezTo>
                    <a:cubicBezTo>
                      <a:pt x="613366" y="585372"/>
                      <a:pt x="613366" y="585372"/>
                      <a:pt x="613366" y="585372"/>
                    </a:cubicBezTo>
                    <a:cubicBezTo>
                      <a:pt x="644943" y="616974"/>
                      <a:pt x="644943" y="669314"/>
                      <a:pt x="613366" y="700916"/>
                    </a:cubicBezTo>
                    <a:cubicBezTo>
                      <a:pt x="50886" y="1263821"/>
                      <a:pt x="50886" y="1263821"/>
                      <a:pt x="50886" y="1263821"/>
                    </a:cubicBezTo>
                    <a:cubicBezTo>
                      <a:pt x="42992" y="1271722"/>
                      <a:pt x="33864" y="1277647"/>
                      <a:pt x="24119" y="1281597"/>
                    </a:cubicBezTo>
                    <a:lnTo>
                      <a:pt x="0" y="1286288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 bwMode="auto">
              <a:xfrm>
                <a:off x="0" y="5823052"/>
                <a:ext cx="1881964" cy="1034948"/>
              </a:xfrm>
              <a:custGeom>
                <a:avLst/>
                <a:gdLst>
                  <a:gd name="connsiteX0" fmla="*/ 837406 w 1881964"/>
                  <a:gd name="connsiteY0" fmla="*/ 0 h 1034948"/>
                  <a:gd name="connsiteX1" fmla="*/ 930563 w 1881964"/>
                  <a:gd name="connsiteY1" fmla="*/ 38578 h 1034948"/>
                  <a:gd name="connsiteX2" fmla="*/ 1846080 w 1881964"/>
                  <a:gd name="connsiteY2" fmla="*/ 954788 h 1034948"/>
                  <a:gd name="connsiteX3" fmla="*/ 1874991 w 1881964"/>
                  <a:gd name="connsiteY3" fmla="*/ 998639 h 1034948"/>
                  <a:gd name="connsiteX4" fmla="*/ 1881964 w 1881964"/>
                  <a:gd name="connsiteY4" fmla="*/ 1034948 h 1034948"/>
                  <a:gd name="connsiteX5" fmla="*/ 0 w 1881964"/>
                  <a:gd name="connsiteY5" fmla="*/ 1034948 h 1034948"/>
                  <a:gd name="connsiteX6" fmla="*/ 0 w 1881964"/>
                  <a:gd name="connsiteY6" fmla="*/ 783389 h 1034948"/>
                  <a:gd name="connsiteX7" fmla="*/ 130924 w 1881964"/>
                  <a:gd name="connsiteY7" fmla="*/ 652367 h 1034948"/>
                  <a:gd name="connsiteX8" fmla="*/ 744248 w 1881964"/>
                  <a:gd name="connsiteY8" fmla="*/ 38578 h 1034948"/>
                  <a:gd name="connsiteX9" fmla="*/ 837406 w 1881964"/>
                  <a:gd name="connsiteY9" fmla="*/ 0 h 103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81964" h="1034948">
                    <a:moveTo>
                      <a:pt x="837406" y="0"/>
                    </a:moveTo>
                    <a:cubicBezTo>
                      <a:pt x="871135" y="0"/>
                      <a:pt x="904865" y="12860"/>
                      <a:pt x="930563" y="38578"/>
                    </a:cubicBezTo>
                    <a:cubicBezTo>
                      <a:pt x="1846080" y="954788"/>
                      <a:pt x="1846080" y="954788"/>
                      <a:pt x="1846080" y="954788"/>
                    </a:cubicBezTo>
                    <a:cubicBezTo>
                      <a:pt x="1858929" y="967647"/>
                      <a:pt x="1868566" y="982616"/>
                      <a:pt x="1874991" y="998639"/>
                    </a:cubicBezTo>
                    <a:lnTo>
                      <a:pt x="1881964" y="1034948"/>
                    </a:lnTo>
                    <a:lnTo>
                      <a:pt x="0" y="1034948"/>
                    </a:lnTo>
                    <a:lnTo>
                      <a:pt x="0" y="783389"/>
                    </a:lnTo>
                    <a:lnTo>
                      <a:pt x="130924" y="652367"/>
                    </a:lnTo>
                    <a:cubicBezTo>
                      <a:pt x="744248" y="38578"/>
                      <a:pt x="744248" y="38578"/>
                      <a:pt x="744248" y="38578"/>
                    </a:cubicBezTo>
                    <a:cubicBezTo>
                      <a:pt x="769947" y="12860"/>
                      <a:pt x="803676" y="0"/>
                      <a:pt x="837406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995805" y="-788931"/>
              <a:ext cx="8392447" cy="9181103"/>
              <a:chOff x="4995805" y="-788931"/>
              <a:chExt cx="8392447" cy="9181103"/>
            </a:xfrm>
          </p:grpSpPr>
          <p:sp>
            <p:nvSpPr>
              <p:cNvPr id="15" name="任意多边形: 形状 14"/>
              <p:cNvSpPr/>
              <p:nvPr/>
            </p:nvSpPr>
            <p:spPr bwMode="auto">
              <a:xfrm>
                <a:off x="6838950" y="723900"/>
                <a:ext cx="1211115" cy="1212952"/>
              </a:xfrm>
              <a:custGeom>
                <a:avLst/>
                <a:gdLst>
                  <a:gd name="T0" fmla="*/ 1288 w 1320"/>
                  <a:gd name="T1" fmla="*/ 719 h 1321"/>
                  <a:gd name="T2" fmla="*/ 718 w 1320"/>
                  <a:gd name="T3" fmla="*/ 1289 h 1321"/>
                  <a:gd name="T4" fmla="*/ 602 w 1320"/>
                  <a:gd name="T5" fmla="*/ 1289 h 1321"/>
                  <a:gd name="T6" fmla="*/ 32 w 1320"/>
                  <a:gd name="T7" fmla="*/ 719 h 1321"/>
                  <a:gd name="T8" fmla="*/ 32 w 1320"/>
                  <a:gd name="T9" fmla="*/ 602 h 1321"/>
                  <a:gd name="T10" fmla="*/ 602 w 1320"/>
                  <a:gd name="T11" fmla="*/ 32 h 1321"/>
                  <a:gd name="T12" fmla="*/ 718 w 1320"/>
                  <a:gd name="T13" fmla="*/ 32 h 1321"/>
                  <a:gd name="T14" fmla="*/ 1288 w 1320"/>
                  <a:gd name="T15" fmla="*/ 602 h 1321"/>
                  <a:gd name="T16" fmla="*/ 1288 w 1320"/>
                  <a:gd name="T17" fmla="*/ 719 h 1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0" h="1321">
                    <a:moveTo>
                      <a:pt x="1288" y="719"/>
                    </a:moveTo>
                    <a:cubicBezTo>
                      <a:pt x="718" y="1289"/>
                      <a:pt x="718" y="1289"/>
                      <a:pt x="718" y="1289"/>
                    </a:cubicBezTo>
                    <a:cubicBezTo>
                      <a:pt x="686" y="1321"/>
                      <a:pt x="634" y="1321"/>
                      <a:pt x="602" y="1289"/>
                    </a:cubicBezTo>
                    <a:cubicBezTo>
                      <a:pt x="32" y="719"/>
                      <a:pt x="32" y="719"/>
                      <a:pt x="32" y="719"/>
                    </a:cubicBezTo>
                    <a:cubicBezTo>
                      <a:pt x="0" y="687"/>
                      <a:pt x="0" y="634"/>
                      <a:pt x="32" y="602"/>
                    </a:cubicBezTo>
                    <a:cubicBezTo>
                      <a:pt x="602" y="32"/>
                      <a:pt x="602" y="32"/>
                      <a:pt x="602" y="32"/>
                    </a:cubicBezTo>
                    <a:cubicBezTo>
                      <a:pt x="634" y="0"/>
                      <a:pt x="686" y="0"/>
                      <a:pt x="718" y="32"/>
                    </a:cubicBezTo>
                    <a:cubicBezTo>
                      <a:pt x="1288" y="602"/>
                      <a:pt x="1288" y="602"/>
                      <a:pt x="1288" y="602"/>
                    </a:cubicBezTo>
                    <a:cubicBezTo>
                      <a:pt x="1320" y="634"/>
                      <a:pt x="1320" y="687"/>
                      <a:pt x="1288" y="719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 bwMode="auto">
              <a:xfrm>
                <a:off x="10221913" y="5181600"/>
                <a:ext cx="1970088" cy="1676400"/>
              </a:xfrm>
              <a:custGeom>
                <a:avLst/>
                <a:gdLst>
                  <a:gd name="T0" fmla="*/ 1241 w 1241"/>
                  <a:gd name="T1" fmla="*/ 1056 h 1056"/>
                  <a:gd name="T2" fmla="*/ 1241 w 1241"/>
                  <a:gd name="T3" fmla="*/ 138 h 1056"/>
                  <a:gd name="T4" fmla="*/ 1132 w 1241"/>
                  <a:gd name="T5" fmla="*/ 30 h 1056"/>
                  <a:gd name="T6" fmla="*/ 1026 w 1241"/>
                  <a:gd name="T7" fmla="*/ 30 h 1056"/>
                  <a:gd name="T8" fmla="*/ 0 w 1241"/>
                  <a:gd name="T9" fmla="*/ 1056 h 1056"/>
                  <a:gd name="T10" fmla="*/ 1241 w 1241"/>
                  <a:gd name="T11" fmla="*/ 1056 h 1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41" h="1056">
                    <a:moveTo>
                      <a:pt x="1241" y="1056"/>
                    </a:moveTo>
                    <a:cubicBezTo>
                      <a:pt x="1241" y="138"/>
                      <a:pt x="1241" y="138"/>
                      <a:pt x="1241" y="138"/>
                    </a:cubicBezTo>
                    <a:cubicBezTo>
                      <a:pt x="1132" y="30"/>
                      <a:pt x="1132" y="30"/>
                      <a:pt x="1132" y="30"/>
                    </a:cubicBezTo>
                    <a:cubicBezTo>
                      <a:pt x="1103" y="0"/>
                      <a:pt x="1055" y="0"/>
                      <a:pt x="1026" y="30"/>
                    </a:cubicBezTo>
                    <a:cubicBezTo>
                      <a:pt x="0" y="1056"/>
                      <a:pt x="0" y="1056"/>
                      <a:pt x="0" y="1056"/>
                    </a:cubicBezTo>
                    <a:lnTo>
                      <a:pt x="1241" y="1056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 bwMode="auto">
              <a:xfrm>
                <a:off x="7058025" y="0"/>
                <a:ext cx="2295525" cy="1104900"/>
              </a:xfrm>
              <a:custGeom>
                <a:avLst/>
                <a:gdLst>
                  <a:gd name="T0" fmla="*/ 0 w 1447"/>
                  <a:gd name="T1" fmla="*/ 0 h 696"/>
                  <a:gd name="T2" fmla="*/ 11 w 1447"/>
                  <a:gd name="T3" fmla="*/ 13 h 696"/>
                  <a:gd name="T4" fmla="*/ 659 w 1447"/>
                  <a:gd name="T5" fmla="*/ 660 h 696"/>
                  <a:gd name="T6" fmla="*/ 789 w 1447"/>
                  <a:gd name="T7" fmla="*/ 660 h 696"/>
                  <a:gd name="T8" fmla="*/ 1437 w 1447"/>
                  <a:gd name="T9" fmla="*/ 13 h 696"/>
                  <a:gd name="T10" fmla="*/ 1447 w 1447"/>
                  <a:gd name="T11" fmla="*/ 0 h 696"/>
                  <a:gd name="T12" fmla="*/ 0 w 1447"/>
                  <a:gd name="T13" fmla="*/ 0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7" h="696">
                    <a:moveTo>
                      <a:pt x="0" y="0"/>
                    </a:moveTo>
                    <a:cubicBezTo>
                      <a:pt x="4" y="5"/>
                      <a:pt x="7" y="9"/>
                      <a:pt x="11" y="13"/>
                    </a:cubicBezTo>
                    <a:cubicBezTo>
                      <a:pt x="659" y="660"/>
                      <a:pt x="659" y="660"/>
                      <a:pt x="659" y="660"/>
                    </a:cubicBezTo>
                    <a:cubicBezTo>
                      <a:pt x="695" y="696"/>
                      <a:pt x="753" y="696"/>
                      <a:pt x="789" y="660"/>
                    </a:cubicBezTo>
                    <a:cubicBezTo>
                      <a:pt x="1437" y="13"/>
                      <a:pt x="1437" y="13"/>
                      <a:pt x="1437" y="13"/>
                    </a:cubicBezTo>
                    <a:cubicBezTo>
                      <a:pt x="1441" y="9"/>
                      <a:pt x="1444" y="5"/>
                      <a:pt x="14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矩形: 圆角 7"/>
              <p:cNvSpPr>
                <a:spLocks noChangeAspect="1"/>
              </p:cNvSpPr>
              <p:nvPr/>
            </p:nvSpPr>
            <p:spPr>
              <a:xfrm rot="18900000">
                <a:off x="7432491" y="1793690"/>
                <a:ext cx="1548000" cy="1548000"/>
              </a:xfrm>
              <a:prstGeom prst="roundRect">
                <a:avLst>
                  <a:gd name="adj" fmla="val 6624"/>
                </a:avLst>
              </a:prstGeom>
              <a:blipFill dpi="0" rotWithShape="0">
                <a:blip r:embed="rId2"/>
                <a:srcRect/>
                <a:stretch>
                  <a:fillRect l="-71955" t="-10630" r="-6233" b="-8164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 rot="18900000">
                <a:off x="9711315" y="-788931"/>
                <a:ext cx="3676937" cy="5493402"/>
              </a:xfrm>
              <a:custGeom>
                <a:avLst/>
                <a:gdLst>
                  <a:gd name="connsiteX0" fmla="*/ 1860472 w 3676937"/>
                  <a:gd name="connsiteY0" fmla="*/ 0 h 5493402"/>
                  <a:gd name="connsiteX1" fmla="*/ 3676937 w 3676937"/>
                  <a:gd name="connsiteY1" fmla="*/ 1816465 h 5493402"/>
                  <a:gd name="connsiteX2" fmla="*/ 0 w 3676937"/>
                  <a:gd name="connsiteY2" fmla="*/ 5493402 h 5493402"/>
                  <a:gd name="connsiteX3" fmla="*/ 0 w 3676937"/>
                  <a:gd name="connsiteY3" fmla="*/ 163370 h 5493402"/>
                  <a:gd name="connsiteX4" fmla="*/ 163370 w 3676937"/>
                  <a:gd name="connsiteY4" fmla="*/ 0 h 5493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6937" h="5493402">
                    <a:moveTo>
                      <a:pt x="1860472" y="0"/>
                    </a:moveTo>
                    <a:lnTo>
                      <a:pt x="3676937" y="1816465"/>
                    </a:lnTo>
                    <a:lnTo>
                      <a:pt x="0" y="5493402"/>
                    </a:lnTo>
                    <a:lnTo>
                      <a:pt x="0" y="163370"/>
                    </a:lnTo>
                    <a:cubicBezTo>
                      <a:pt x="0" y="73143"/>
                      <a:pt x="73143" y="0"/>
                      <a:pt x="163370" y="0"/>
                    </a:cubicBezTo>
                    <a:close/>
                  </a:path>
                </a:pathLst>
              </a:custGeom>
              <a:blipFill dpi="0" rotWithShape="0">
                <a:blip r:embed="rId3"/>
                <a:srcRect/>
                <a:stretch>
                  <a:fillRect l="-105192" t="4" r="-26880" b="-35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任意多边形: 形状 16"/>
              <p:cNvSpPr>
                <a:spLocks noChangeAspect="1"/>
              </p:cNvSpPr>
              <p:nvPr userDrawn="1"/>
            </p:nvSpPr>
            <p:spPr>
              <a:xfrm rot="18900000">
                <a:off x="7785046" y="3339138"/>
                <a:ext cx="3312000" cy="3312000"/>
              </a:xfrm>
              <a:custGeom>
                <a:avLst/>
                <a:gdLst>
                  <a:gd name="connsiteX0" fmla="*/ 3280259 w 3312000"/>
                  <a:gd name="connsiteY0" fmla="*/ 31741 h 3312000"/>
                  <a:gd name="connsiteX1" fmla="*/ 3312000 w 3312000"/>
                  <a:gd name="connsiteY1" fmla="*/ 108369 h 3312000"/>
                  <a:gd name="connsiteX2" fmla="*/ 3312000 w 3312000"/>
                  <a:gd name="connsiteY2" fmla="*/ 3203631 h 3312000"/>
                  <a:gd name="connsiteX3" fmla="*/ 3203631 w 3312000"/>
                  <a:gd name="connsiteY3" fmla="*/ 3312000 h 3312000"/>
                  <a:gd name="connsiteX4" fmla="*/ 677515 w 3312000"/>
                  <a:gd name="connsiteY4" fmla="*/ 3312000 h 3312000"/>
                  <a:gd name="connsiteX5" fmla="*/ 0 w 3312000"/>
                  <a:gd name="connsiteY5" fmla="*/ 2634485 h 3312000"/>
                  <a:gd name="connsiteX6" fmla="*/ 0 w 3312000"/>
                  <a:gd name="connsiteY6" fmla="*/ 108369 h 3312000"/>
                  <a:gd name="connsiteX7" fmla="*/ 108369 w 3312000"/>
                  <a:gd name="connsiteY7" fmla="*/ 0 h 3312000"/>
                  <a:gd name="connsiteX8" fmla="*/ 3203631 w 3312000"/>
                  <a:gd name="connsiteY8" fmla="*/ 0 h 3312000"/>
                  <a:gd name="connsiteX9" fmla="*/ 3280259 w 3312000"/>
                  <a:gd name="connsiteY9" fmla="*/ 31741 h 331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12000" h="3312000">
                    <a:moveTo>
                      <a:pt x="3280259" y="31741"/>
                    </a:moveTo>
                    <a:cubicBezTo>
                      <a:pt x="3299871" y="51351"/>
                      <a:pt x="3311999" y="78443"/>
                      <a:pt x="3312000" y="108369"/>
                    </a:cubicBezTo>
                    <a:lnTo>
                      <a:pt x="3312000" y="3203631"/>
                    </a:lnTo>
                    <a:cubicBezTo>
                      <a:pt x="3312000" y="3263482"/>
                      <a:pt x="3263482" y="3312000"/>
                      <a:pt x="3203631" y="3312000"/>
                    </a:cubicBezTo>
                    <a:lnTo>
                      <a:pt x="677515" y="3312000"/>
                    </a:lnTo>
                    <a:lnTo>
                      <a:pt x="0" y="2634485"/>
                    </a:lnTo>
                    <a:lnTo>
                      <a:pt x="0" y="108369"/>
                    </a:lnTo>
                    <a:cubicBezTo>
                      <a:pt x="0" y="48518"/>
                      <a:pt x="48518" y="0"/>
                      <a:pt x="108369" y="0"/>
                    </a:cubicBezTo>
                    <a:lnTo>
                      <a:pt x="3203631" y="0"/>
                    </a:lnTo>
                    <a:cubicBezTo>
                      <a:pt x="3233557" y="1"/>
                      <a:pt x="3260649" y="12129"/>
                      <a:pt x="3280259" y="31741"/>
                    </a:cubicBezTo>
                    <a:close/>
                  </a:path>
                </a:pathLst>
              </a:custGeom>
              <a:blipFill dpi="0" rotWithShape="0">
                <a:blip r:embed="rId4"/>
                <a:srcRect/>
                <a:stretch>
                  <a:fillRect l="-37683" t="-1267" r="-3996" b="-304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任意多边形: 形状 20"/>
              <p:cNvSpPr>
                <a:spLocks noChangeAspect="1"/>
              </p:cNvSpPr>
              <p:nvPr/>
            </p:nvSpPr>
            <p:spPr>
              <a:xfrm rot="18900000">
                <a:off x="4995805" y="5323829"/>
                <a:ext cx="3068344" cy="3068343"/>
              </a:xfrm>
              <a:custGeom>
                <a:avLst/>
                <a:gdLst>
                  <a:gd name="connsiteX0" fmla="*/ 3036604 w 3068344"/>
                  <a:gd name="connsiteY0" fmla="*/ 31740 h 3068343"/>
                  <a:gd name="connsiteX1" fmla="*/ 3068344 w 3068344"/>
                  <a:gd name="connsiteY1" fmla="*/ 108369 h 3068343"/>
                  <a:gd name="connsiteX2" fmla="*/ 3068344 w 3068344"/>
                  <a:gd name="connsiteY2" fmla="*/ 3068343 h 3068343"/>
                  <a:gd name="connsiteX3" fmla="*/ 0 w 3068344"/>
                  <a:gd name="connsiteY3" fmla="*/ 0 h 3068343"/>
                  <a:gd name="connsiteX4" fmla="*/ 2959975 w 3068344"/>
                  <a:gd name="connsiteY4" fmla="*/ 0 h 3068343"/>
                  <a:gd name="connsiteX5" fmla="*/ 3036604 w 3068344"/>
                  <a:gd name="connsiteY5" fmla="*/ 31740 h 306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68344" h="3068343">
                    <a:moveTo>
                      <a:pt x="3036604" y="31740"/>
                    </a:moveTo>
                    <a:cubicBezTo>
                      <a:pt x="3056215" y="51351"/>
                      <a:pt x="3068344" y="78443"/>
                      <a:pt x="3068344" y="108369"/>
                    </a:cubicBezTo>
                    <a:lnTo>
                      <a:pt x="3068344" y="3068343"/>
                    </a:lnTo>
                    <a:lnTo>
                      <a:pt x="0" y="0"/>
                    </a:lnTo>
                    <a:lnTo>
                      <a:pt x="2959975" y="0"/>
                    </a:lnTo>
                    <a:cubicBezTo>
                      <a:pt x="2989901" y="0"/>
                      <a:pt x="3016993" y="12129"/>
                      <a:pt x="3036604" y="31740"/>
                    </a:cubicBezTo>
                    <a:close/>
                  </a:path>
                </a:pathLst>
              </a:custGeom>
              <a:blipFill dpi="0" rotWithShape="0">
                <a:blip r:embed="rId5"/>
                <a:srcRect/>
                <a:stretch>
                  <a:fillRect l="-8801" t="-23457" r="-1751" b="-2705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398" y="1130300"/>
            <a:ext cx="6120000" cy="216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398" y="3488322"/>
            <a:ext cx="6120000" cy="7514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4706777"/>
            <a:ext cx="2880000" cy="288000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043269"/>
            <a:ext cx="2880000" cy="288000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  <p:pic>
        <p:nvPicPr>
          <p:cNvPr id="11" name="图片 10" descr="图标&#10;&#10;描述已自动生成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46" y="206640"/>
            <a:ext cx="1022079" cy="131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84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图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7901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bg>
      <p:bgPr>
        <a:gradFill>
          <a:gsLst>
            <a:gs pos="0">
              <a:schemeClr val="accent1">
                <a:lumMod val="75000"/>
              </a:schemeClr>
            </a:gs>
            <a:gs pos="100000">
              <a:schemeClr val="accent1">
                <a:alpha val="9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l="-39472" t="1" r="-185" b="-3914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0" y="1130299"/>
            <a:ext cx="2836561" cy="1147679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4000"/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1" hasCustomPrompt="1"/>
          </p:nvPr>
        </p:nvSpPr>
        <p:spPr>
          <a:xfrm>
            <a:off x="3745077" y="1130300"/>
            <a:ext cx="7773823" cy="463391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  <p:grpSp>
        <p:nvGrpSpPr>
          <p:cNvPr id="11" name="组合 10"/>
          <p:cNvGrpSpPr/>
          <p:nvPr/>
        </p:nvGrpSpPr>
        <p:grpSpPr>
          <a:xfrm>
            <a:off x="2626456" y="1130300"/>
            <a:ext cx="994563" cy="4634686"/>
            <a:chOff x="2626456" y="1500188"/>
            <a:chExt cx="994563" cy="4634686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6350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任意多边形: 形状 12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7346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-1196252" y="-788931"/>
            <a:ext cx="13388252" cy="9181103"/>
            <a:chOff x="0" y="-788931"/>
            <a:chExt cx="13388252" cy="9181103"/>
          </a:xfrm>
        </p:grpSpPr>
        <p:sp>
          <p:nvSpPr>
            <p:cNvPr id="3" name="矩形 2"/>
            <p:cNvSpPr/>
            <p:nvPr/>
          </p:nvSpPr>
          <p:spPr bwMode="auto">
            <a:xfrm>
              <a:off x="0" y="0"/>
              <a:ext cx="12192001" cy="6858001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accent1"/>
                </a:gs>
              </a:gsLst>
              <a:lin ang="0" scaled="1"/>
              <a:tileRect/>
            </a:grad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730529" y="723900"/>
              <a:ext cx="569383" cy="257651"/>
              <a:chOff x="754593" y="723900"/>
              <a:chExt cx="569383" cy="257651"/>
            </a:xfrm>
          </p:grpSpPr>
          <p:sp>
            <p:nvSpPr>
              <p:cNvPr id="37" name="任意多边形: 形状 36"/>
              <p:cNvSpPr/>
              <p:nvPr/>
            </p:nvSpPr>
            <p:spPr bwMode="auto">
              <a:xfrm flipV="1">
                <a:off x="1003684" y="723900"/>
                <a:ext cx="320292" cy="257651"/>
              </a:xfrm>
              <a:custGeom>
                <a:avLst/>
                <a:gdLst>
                  <a:gd name="T0" fmla="*/ 2408 w 5742"/>
                  <a:gd name="T1" fmla="*/ 340 h 4618"/>
                  <a:gd name="T2" fmla="*/ 231 w 5742"/>
                  <a:gd name="T3" fmla="*/ 3776 h 4618"/>
                  <a:gd name="T4" fmla="*/ 695 w 5742"/>
                  <a:gd name="T5" fmla="*/ 4618 h 4618"/>
                  <a:gd name="T6" fmla="*/ 5047 w 5742"/>
                  <a:gd name="T7" fmla="*/ 4618 h 4618"/>
                  <a:gd name="T8" fmla="*/ 5510 w 5742"/>
                  <a:gd name="T9" fmla="*/ 3776 h 4618"/>
                  <a:gd name="T10" fmla="*/ 3334 w 5742"/>
                  <a:gd name="T11" fmla="*/ 340 h 4618"/>
                  <a:gd name="T12" fmla="*/ 2408 w 5742"/>
                  <a:gd name="T13" fmla="*/ 340 h 4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42" h="4618">
                    <a:moveTo>
                      <a:pt x="2408" y="340"/>
                    </a:moveTo>
                    <a:cubicBezTo>
                      <a:pt x="231" y="3776"/>
                      <a:pt x="231" y="3776"/>
                      <a:pt x="231" y="3776"/>
                    </a:cubicBezTo>
                    <a:cubicBezTo>
                      <a:pt x="0" y="4142"/>
                      <a:pt x="262" y="4618"/>
                      <a:pt x="695" y="4618"/>
                    </a:cubicBezTo>
                    <a:cubicBezTo>
                      <a:pt x="5047" y="4618"/>
                      <a:pt x="5047" y="4618"/>
                      <a:pt x="5047" y="4618"/>
                    </a:cubicBezTo>
                    <a:cubicBezTo>
                      <a:pt x="5479" y="4618"/>
                      <a:pt x="5742" y="4142"/>
                      <a:pt x="5510" y="3776"/>
                    </a:cubicBezTo>
                    <a:cubicBezTo>
                      <a:pt x="3334" y="340"/>
                      <a:pt x="3334" y="340"/>
                      <a:pt x="3334" y="340"/>
                    </a:cubicBezTo>
                    <a:cubicBezTo>
                      <a:pt x="3119" y="0"/>
                      <a:pt x="2623" y="0"/>
                      <a:pt x="2408" y="340"/>
                    </a:cubicBezTo>
                    <a:close/>
                  </a:path>
                </a:pathLst>
              </a:custGeom>
              <a:solidFill>
                <a:schemeClr val="tx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lvl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 bwMode="auto">
              <a:xfrm>
                <a:off x="754593" y="723900"/>
                <a:ext cx="320293" cy="257651"/>
              </a:xfrm>
              <a:custGeom>
                <a:avLst/>
                <a:gdLst>
                  <a:gd name="T0" fmla="*/ 2408 w 5742"/>
                  <a:gd name="T1" fmla="*/ 340 h 4618"/>
                  <a:gd name="T2" fmla="*/ 231 w 5742"/>
                  <a:gd name="T3" fmla="*/ 3776 h 4618"/>
                  <a:gd name="T4" fmla="*/ 695 w 5742"/>
                  <a:gd name="T5" fmla="*/ 4618 h 4618"/>
                  <a:gd name="T6" fmla="*/ 5047 w 5742"/>
                  <a:gd name="T7" fmla="*/ 4618 h 4618"/>
                  <a:gd name="T8" fmla="*/ 5510 w 5742"/>
                  <a:gd name="T9" fmla="*/ 3776 h 4618"/>
                  <a:gd name="T10" fmla="*/ 3334 w 5742"/>
                  <a:gd name="T11" fmla="*/ 340 h 4618"/>
                  <a:gd name="T12" fmla="*/ 2408 w 5742"/>
                  <a:gd name="T13" fmla="*/ 340 h 4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42" h="4618">
                    <a:moveTo>
                      <a:pt x="2408" y="340"/>
                    </a:moveTo>
                    <a:cubicBezTo>
                      <a:pt x="231" y="3776"/>
                      <a:pt x="231" y="3776"/>
                      <a:pt x="231" y="3776"/>
                    </a:cubicBezTo>
                    <a:cubicBezTo>
                      <a:pt x="0" y="4142"/>
                      <a:pt x="262" y="4618"/>
                      <a:pt x="695" y="4618"/>
                    </a:cubicBezTo>
                    <a:cubicBezTo>
                      <a:pt x="5047" y="4618"/>
                      <a:pt x="5047" y="4618"/>
                      <a:pt x="5047" y="4618"/>
                    </a:cubicBezTo>
                    <a:cubicBezTo>
                      <a:pt x="5479" y="4618"/>
                      <a:pt x="5742" y="4142"/>
                      <a:pt x="5510" y="3776"/>
                    </a:cubicBezTo>
                    <a:cubicBezTo>
                      <a:pt x="3334" y="340"/>
                      <a:pt x="3334" y="340"/>
                      <a:pt x="3334" y="340"/>
                    </a:cubicBezTo>
                    <a:cubicBezTo>
                      <a:pt x="3119" y="0"/>
                      <a:pt x="2623" y="0"/>
                      <a:pt x="2408" y="34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lvl="0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0" y="5041233"/>
              <a:ext cx="1878446" cy="1816770"/>
              <a:chOff x="0" y="5037829"/>
              <a:chExt cx="1881964" cy="1820171"/>
            </a:xfrm>
          </p:grpSpPr>
          <p:sp>
            <p:nvSpPr>
              <p:cNvPr id="18" name="任意多边形: 形状 17"/>
              <p:cNvSpPr/>
              <p:nvPr/>
            </p:nvSpPr>
            <p:spPr bwMode="auto">
              <a:xfrm>
                <a:off x="0" y="5037829"/>
                <a:ext cx="637048" cy="1286288"/>
              </a:xfrm>
              <a:custGeom>
                <a:avLst/>
                <a:gdLst>
                  <a:gd name="connsiteX0" fmla="*/ 0 w 637048"/>
                  <a:gd name="connsiteY0" fmla="*/ 0 h 1286288"/>
                  <a:gd name="connsiteX1" fmla="*/ 24119 w 637048"/>
                  <a:gd name="connsiteY1" fmla="*/ 4691 h 1286288"/>
                  <a:gd name="connsiteX2" fmla="*/ 50886 w 637048"/>
                  <a:gd name="connsiteY2" fmla="*/ 22467 h 1286288"/>
                  <a:gd name="connsiteX3" fmla="*/ 613366 w 637048"/>
                  <a:gd name="connsiteY3" fmla="*/ 585372 h 1286288"/>
                  <a:gd name="connsiteX4" fmla="*/ 613366 w 637048"/>
                  <a:gd name="connsiteY4" fmla="*/ 700916 h 1286288"/>
                  <a:gd name="connsiteX5" fmla="*/ 50886 w 637048"/>
                  <a:gd name="connsiteY5" fmla="*/ 1263821 h 1286288"/>
                  <a:gd name="connsiteX6" fmla="*/ 24119 w 637048"/>
                  <a:gd name="connsiteY6" fmla="*/ 1281597 h 1286288"/>
                  <a:gd name="connsiteX7" fmla="*/ 0 w 637048"/>
                  <a:gd name="connsiteY7" fmla="*/ 1286288 h 128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7048" h="1286288">
                    <a:moveTo>
                      <a:pt x="0" y="0"/>
                    </a:moveTo>
                    <a:lnTo>
                      <a:pt x="24119" y="4691"/>
                    </a:lnTo>
                    <a:cubicBezTo>
                      <a:pt x="33864" y="8641"/>
                      <a:pt x="42992" y="14566"/>
                      <a:pt x="50886" y="22467"/>
                    </a:cubicBezTo>
                    <a:cubicBezTo>
                      <a:pt x="613366" y="585372"/>
                      <a:pt x="613366" y="585372"/>
                      <a:pt x="613366" y="585372"/>
                    </a:cubicBezTo>
                    <a:cubicBezTo>
                      <a:pt x="644943" y="616974"/>
                      <a:pt x="644943" y="669314"/>
                      <a:pt x="613366" y="700916"/>
                    </a:cubicBezTo>
                    <a:cubicBezTo>
                      <a:pt x="50886" y="1263821"/>
                      <a:pt x="50886" y="1263821"/>
                      <a:pt x="50886" y="1263821"/>
                    </a:cubicBezTo>
                    <a:cubicBezTo>
                      <a:pt x="42992" y="1271722"/>
                      <a:pt x="33864" y="1277647"/>
                      <a:pt x="24119" y="1281597"/>
                    </a:cubicBezTo>
                    <a:lnTo>
                      <a:pt x="0" y="1286288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 bwMode="auto">
              <a:xfrm>
                <a:off x="0" y="5823052"/>
                <a:ext cx="1881964" cy="1034948"/>
              </a:xfrm>
              <a:custGeom>
                <a:avLst/>
                <a:gdLst>
                  <a:gd name="connsiteX0" fmla="*/ 837406 w 1881964"/>
                  <a:gd name="connsiteY0" fmla="*/ 0 h 1034948"/>
                  <a:gd name="connsiteX1" fmla="*/ 930563 w 1881964"/>
                  <a:gd name="connsiteY1" fmla="*/ 38578 h 1034948"/>
                  <a:gd name="connsiteX2" fmla="*/ 1846080 w 1881964"/>
                  <a:gd name="connsiteY2" fmla="*/ 954788 h 1034948"/>
                  <a:gd name="connsiteX3" fmla="*/ 1874991 w 1881964"/>
                  <a:gd name="connsiteY3" fmla="*/ 998639 h 1034948"/>
                  <a:gd name="connsiteX4" fmla="*/ 1881964 w 1881964"/>
                  <a:gd name="connsiteY4" fmla="*/ 1034948 h 1034948"/>
                  <a:gd name="connsiteX5" fmla="*/ 0 w 1881964"/>
                  <a:gd name="connsiteY5" fmla="*/ 1034948 h 1034948"/>
                  <a:gd name="connsiteX6" fmla="*/ 0 w 1881964"/>
                  <a:gd name="connsiteY6" fmla="*/ 783389 h 1034948"/>
                  <a:gd name="connsiteX7" fmla="*/ 130924 w 1881964"/>
                  <a:gd name="connsiteY7" fmla="*/ 652367 h 1034948"/>
                  <a:gd name="connsiteX8" fmla="*/ 744248 w 1881964"/>
                  <a:gd name="connsiteY8" fmla="*/ 38578 h 1034948"/>
                  <a:gd name="connsiteX9" fmla="*/ 837406 w 1881964"/>
                  <a:gd name="connsiteY9" fmla="*/ 0 h 103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81964" h="1034948">
                    <a:moveTo>
                      <a:pt x="837406" y="0"/>
                    </a:moveTo>
                    <a:cubicBezTo>
                      <a:pt x="871135" y="0"/>
                      <a:pt x="904865" y="12860"/>
                      <a:pt x="930563" y="38578"/>
                    </a:cubicBezTo>
                    <a:cubicBezTo>
                      <a:pt x="1846080" y="954788"/>
                      <a:pt x="1846080" y="954788"/>
                      <a:pt x="1846080" y="954788"/>
                    </a:cubicBezTo>
                    <a:cubicBezTo>
                      <a:pt x="1858929" y="967647"/>
                      <a:pt x="1868566" y="982616"/>
                      <a:pt x="1874991" y="998639"/>
                    </a:cubicBezTo>
                    <a:lnTo>
                      <a:pt x="1881964" y="1034948"/>
                    </a:lnTo>
                    <a:lnTo>
                      <a:pt x="0" y="1034948"/>
                    </a:lnTo>
                    <a:lnTo>
                      <a:pt x="0" y="783389"/>
                    </a:lnTo>
                    <a:lnTo>
                      <a:pt x="130924" y="652367"/>
                    </a:lnTo>
                    <a:cubicBezTo>
                      <a:pt x="744248" y="38578"/>
                      <a:pt x="744248" y="38578"/>
                      <a:pt x="744248" y="38578"/>
                    </a:cubicBezTo>
                    <a:cubicBezTo>
                      <a:pt x="769947" y="12860"/>
                      <a:pt x="803676" y="0"/>
                      <a:pt x="837406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995805" y="-788931"/>
              <a:ext cx="8392447" cy="9181103"/>
              <a:chOff x="4995805" y="-788931"/>
              <a:chExt cx="8392447" cy="9181103"/>
            </a:xfrm>
          </p:grpSpPr>
          <p:sp>
            <p:nvSpPr>
              <p:cNvPr id="11" name="任意多边形: 形状 10"/>
              <p:cNvSpPr/>
              <p:nvPr/>
            </p:nvSpPr>
            <p:spPr bwMode="auto">
              <a:xfrm>
                <a:off x="6838950" y="723900"/>
                <a:ext cx="1211115" cy="1212952"/>
              </a:xfrm>
              <a:custGeom>
                <a:avLst/>
                <a:gdLst>
                  <a:gd name="T0" fmla="*/ 1288 w 1320"/>
                  <a:gd name="T1" fmla="*/ 719 h 1321"/>
                  <a:gd name="T2" fmla="*/ 718 w 1320"/>
                  <a:gd name="T3" fmla="*/ 1289 h 1321"/>
                  <a:gd name="T4" fmla="*/ 602 w 1320"/>
                  <a:gd name="T5" fmla="*/ 1289 h 1321"/>
                  <a:gd name="T6" fmla="*/ 32 w 1320"/>
                  <a:gd name="T7" fmla="*/ 719 h 1321"/>
                  <a:gd name="T8" fmla="*/ 32 w 1320"/>
                  <a:gd name="T9" fmla="*/ 602 h 1321"/>
                  <a:gd name="T10" fmla="*/ 602 w 1320"/>
                  <a:gd name="T11" fmla="*/ 32 h 1321"/>
                  <a:gd name="T12" fmla="*/ 718 w 1320"/>
                  <a:gd name="T13" fmla="*/ 32 h 1321"/>
                  <a:gd name="T14" fmla="*/ 1288 w 1320"/>
                  <a:gd name="T15" fmla="*/ 602 h 1321"/>
                  <a:gd name="T16" fmla="*/ 1288 w 1320"/>
                  <a:gd name="T17" fmla="*/ 719 h 1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0" h="1321">
                    <a:moveTo>
                      <a:pt x="1288" y="719"/>
                    </a:moveTo>
                    <a:cubicBezTo>
                      <a:pt x="718" y="1289"/>
                      <a:pt x="718" y="1289"/>
                      <a:pt x="718" y="1289"/>
                    </a:cubicBezTo>
                    <a:cubicBezTo>
                      <a:pt x="686" y="1321"/>
                      <a:pt x="634" y="1321"/>
                      <a:pt x="602" y="1289"/>
                    </a:cubicBezTo>
                    <a:cubicBezTo>
                      <a:pt x="32" y="719"/>
                      <a:pt x="32" y="719"/>
                      <a:pt x="32" y="719"/>
                    </a:cubicBezTo>
                    <a:cubicBezTo>
                      <a:pt x="0" y="687"/>
                      <a:pt x="0" y="634"/>
                      <a:pt x="32" y="602"/>
                    </a:cubicBezTo>
                    <a:cubicBezTo>
                      <a:pt x="602" y="32"/>
                      <a:pt x="602" y="32"/>
                      <a:pt x="602" y="32"/>
                    </a:cubicBezTo>
                    <a:cubicBezTo>
                      <a:pt x="634" y="0"/>
                      <a:pt x="686" y="0"/>
                      <a:pt x="718" y="32"/>
                    </a:cubicBezTo>
                    <a:cubicBezTo>
                      <a:pt x="1288" y="602"/>
                      <a:pt x="1288" y="602"/>
                      <a:pt x="1288" y="602"/>
                    </a:cubicBezTo>
                    <a:cubicBezTo>
                      <a:pt x="1320" y="634"/>
                      <a:pt x="1320" y="687"/>
                      <a:pt x="1288" y="719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 bwMode="auto">
              <a:xfrm>
                <a:off x="10221913" y="5181600"/>
                <a:ext cx="1970088" cy="1676400"/>
              </a:xfrm>
              <a:custGeom>
                <a:avLst/>
                <a:gdLst>
                  <a:gd name="T0" fmla="*/ 1241 w 1241"/>
                  <a:gd name="T1" fmla="*/ 1056 h 1056"/>
                  <a:gd name="T2" fmla="*/ 1241 w 1241"/>
                  <a:gd name="T3" fmla="*/ 138 h 1056"/>
                  <a:gd name="T4" fmla="*/ 1132 w 1241"/>
                  <a:gd name="T5" fmla="*/ 30 h 1056"/>
                  <a:gd name="T6" fmla="*/ 1026 w 1241"/>
                  <a:gd name="T7" fmla="*/ 30 h 1056"/>
                  <a:gd name="T8" fmla="*/ 0 w 1241"/>
                  <a:gd name="T9" fmla="*/ 1056 h 1056"/>
                  <a:gd name="T10" fmla="*/ 1241 w 1241"/>
                  <a:gd name="T11" fmla="*/ 1056 h 1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41" h="1056">
                    <a:moveTo>
                      <a:pt x="1241" y="1056"/>
                    </a:moveTo>
                    <a:cubicBezTo>
                      <a:pt x="1241" y="138"/>
                      <a:pt x="1241" y="138"/>
                      <a:pt x="1241" y="138"/>
                    </a:cubicBezTo>
                    <a:cubicBezTo>
                      <a:pt x="1132" y="30"/>
                      <a:pt x="1132" y="30"/>
                      <a:pt x="1132" y="30"/>
                    </a:cubicBezTo>
                    <a:cubicBezTo>
                      <a:pt x="1103" y="0"/>
                      <a:pt x="1055" y="0"/>
                      <a:pt x="1026" y="30"/>
                    </a:cubicBezTo>
                    <a:cubicBezTo>
                      <a:pt x="0" y="1056"/>
                      <a:pt x="0" y="1056"/>
                      <a:pt x="0" y="1056"/>
                    </a:cubicBezTo>
                    <a:lnTo>
                      <a:pt x="1241" y="1056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 bwMode="auto">
              <a:xfrm>
                <a:off x="7058025" y="0"/>
                <a:ext cx="2295525" cy="1104900"/>
              </a:xfrm>
              <a:custGeom>
                <a:avLst/>
                <a:gdLst>
                  <a:gd name="T0" fmla="*/ 0 w 1447"/>
                  <a:gd name="T1" fmla="*/ 0 h 696"/>
                  <a:gd name="T2" fmla="*/ 11 w 1447"/>
                  <a:gd name="T3" fmla="*/ 13 h 696"/>
                  <a:gd name="T4" fmla="*/ 659 w 1447"/>
                  <a:gd name="T5" fmla="*/ 660 h 696"/>
                  <a:gd name="T6" fmla="*/ 789 w 1447"/>
                  <a:gd name="T7" fmla="*/ 660 h 696"/>
                  <a:gd name="T8" fmla="*/ 1437 w 1447"/>
                  <a:gd name="T9" fmla="*/ 13 h 696"/>
                  <a:gd name="T10" fmla="*/ 1447 w 1447"/>
                  <a:gd name="T11" fmla="*/ 0 h 696"/>
                  <a:gd name="T12" fmla="*/ 0 w 1447"/>
                  <a:gd name="T13" fmla="*/ 0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7" h="696">
                    <a:moveTo>
                      <a:pt x="0" y="0"/>
                    </a:moveTo>
                    <a:cubicBezTo>
                      <a:pt x="4" y="5"/>
                      <a:pt x="7" y="9"/>
                      <a:pt x="11" y="13"/>
                    </a:cubicBezTo>
                    <a:cubicBezTo>
                      <a:pt x="659" y="660"/>
                      <a:pt x="659" y="660"/>
                      <a:pt x="659" y="660"/>
                    </a:cubicBezTo>
                    <a:cubicBezTo>
                      <a:pt x="695" y="696"/>
                      <a:pt x="753" y="696"/>
                      <a:pt x="789" y="660"/>
                    </a:cubicBezTo>
                    <a:cubicBezTo>
                      <a:pt x="1437" y="13"/>
                      <a:pt x="1437" y="13"/>
                      <a:pt x="1437" y="13"/>
                    </a:cubicBezTo>
                    <a:cubicBezTo>
                      <a:pt x="1441" y="9"/>
                      <a:pt x="1444" y="5"/>
                      <a:pt x="14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矩形: 圆角 13"/>
              <p:cNvSpPr>
                <a:spLocks noChangeAspect="1"/>
              </p:cNvSpPr>
              <p:nvPr/>
            </p:nvSpPr>
            <p:spPr>
              <a:xfrm rot="18900000">
                <a:off x="7432491" y="1793690"/>
                <a:ext cx="1548000" cy="1548000"/>
              </a:xfrm>
              <a:prstGeom prst="roundRect">
                <a:avLst>
                  <a:gd name="adj" fmla="val 6624"/>
                </a:avLst>
              </a:prstGeom>
              <a:blipFill dpi="0" rotWithShape="0">
                <a:blip r:embed="rId2"/>
                <a:srcRect/>
                <a:stretch>
                  <a:fillRect l="-71955" t="-10630" r="-6233" b="-8164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rot="18900000">
                <a:off x="9711315" y="-788931"/>
                <a:ext cx="3676937" cy="5493402"/>
              </a:xfrm>
              <a:custGeom>
                <a:avLst/>
                <a:gdLst>
                  <a:gd name="connsiteX0" fmla="*/ 1860472 w 3676937"/>
                  <a:gd name="connsiteY0" fmla="*/ 0 h 5493402"/>
                  <a:gd name="connsiteX1" fmla="*/ 3676937 w 3676937"/>
                  <a:gd name="connsiteY1" fmla="*/ 1816465 h 5493402"/>
                  <a:gd name="connsiteX2" fmla="*/ 0 w 3676937"/>
                  <a:gd name="connsiteY2" fmla="*/ 5493402 h 5493402"/>
                  <a:gd name="connsiteX3" fmla="*/ 0 w 3676937"/>
                  <a:gd name="connsiteY3" fmla="*/ 163370 h 5493402"/>
                  <a:gd name="connsiteX4" fmla="*/ 163370 w 3676937"/>
                  <a:gd name="connsiteY4" fmla="*/ 0 h 5493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6937" h="5493402">
                    <a:moveTo>
                      <a:pt x="1860472" y="0"/>
                    </a:moveTo>
                    <a:lnTo>
                      <a:pt x="3676937" y="1816465"/>
                    </a:lnTo>
                    <a:lnTo>
                      <a:pt x="0" y="5493402"/>
                    </a:lnTo>
                    <a:lnTo>
                      <a:pt x="0" y="163370"/>
                    </a:lnTo>
                    <a:cubicBezTo>
                      <a:pt x="0" y="73143"/>
                      <a:pt x="73143" y="0"/>
                      <a:pt x="163370" y="0"/>
                    </a:cubicBezTo>
                    <a:close/>
                  </a:path>
                </a:pathLst>
              </a:custGeom>
              <a:blipFill dpi="0" rotWithShape="0">
                <a:blip r:embed="rId3"/>
                <a:srcRect/>
                <a:stretch>
                  <a:fillRect l="-105192" t="4" r="-26880" b="-35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任意多边形: 形状 15"/>
              <p:cNvSpPr>
                <a:spLocks noChangeAspect="1"/>
              </p:cNvSpPr>
              <p:nvPr/>
            </p:nvSpPr>
            <p:spPr>
              <a:xfrm rot="18900000">
                <a:off x="7785046" y="3339138"/>
                <a:ext cx="3312000" cy="3312000"/>
              </a:xfrm>
              <a:custGeom>
                <a:avLst/>
                <a:gdLst>
                  <a:gd name="connsiteX0" fmla="*/ 3280259 w 3312000"/>
                  <a:gd name="connsiteY0" fmla="*/ 31741 h 3312000"/>
                  <a:gd name="connsiteX1" fmla="*/ 3312000 w 3312000"/>
                  <a:gd name="connsiteY1" fmla="*/ 108369 h 3312000"/>
                  <a:gd name="connsiteX2" fmla="*/ 3312000 w 3312000"/>
                  <a:gd name="connsiteY2" fmla="*/ 3203631 h 3312000"/>
                  <a:gd name="connsiteX3" fmla="*/ 3203631 w 3312000"/>
                  <a:gd name="connsiteY3" fmla="*/ 3312000 h 3312000"/>
                  <a:gd name="connsiteX4" fmla="*/ 677515 w 3312000"/>
                  <a:gd name="connsiteY4" fmla="*/ 3312000 h 3312000"/>
                  <a:gd name="connsiteX5" fmla="*/ 0 w 3312000"/>
                  <a:gd name="connsiteY5" fmla="*/ 2634485 h 3312000"/>
                  <a:gd name="connsiteX6" fmla="*/ 0 w 3312000"/>
                  <a:gd name="connsiteY6" fmla="*/ 108369 h 3312000"/>
                  <a:gd name="connsiteX7" fmla="*/ 108369 w 3312000"/>
                  <a:gd name="connsiteY7" fmla="*/ 0 h 3312000"/>
                  <a:gd name="connsiteX8" fmla="*/ 3203631 w 3312000"/>
                  <a:gd name="connsiteY8" fmla="*/ 0 h 3312000"/>
                  <a:gd name="connsiteX9" fmla="*/ 3280259 w 3312000"/>
                  <a:gd name="connsiteY9" fmla="*/ 31741 h 331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12000" h="3312000">
                    <a:moveTo>
                      <a:pt x="3280259" y="31741"/>
                    </a:moveTo>
                    <a:cubicBezTo>
                      <a:pt x="3299871" y="51351"/>
                      <a:pt x="3311999" y="78443"/>
                      <a:pt x="3312000" y="108369"/>
                    </a:cubicBezTo>
                    <a:lnTo>
                      <a:pt x="3312000" y="3203631"/>
                    </a:lnTo>
                    <a:cubicBezTo>
                      <a:pt x="3312000" y="3263482"/>
                      <a:pt x="3263482" y="3312000"/>
                      <a:pt x="3203631" y="3312000"/>
                    </a:cubicBezTo>
                    <a:lnTo>
                      <a:pt x="677515" y="3312000"/>
                    </a:lnTo>
                    <a:lnTo>
                      <a:pt x="0" y="2634485"/>
                    </a:lnTo>
                    <a:lnTo>
                      <a:pt x="0" y="108369"/>
                    </a:lnTo>
                    <a:cubicBezTo>
                      <a:pt x="0" y="48518"/>
                      <a:pt x="48518" y="0"/>
                      <a:pt x="108369" y="0"/>
                    </a:cubicBezTo>
                    <a:lnTo>
                      <a:pt x="3203631" y="0"/>
                    </a:lnTo>
                    <a:cubicBezTo>
                      <a:pt x="3233557" y="1"/>
                      <a:pt x="3260649" y="12129"/>
                      <a:pt x="3280259" y="31741"/>
                    </a:cubicBezTo>
                    <a:close/>
                  </a:path>
                </a:pathLst>
              </a:custGeom>
              <a:blipFill dpi="0" rotWithShape="0">
                <a:blip r:embed="rId4"/>
                <a:srcRect/>
                <a:stretch>
                  <a:fillRect l="-37683" t="-1267" r="-3996" b="-304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任意多边形: 形状 16"/>
              <p:cNvSpPr>
                <a:spLocks noChangeAspect="1"/>
              </p:cNvSpPr>
              <p:nvPr/>
            </p:nvSpPr>
            <p:spPr>
              <a:xfrm rot="18900000">
                <a:off x="4995805" y="5323829"/>
                <a:ext cx="3068344" cy="3068343"/>
              </a:xfrm>
              <a:custGeom>
                <a:avLst/>
                <a:gdLst>
                  <a:gd name="connsiteX0" fmla="*/ 3036604 w 3068344"/>
                  <a:gd name="connsiteY0" fmla="*/ 31740 h 3068343"/>
                  <a:gd name="connsiteX1" fmla="*/ 3068344 w 3068344"/>
                  <a:gd name="connsiteY1" fmla="*/ 108369 h 3068343"/>
                  <a:gd name="connsiteX2" fmla="*/ 3068344 w 3068344"/>
                  <a:gd name="connsiteY2" fmla="*/ 3068343 h 3068343"/>
                  <a:gd name="connsiteX3" fmla="*/ 0 w 3068344"/>
                  <a:gd name="connsiteY3" fmla="*/ 0 h 3068343"/>
                  <a:gd name="connsiteX4" fmla="*/ 2959975 w 3068344"/>
                  <a:gd name="connsiteY4" fmla="*/ 0 h 3068343"/>
                  <a:gd name="connsiteX5" fmla="*/ 3036604 w 3068344"/>
                  <a:gd name="connsiteY5" fmla="*/ 31740 h 306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68344" h="3068343">
                    <a:moveTo>
                      <a:pt x="3036604" y="31740"/>
                    </a:moveTo>
                    <a:cubicBezTo>
                      <a:pt x="3056215" y="51351"/>
                      <a:pt x="3068344" y="78443"/>
                      <a:pt x="3068344" y="108369"/>
                    </a:cubicBezTo>
                    <a:lnTo>
                      <a:pt x="3068344" y="3068343"/>
                    </a:lnTo>
                    <a:lnTo>
                      <a:pt x="0" y="0"/>
                    </a:lnTo>
                    <a:lnTo>
                      <a:pt x="2959975" y="0"/>
                    </a:lnTo>
                    <a:cubicBezTo>
                      <a:pt x="2989901" y="0"/>
                      <a:pt x="3016993" y="12129"/>
                      <a:pt x="3036604" y="31740"/>
                    </a:cubicBezTo>
                    <a:close/>
                  </a:path>
                </a:pathLst>
              </a:custGeom>
              <a:blipFill dpi="0" rotWithShape="0">
                <a:blip r:embed="rId5"/>
                <a:srcRect/>
                <a:stretch>
                  <a:fillRect l="-8801" t="-23457" r="-1751" b="-2705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5350406" y="1753275"/>
            <a:ext cx="6168494" cy="1413042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5350406" y="3252245"/>
            <a:ext cx="6168494" cy="95216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27A813-B2FD-42E1-9222-83B574E99074}" type="datetime1">
              <a:rPr lang="zh-CN" altLang="en-US" smtClean="0"/>
              <a:t>2026/3/23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iSlide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19" name="图片 18" descr="图标&#10;&#10;描述已自动生成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821" y="197175"/>
            <a:ext cx="1022079" cy="131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1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0" y="1028699"/>
            <a:ext cx="11007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036457" y="2093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0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0262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0" y="1028699"/>
            <a:ext cx="11007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036457" y="2093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0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7131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0" y="1028699"/>
            <a:ext cx="11007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036457" y="2093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公司概况        主营业务        </a:t>
            </a:r>
            <a:r>
              <a:rPr lang="zh-CN" altLang="en-US" sz="2000" b="1" dirty="0">
                <a:solidFill>
                  <a:srgbClr val="0E6EB8"/>
                </a:solidFill>
              </a:rPr>
              <a:t>案例业绩        </a:t>
            </a:r>
            <a:r>
              <a:rPr lang="zh-CN" alt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合作单位     </a:t>
            </a:r>
          </a:p>
        </p:txBody>
      </p:sp>
    </p:spTree>
    <p:extLst>
      <p:ext uri="{BB962C8B-B14F-4D97-AF65-F5344CB8AC3E}">
        <p14:creationId xmlns:p14="http://schemas.microsoft.com/office/powerpoint/2010/main" val="11272742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图片 5" descr="图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0" y="1028699"/>
            <a:ext cx="11007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036457" y="20931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公司概况        主营业务        案例业绩        </a:t>
            </a:r>
            <a:r>
              <a:rPr lang="zh-CN" altLang="en-US" sz="2000" b="1" dirty="0">
                <a:solidFill>
                  <a:srgbClr val="0E6EB8"/>
                </a:solidFill>
              </a:rPr>
              <a:t>合作单位     </a:t>
            </a:r>
          </a:p>
        </p:txBody>
      </p:sp>
    </p:spTree>
    <p:extLst>
      <p:ext uri="{BB962C8B-B14F-4D97-AF65-F5344CB8AC3E}">
        <p14:creationId xmlns:p14="http://schemas.microsoft.com/office/powerpoint/2010/main" val="38223436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标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47"/>
          <a:stretch>
            <a:fillRect/>
          </a:stretch>
        </p:blipFill>
        <p:spPr>
          <a:xfrm>
            <a:off x="11007860" y="128588"/>
            <a:ext cx="1022079" cy="90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22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-788931"/>
            <a:ext cx="13388252" cy="9181103"/>
            <a:chOff x="0" y="-788931"/>
            <a:chExt cx="13388252" cy="9181103"/>
          </a:xfrm>
        </p:grpSpPr>
        <p:sp>
          <p:nvSpPr>
            <p:cNvPr id="3" name="矩形 2"/>
            <p:cNvSpPr/>
            <p:nvPr/>
          </p:nvSpPr>
          <p:spPr bwMode="auto">
            <a:xfrm>
              <a:off x="0" y="0"/>
              <a:ext cx="12192001" cy="6858001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accent1"/>
                </a:gs>
              </a:gsLst>
              <a:lin ang="0" scaled="1"/>
              <a:tileRect/>
            </a:grad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0" y="5041233"/>
              <a:ext cx="1878446" cy="1816770"/>
              <a:chOff x="0" y="5037829"/>
              <a:chExt cx="1881964" cy="1820171"/>
            </a:xfrm>
          </p:grpSpPr>
          <p:sp>
            <p:nvSpPr>
              <p:cNvPr id="17" name="任意多边形: 形状 16"/>
              <p:cNvSpPr/>
              <p:nvPr/>
            </p:nvSpPr>
            <p:spPr bwMode="auto">
              <a:xfrm>
                <a:off x="0" y="5037829"/>
                <a:ext cx="637048" cy="1286288"/>
              </a:xfrm>
              <a:custGeom>
                <a:avLst/>
                <a:gdLst>
                  <a:gd name="connsiteX0" fmla="*/ 0 w 637048"/>
                  <a:gd name="connsiteY0" fmla="*/ 0 h 1286288"/>
                  <a:gd name="connsiteX1" fmla="*/ 24119 w 637048"/>
                  <a:gd name="connsiteY1" fmla="*/ 4691 h 1286288"/>
                  <a:gd name="connsiteX2" fmla="*/ 50886 w 637048"/>
                  <a:gd name="connsiteY2" fmla="*/ 22467 h 1286288"/>
                  <a:gd name="connsiteX3" fmla="*/ 613366 w 637048"/>
                  <a:gd name="connsiteY3" fmla="*/ 585372 h 1286288"/>
                  <a:gd name="connsiteX4" fmla="*/ 613366 w 637048"/>
                  <a:gd name="connsiteY4" fmla="*/ 700916 h 1286288"/>
                  <a:gd name="connsiteX5" fmla="*/ 50886 w 637048"/>
                  <a:gd name="connsiteY5" fmla="*/ 1263821 h 1286288"/>
                  <a:gd name="connsiteX6" fmla="*/ 24119 w 637048"/>
                  <a:gd name="connsiteY6" fmla="*/ 1281597 h 1286288"/>
                  <a:gd name="connsiteX7" fmla="*/ 0 w 637048"/>
                  <a:gd name="connsiteY7" fmla="*/ 1286288 h 1286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7048" h="1286288">
                    <a:moveTo>
                      <a:pt x="0" y="0"/>
                    </a:moveTo>
                    <a:lnTo>
                      <a:pt x="24119" y="4691"/>
                    </a:lnTo>
                    <a:cubicBezTo>
                      <a:pt x="33864" y="8641"/>
                      <a:pt x="42992" y="14566"/>
                      <a:pt x="50886" y="22467"/>
                    </a:cubicBezTo>
                    <a:cubicBezTo>
                      <a:pt x="613366" y="585372"/>
                      <a:pt x="613366" y="585372"/>
                      <a:pt x="613366" y="585372"/>
                    </a:cubicBezTo>
                    <a:cubicBezTo>
                      <a:pt x="644943" y="616974"/>
                      <a:pt x="644943" y="669314"/>
                      <a:pt x="613366" y="700916"/>
                    </a:cubicBezTo>
                    <a:cubicBezTo>
                      <a:pt x="50886" y="1263821"/>
                      <a:pt x="50886" y="1263821"/>
                      <a:pt x="50886" y="1263821"/>
                    </a:cubicBezTo>
                    <a:cubicBezTo>
                      <a:pt x="42992" y="1271722"/>
                      <a:pt x="33864" y="1277647"/>
                      <a:pt x="24119" y="1281597"/>
                    </a:cubicBezTo>
                    <a:lnTo>
                      <a:pt x="0" y="1286288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 bwMode="auto">
              <a:xfrm>
                <a:off x="0" y="5823052"/>
                <a:ext cx="1881964" cy="1034948"/>
              </a:xfrm>
              <a:custGeom>
                <a:avLst/>
                <a:gdLst>
                  <a:gd name="connsiteX0" fmla="*/ 837406 w 1881964"/>
                  <a:gd name="connsiteY0" fmla="*/ 0 h 1034948"/>
                  <a:gd name="connsiteX1" fmla="*/ 930563 w 1881964"/>
                  <a:gd name="connsiteY1" fmla="*/ 38578 h 1034948"/>
                  <a:gd name="connsiteX2" fmla="*/ 1846080 w 1881964"/>
                  <a:gd name="connsiteY2" fmla="*/ 954788 h 1034948"/>
                  <a:gd name="connsiteX3" fmla="*/ 1874991 w 1881964"/>
                  <a:gd name="connsiteY3" fmla="*/ 998639 h 1034948"/>
                  <a:gd name="connsiteX4" fmla="*/ 1881964 w 1881964"/>
                  <a:gd name="connsiteY4" fmla="*/ 1034948 h 1034948"/>
                  <a:gd name="connsiteX5" fmla="*/ 0 w 1881964"/>
                  <a:gd name="connsiteY5" fmla="*/ 1034948 h 1034948"/>
                  <a:gd name="connsiteX6" fmla="*/ 0 w 1881964"/>
                  <a:gd name="connsiteY6" fmla="*/ 783389 h 1034948"/>
                  <a:gd name="connsiteX7" fmla="*/ 130924 w 1881964"/>
                  <a:gd name="connsiteY7" fmla="*/ 652367 h 1034948"/>
                  <a:gd name="connsiteX8" fmla="*/ 744248 w 1881964"/>
                  <a:gd name="connsiteY8" fmla="*/ 38578 h 1034948"/>
                  <a:gd name="connsiteX9" fmla="*/ 837406 w 1881964"/>
                  <a:gd name="connsiteY9" fmla="*/ 0 h 103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81964" h="1034948">
                    <a:moveTo>
                      <a:pt x="837406" y="0"/>
                    </a:moveTo>
                    <a:cubicBezTo>
                      <a:pt x="871135" y="0"/>
                      <a:pt x="904865" y="12860"/>
                      <a:pt x="930563" y="38578"/>
                    </a:cubicBezTo>
                    <a:cubicBezTo>
                      <a:pt x="1846080" y="954788"/>
                      <a:pt x="1846080" y="954788"/>
                      <a:pt x="1846080" y="954788"/>
                    </a:cubicBezTo>
                    <a:cubicBezTo>
                      <a:pt x="1858929" y="967647"/>
                      <a:pt x="1868566" y="982616"/>
                      <a:pt x="1874991" y="998639"/>
                    </a:cubicBezTo>
                    <a:lnTo>
                      <a:pt x="1881964" y="1034948"/>
                    </a:lnTo>
                    <a:lnTo>
                      <a:pt x="0" y="1034948"/>
                    </a:lnTo>
                    <a:lnTo>
                      <a:pt x="0" y="783389"/>
                    </a:lnTo>
                    <a:lnTo>
                      <a:pt x="130924" y="652367"/>
                    </a:lnTo>
                    <a:cubicBezTo>
                      <a:pt x="744248" y="38578"/>
                      <a:pt x="744248" y="38578"/>
                      <a:pt x="744248" y="38578"/>
                    </a:cubicBezTo>
                    <a:cubicBezTo>
                      <a:pt x="769947" y="12860"/>
                      <a:pt x="803676" y="0"/>
                      <a:pt x="837406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4995805" y="-788931"/>
              <a:ext cx="8392447" cy="9181103"/>
              <a:chOff x="4995805" y="-788931"/>
              <a:chExt cx="8392447" cy="9181103"/>
            </a:xfrm>
          </p:grpSpPr>
          <p:sp>
            <p:nvSpPr>
              <p:cNvPr id="10" name="任意多边形: 形状 9"/>
              <p:cNvSpPr/>
              <p:nvPr/>
            </p:nvSpPr>
            <p:spPr bwMode="auto">
              <a:xfrm>
                <a:off x="6838950" y="723900"/>
                <a:ext cx="1211115" cy="1212952"/>
              </a:xfrm>
              <a:custGeom>
                <a:avLst/>
                <a:gdLst>
                  <a:gd name="T0" fmla="*/ 1288 w 1320"/>
                  <a:gd name="T1" fmla="*/ 719 h 1321"/>
                  <a:gd name="T2" fmla="*/ 718 w 1320"/>
                  <a:gd name="T3" fmla="*/ 1289 h 1321"/>
                  <a:gd name="T4" fmla="*/ 602 w 1320"/>
                  <a:gd name="T5" fmla="*/ 1289 h 1321"/>
                  <a:gd name="T6" fmla="*/ 32 w 1320"/>
                  <a:gd name="T7" fmla="*/ 719 h 1321"/>
                  <a:gd name="T8" fmla="*/ 32 w 1320"/>
                  <a:gd name="T9" fmla="*/ 602 h 1321"/>
                  <a:gd name="T10" fmla="*/ 602 w 1320"/>
                  <a:gd name="T11" fmla="*/ 32 h 1321"/>
                  <a:gd name="T12" fmla="*/ 718 w 1320"/>
                  <a:gd name="T13" fmla="*/ 32 h 1321"/>
                  <a:gd name="T14" fmla="*/ 1288 w 1320"/>
                  <a:gd name="T15" fmla="*/ 602 h 1321"/>
                  <a:gd name="T16" fmla="*/ 1288 w 1320"/>
                  <a:gd name="T17" fmla="*/ 719 h 1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0" h="1321">
                    <a:moveTo>
                      <a:pt x="1288" y="719"/>
                    </a:moveTo>
                    <a:cubicBezTo>
                      <a:pt x="718" y="1289"/>
                      <a:pt x="718" y="1289"/>
                      <a:pt x="718" y="1289"/>
                    </a:cubicBezTo>
                    <a:cubicBezTo>
                      <a:pt x="686" y="1321"/>
                      <a:pt x="634" y="1321"/>
                      <a:pt x="602" y="1289"/>
                    </a:cubicBezTo>
                    <a:cubicBezTo>
                      <a:pt x="32" y="719"/>
                      <a:pt x="32" y="719"/>
                      <a:pt x="32" y="719"/>
                    </a:cubicBezTo>
                    <a:cubicBezTo>
                      <a:pt x="0" y="687"/>
                      <a:pt x="0" y="634"/>
                      <a:pt x="32" y="602"/>
                    </a:cubicBezTo>
                    <a:cubicBezTo>
                      <a:pt x="602" y="32"/>
                      <a:pt x="602" y="32"/>
                      <a:pt x="602" y="32"/>
                    </a:cubicBezTo>
                    <a:cubicBezTo>
                      <a:pt x="634" y="0"/>
                      <a:pt x="686" y="0"/>
                      <a:pt x="718" y="32"/>
                    </a:cubicBezTo>
                    <a:cubicBezTo>
                      <a:pt x="1288" y="602"/>
                      <a:pt x="1288" y="602"/>
                      <a:pt x="1288" y="602"/>
                    </a:cubicBezTo>
                    <a:cubicBezTo>
                      <a:pt x="1320" y="634"/>
                      <a:pt x="1320" y="687"/>
                      <a:pt x="1288" y="719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 bwMode="auto">
              <a:xfrm>
                <a:off x="10221913" y="5181600"/>
                <a:ext cx="1970088" cy="1676400"/>
              </a:xfrm>
              <a:custGeom>
                <a:avLst/>
                <a:gdLst>
                  <a:gd name="T0" fmla="*/ 1241 w 1241"/>
                  <a:gd name="T1" fmla="*/ 1056 h 1056"/>
                  <a:gd name="T2" fmla="*/ 1241 w 1241"/>
                  <a:gd name="T3" fmla="*/ 138 h 1056"/>
                  <a:gd name="T4" fmla="*/ 1132 w 1241"/>
                  <a:gd name="T5" fmla="*/ 30 h 1056"/>
                  <a:gd name="T6" fmla="*/ 1026 w 1241"/>
                  <a:gd name="T7" fmla="*/ 30 h 1056"/>
                  <a:gd name="T8" fmla="*/ 0 w 1241"/>
                  <a:gd name="T9" fmla="*/ 1056 h 1056"/>
                  <a:gd name="T10" fmla="*/ 1241 w 1241"/>
                  <a:gd name="T11" fmla="*/ 1056 h 1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41" h="1056">
                    <a:moveTo>
                      <a:pt x="1241" y="1056"/>
                    </a:moveTo>
                    <a:cubicBezTo>
                      <a:pt x="1241" y="138"/>
                      <a:pt x="1241" y="138"/>
                      <a:pt x="1241" y="138"/>
                    </a:cubicBezTo>
                    <a:cubicBezTo>
                      <a:pt x="1132" y="30"/>
                      <a:pt x="1132" y="30"/>
                      <a:pt x="1132" y="30"/>
                    </a:cubicBezTo>
                    <a:cubicBezTo>
                      <a:pt x="1103" y="0"/>
                      <a:pt x="1055" y="0"/>
                      <a:pt x="1026" y="30"/>
                    </a:cubicBezTo>
                    <a:cubicBezTo>
                      <a:pt x="0" y="1056"/>
                      <a:pt x="0" y="1056"/>
                      <a:pt x="0" y="1056"/>
                    </a:cubicBezTo>
                    <a:lnTo>
                      <a:pt x="1241" y="1056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 bwMode="auto">
              <a:xfrm>
                <a:off x="7058025" y="0"/>
                <a:ext cx="2295525" cy="1104900"/>
              </a:xfrm>
              <a:custGeom>
                <a:avLst/>
                <a:gdLst>
                  <a:gd name="T0" fmla="*/ 0 w 1447"/>
                  <a:gd name="T1" fmla="*/ 0 h 696"/>
                  <a:gd name="T2" fmla="*/ 11 w 1447"/>
                  <a:gd name="T3" fmla="*/ 13 h 696"/>
                  <a:gd name="T4" fmla="*/ 659 w 1447"/>
                  <a:gd name="T5" fmla="*/ 660 h 696"/>
                  <a:gd name="T6" fmla="*/ 789 w 1447"/>
                  <a:gd name="T7" fmla="*/ 660 h 696"/>
                  <a:gd name="T8" fmla="*/ 1437 w 1447"/>
                  <a:gd name="T9" fmla="*/ 13 h 696"/>
                  <a:gd name="T10" fmla="*/ 1447 w 1447"/>
                  <a:gd name="T11" fmla="*/ 0 h 696"/>
                  <a:gd name="T12" fmla="*/ 0 w 1447"/>
                  <a:gd name="T13" fmla="*/ 0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7" h="696">
                    <a:moveTo>
                      <a:pt x="0" y="0"/>
                    </a:moveTo>
                    <a:cubicBezTo>
                      <a:pt x="4" y="5"/>
                      <a:pt x="7" y="9"/>
                      <a:pt x="11" y="13"/>
                    </a:cubicBezTo>
                    <a:cubicBezTo>
                      <a:pt x="659" y="660"/>
                      <a:pt x="659" y="660"/>
                      <a:pt x="659" y="660"/>
                    </a:cubicBezTo>
                    <a:cubicBezTo>
                      <a:pt x="695" y="696"/>
                      <a:pt x="753" y="696"/>
                      <a:pt x="789" y="660"/>
                    </a:cubicBezTo>
                    <a:cubicBezTo>
                      <a:pt x="1437" y="13"/>
                      <a:pt x="1437" y="13"/>
                      <a:pt x="1437" y="13"/>
                    </a:cubicBezTo>
                    <a:cubicBezTo>
                      <a:pt x="1441" y="9"/>
                      <a:pt x="1444" y="5"/>
                      <a:pt x="144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  <a:alpha val="1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矩形: 圆角 12"/>
              <p:cNvSpPr>
                <a:spLocks noChangeAspect="1"/>
              </p:cNvSpPr>
              <p:nvPr/>
            </p:nvSpPr>
            <p:spPr>
              <a:xfrm rot="18900000">
                <a:off x="7432491" y="1793690"/>
                <a:ext cx="1548000" cy="1548000"/>
              </a:xfrm>
              <a:prstGeom prst="roundRect">
                <a:avLst>
                  <a:gd name="adj" fmla="val 6624"/>
                </a:avLst>
              </a:prstGeom>
              <a:blipFill dpi="0" rotWithShape="0">
                <a:blip r:embed="rId2"/>
                <a:srcRect/>
                <a:stretch>
                  <a:fillRect l="-71955" t="-10630" r="-6233" b="-8164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 rot="18900000">
                <a:off x="9711315" y="-788931"/>
                <a:ext cx="3676937" cy="5493402"/>
              </a:xfrm>
              <a:custGeom>
                <a:avLst/>
                <a:gdLst>
                  <a:gd name="connsiteX0" fmla="*/ 1860472 w 3676937"/>
                  <a:gd name="connsiteY0" fmla="*/ 0 h 5493402"/>
                  <a:gd name="connsiteX1" fmla="*/ 3676937 w 3676937"/>
                  <a:gd name="connsiteY1" fmla="*/ 1816465 h 5493402"/>
                  <a:gd name="connsiteX2" fmla="*/ 0 w 3676937"/>
                  <a:gd name="connsiteY2" fmla="*/ 5493402 h 5493402"/>
                  <a:gd name="connsiteX3" fmla="*/ 0 w 3676937"/>
                  <a:gd name="connsiteY3" fmla="*/ 163370 h 5493402"/>
                  <a:gd name="connsiteX4" fmla="*/ 163370 w 3676937"/>
                  <a:gd name="connsiteY4" fmla="*/ 0 h 5493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6937" h="5493402">
                    <a:moveTo>
                      <a:pt x="1860472" y="0"/>
                    </a:moveTo>
                    <a:lnTo>
                      <a:pt x="3676937" y="1816465"/>
                    </a:lnTo>
                    <a:lnTo>
                      <a:pt x="0" y="5493402"/>
                    </a:lnTo>
                    <a:lnTo>
                      <a:pt x="0" y="163370"/>
                    </a:lnTo>
                    <a:cubicBezTo>
                      <a:pt x="0" y="73143"/>
                      <a:pt x="73143" y="0"/>
                      <a:pt x="163370" y="0"/>
                    </a:cubicBezTo>
                    <a:close/>
                  </a:path>
                </a:pathLst>
              </a:custGeom>
              <a:blipFill dpi="0" rotWithShape="0">
                <a:blip r:embed="rId3"/>
                <a:srcRect/>
                <a:stretch>
                  <a:fillRect l="-105192" t="4" r="-26880" b="-3561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任意多边形: 形状 14"/>
              <p:cNvSpPr>
                <a:spLocks noChangeAspect="1"/>
              </p:cNvSpPr>
              <p:nvPr/>
            </p:nvSpPr>
            <p:spPr>
              <a:xfrm rot="18900000">
                <a:off x="7785046" y="3339138"/>
                <a:ext cx="3312000" cy="3312000"/>
              </a:xfrm>
              <a:custGeom>
                <a:avLst/>
                <a:gdLst>
                  <a:gd name="connsiteX0" fmla="*/ 3280259 w 3312000"/>
                  <a:gd name="connsiteY0" fmla="*/ 31741 h 3312000"/>
                  <a:gd name="connsiteX1" fmla="*/ 3312000 w 3312000"/>
                  <a:gd name="connsiteY1" fmla="*/ 108369 h 3312000"/>
                  <a:gd name="connsiteX2" fmla="*/ 3312000 w 3312000"/>
                  <a:gd name="connsiteY2" fmla="*/ 3203631 h 3312000"/>
                  <a:gd name="connsiteX3" fmla="*/ 3203631 w 3312000"/>
                  <a:gd name="connsiteY3" fmla="*/ 3312000 h 3312000"/>
                  <a:gd name="connsiteX4" fmla="*/ 677515 w 3312000"/>
                  <a:gd name="connsiteY4" fmla="*/ 3312000 h 3312000"/>
                  <a:gd name="connsiteX5" fmla="*/ 0 w 3312000"/>
                  <a:gd name="connsiteY5" fmla="*/ 2634485 h 3312000"/>
                  <a:gd name="connsiteX6" fmla="*/ 0 w 3312000"/>
                  <a:gd name="connsiteY6" fmla="*/ 108369 h 3312000"/>
                  <a:gd name="connsiteX7" fmla="*/ 108369 w 3312000"/>
                  <a:gd name="connsiteY7" fmla="*/ 0 h 3312000"/>
                  <a:gd name="connsiteX8" fmla="*/ 3203631 w 3312000"/>
                  <a:gd name="connsiteY8" fmla="*/ 0 h 3312000"/>
                  <a:gd name="connsiteX9" fmla="*/ 3280259 w 3312000"/>
                  <a:gd name="connsiteY9" fmla="*/ 31741 h 331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12000" h="3312000">
                    <a:moveTo>
                      <a:pt x="3280259" y="31741"/>
                    </a:moveTo>
                    <a:cubicBezTo>
                      <a:pt x="3299871" y="51351"/>
                      <a:pt x="3311999" y="78443"/>
                      <a:pt x="3312000" y="108369"/>
                    </a:cubicBezTo>
                    <a:lnTo>
                      <a:pt x="3312000" y="3203631"/>
                    </a:lnTo>
                    <a:cubicBezTo>
                      <a:pt x="3312000" y="3263482"/>
                      <a:pt x="3263482" y="3312000"/>
                      <a:pt x="3203631" y="3312000"/>
                    </a:cubicBezTo>
                    <a:lnTo>
                      <a:pt x="677515" y="3312000"/>
                    </a:lnTo>
                    <a:lnTo>
                      <a:pt x="0" y="2634485"/>
                    </a:lnTo>
                    <a:lnTo>
                      <a:pt x="0" y="108369"/>
                    </a:lnTo>
                    <a:cubicBezTo>
                      <a:pt x="0" y="48518"/>
                      <a:pt x="48518" y="0"/>
                      <a:pt x="108369" y="0"/>
                    </a:cubicBezTo>
                    <a:lnTo>
                      <a:pt x="3203631" y="0"/>
                    </a:lnTo>
                    <a:cubicBezTo>
                      <a:pt x="3233557" y="1"/>
                      <a:pt x="3260649" y="12129"/>
                      <a:pt x="3280259" y="31741"/>
                    </a:cubicBezTo>
                    <a:close/>
                  </a:path>
                </a:pathLst>
              </a:custGeom>
              <a:blipFill dpi="0" rotWithShape="0">
                <a:blip r:embed="rId4"/>
                <a:srcRect/>
                <a:stretch>
                  <a:fillRect l="-37683" t="-1267" r="-3996" b="-304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任意多边形: 形状 15"/>
              <p:cNvSpPr>
                <a:spLocks noChangeAspect="1"/>
              </p:cNvSpPr>
              <p:nvPr/>
            </p:nvSpPr>
            <p:spPr>
              <a:xfrm rot="18900000">
                <a:off x="4995805" y="5323829"/>
                <a:ext cx="3068344" cy="3068343"/>
              </a:xfrm>
              <a:custGeom>
                <a:avLst/>
                <a:gdLst>
                  <a:gd name="connsiteX0" fmla="*/ 3036604 w 3068344"/>
                  <a:gd name="connsiteY0" fmla="*/ 31740 h 3068343"/>
                  <a:gd name="connsiteX1" fmla="*/ 3068344 w 3068344"/>
                  <a:gd name="connsiteY1" fmla="*/ 108369 h 3068343"/>
                  <a:gd name="connsiteX2" fmla="*/ 3068344 w 3068344"/>
                  <a:gd name="connsiteY2" fmla="*/ 3068343 h 3068343"/>
                  <a:gd name="connsiteX3" fmla="*/ 0 w 3068344"/>
                  <a:gd name="connsiteY3" fmla="*/ 0 h 3068343"/>
                  <a:gd name="connsiteX4" fmla="*/ 2959975 w 3068344"/>
                  <a:gd name="connsiteY4" fmla="*/ 0 h 3068343"/>
                  <a:gd name="connsiteX5" fmla="*/ 3036604 w 3068344"/>
                  <a:gd name="connsiteY5" fmla="*/ 31740 h 306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68344" h="3068343">
                    <a:moveTo>
                      <a:pt x="3036604" y="31740"/>
                    </a:moveTo>
                    <a:cubicBezTo>
                      <a:pt x="3056215" y="51351"/>
                      <a:pt x="3068344" y="78443"/>
                      <a:pt x="3068344" y="108369"/>
                    </a:cubicBezTo>
                    <a:lnTo>
                      <a:pt x="3068344" y="3068343"/>
                    </a:lnTo>
                    <a:lnTo>
                      <a:pt x="0" y="0"/>
                    </a:lnTo>
                    <a:lnTo>
                      <a:pt x="2959975" y="0"/>
                    </a:lnTo>
                    <a:cubicBezTo>
                      <a:pt x="2989901" y="0"/>
                      <a:pt x="3016993" y="12129"/>
                      <a:pt x="3036604" y="31740"/>
                    </a:cubicBezTo>
                    <a:close/>
                  </a:path>
                </a:pathLst>
              </a:custGeom>
              <a:blipFill dpi="0" rotWithShape="0">
                <a:blip r:embed="rId5"/>
                <a:srcRect/>
                <a:stretch>
                  <a:fillRect l="-8801" t="-23457" r="-1751" b="-2705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0" y="1130299"/>
            <a:ext cx="6193975" cy="2189203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66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4512563"/>
            <a:ext cx="2880000" cy="288000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4861087"/>
            <a:ext cx="2880000" cy="288000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  <p:pic>
        <p:nvPicPr>
          <p:cNvPr id="21" name="图片 20" descr="图标&#10;&#10;描述已自动生成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7" y="223861"/>
            <a:ext cx="1022079" cy="131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8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60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90000">
              <a:schemeClr val="accent1">
                <a:lumMod val="20000"/>
                <a:lumOff val="80000"/>
                <a:alpha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组合 13"/>
          <p:cNvGrpSpPr>
            <a:grpSpLocks noChangeAspect="1"/>
          </p:cNvGrpSpPr>
          <p:nvPr/>
        </p:nvGrpSpPr>
        <p:grpSpPr>
          <a:xfrm>
            <a:off x="272914" y="624084"/>
            <a:ext cx="360000" cy="272215"/>
            <a:chOff x="114481" y="692579"/>
            <a:chExt cx="423581" cy="320293"/>
          </a:xfrm>
        </p:grpSpPr>
        <p:sp>
          <p:nvSpPr>
            <p:cNvPr id="11" name="任意多边形: 形状 10"/>
            <p:cNvSpPr/>
            <p:nvPr/>
          </p:nvSpPr>
          <p:spPr bwMode="auto">
            <a:xfrm rot="16200000" flipH="1" flipV="1">
              <a:off x="249090" y="723900"/>
              <a:ext cx="320293" cy="257651"/>
            </a:xfrm>
            <a:custGeom>
              <a:avLst/>
              <a:gdLst>
                <a:gd name="T0" fmla="*/ 2408 w 5742"/>
                <a:gd name="T1" fmla="*/ 340 h 4618"/>
                <a:gd name="T2" fmla="*/ 231 w 5742"/>
                <a:gd name="T3" fmla="*/ 3776 h 4618"/>
                <a:gd name="T4" fmla="*/ 695 w 5742"/>
                <a:gd name="T5" fmla="*/ 4618 h 4618"/>
                <a:gd name="T6" fmla="*/ 5047 w 5742"/>
                <a:gd name="T7" fmla="*/ 4618 h 4618"/>
                <a:gd name="T8" fmla="*/ 5510 w 5742"/>
                <a:gd name="T9" fmla="*/ 3776 h 4618"/>
                <a:gd name="T10" fmla="*/ 3334 w 5742"/>
                <a:gd name="T11" fmla="*/ 340 h 4618"/>
                <a:gd name="T12" fmla="*/ 2408 w 5742"/>
                <a:gd name="T13" fmla="*/ 340 h 4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42" h="4618">
                  <a:moveTo>
                    <a:pt x="2408" y="340"/>
                  </a:moveTo>
                  <a:cubicBezTo>
                    <a:pt x="231" y="3776"/>
                    <a:pt x="231" y="3776"/>
                    <a:pt x="231" y="3776"/>
                  </a:cubicBezTo>
                  <a:cubicBezTo>
                    <a:pt x="0" y="4142"/>
                    <a:pt x="262" y="4618"/>
                    <a:pt x="695" y="4618"/>
                  </a:cubicBezTo>
                  <a:cubicBezTo>
                    <a:pt x="5047" y="4618"/>
                    <a:pt x="5047" y="4618"/>
                    <a:pt x="5047" y="4618"/>
                  </a:cubicBezTo>
                  <a:cubicBezTo>
                    <a:pt x="5479" y="4618"/>
                    <a:pt x="5742" y="4142"/>
                    <a:pt x="5510" y="3776"/>
                  </a:cubicBezTo>
                  <a:cubicBezTo>
                    <a:pt x="3334" y="340"/>
                    <a:pt x="3334" y="340"/>
                    <a:pt x="3334" y="340"/>
                  </a:cubicBezTo>
                  <a:cubicBezTo>
                    <a:pt x="3119" y="0"/>
                    <a:pt x="2623" y="0"/>
                    <a:pt x="2408" y="3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 bwMode="auto">
            <a:xfrm rot="16200000" flipH="1" flipV="1">
              <a:off x="83160" y="723900"/>
              <a:ext cx="320293" cy="257651"/>
            </a:xfrm>
            <a:custGeom>
              <a:avLst/>
              <a:gdLst>
                <a:gd name="T0" fmla="*/ 2408 w 5742"/>
                <a:gd name="T1" fmla="*/ 340 h 4618"/>
                <a:gd name="T2" fmla="*/ 231 w 5742"/>
                <a:gd name="T3" fmla="*/ 3776 h 4618"/>
                <a:gd name="T4" fmla="*/ 695 w 5742"/>
                <a:gd name="T5" fmla="*/ 4618 h 4618"/>
                <a:gd name="T6" fmla="*/ 5047 w 5742"/>
                <a:gd name="T7" fmla="*/ 4618 h 4618"/>
                <a:gd name="T8" fmla="*/ 5510 w 5742"/>
                <a:gd name="T9" fmla="*/ 3776 h 4618"/>
                <a:gd name="T10" fmla="*/ 3334 w 5742"/>
                <a:gd name="T11" fmla="*/ 340 h 4618"/>
                <a:gd name="T12" fmla="*/ 2408 w 5742"/>
                <a:gd name="T13" fmla="*/ 340 h 4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42" h="4618">
                  <a:moveTo>
                    <a:pt x="2408" y="340"/>
                  </a:moveTo>
                  <a:cubicBezTo>
                    <a:pt x="231" y="3776"/>
                    <a:pt x="231" y="3776"/>
                    <a:pt x="231" y="3776"/>
                  </a:cubicBezTo>
                  <a:cubicBezTo>
                    <a:pt x="0" y="4142"/>
                    <a:pt x="262" y="4618"/>
                    <a:pt x="695" y="4618"/>
                  </a:cubicBezTo>
                  <a:cubicBezTo>
                    <a:pt x="5047" y="4618"/>
                    <a:pt x="5047" y="4618"/>
                    <a:pt x="5047" y="4618"/>
                  </a:cubicBezTo>
                  <a:cubicBezTo>
                    <a:pt x="5479" y="4618"/>
                    <a:pt x="5742" y="4142"/>
                    <a:pt x="5510" y="3776"/>
                  </a:cubicBezTo>
                  <a:cubicBezTo>
                    <a:pt x="3334" y="340"/>
                    <a:pt x="3334" y="340"/>
                    <a:pt x="3334" y="340"/>
                  </a:cubicBezTo>
                  <a:cubicBezTo>
                    <a:pt x="3119" y="0"/>
                    <a:pt x="2623" y="0"/>
                    <a:pt x="2408" y="340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/>
              <a:endParaRPr lang="zh-CN" altLang="en-US"/>
            </a:p>
          </p:txBody>
        </p:sp>
      </p:grpSp>
      <p:pic>
        <p:nvPicPr>
          <p:cNvPr id="10" name="图片 9" descr="图标&#10;&#10;描述已自动生成"/>
          <p:cNvPicPr>
            <a:picLocks noChangeAspect="1"/>
          </p:cNvPicPr>
          <p:nvPr/>
        </p:nvPicPr>
        <p:blipFill>
          <a:blip r:embed="rId1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780838" y="1314157"/>
            <a:ext cx="1589370" cy="2038806"/>
          </a:xfrm>
          <a:prstGeom prst="rect">
            <a:avLst/>
          </a:prstGeom>
        </p:spPr>
      </p:pic>
      <p:pic>
        <p:nvPicPr>
          <p:cNvPr id="12" name="图片 11" descr="图标&#10;&#10;描述已自动生成"/>
          <p:cNvPicPr>
            <a:picLocks noChangeAspect="1"/>
          </p:cNvPicPr>
          <p:nvPr/>
        </p:nvPicPr>
        <p:blipFill>
          <a:blip r:embed="rId1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3251566" y="4170576"/>
            <a:ext cx="1589370" cy="2038806"/>
          </a:xfrm>
          <a:prstGeom prst="rect">
            <a:avLst/>
          </a:prstGeom>
        </p:spPr>
      </p:pic>
      <p:pic>
        <p:nvPicPr>
          <p:cNvPr id="15" name="图片 14" descr="图标&#10;&#10;描述已自动生成"/>
          <p:cNvPicPr>
            <a:picLocks noChangeAspect="1"/>
          </p:cNvPicPr>
          <p:nvPr/>
        </p:nvPicPr>
        <p:blipFill>
          <a:blip r:embed="rId1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6959966" y="4170576"/>
            <a:ext cx="1589370" cy="2038806"/>
          </a:xfrm>
          <a:prstGeom prst="rect">
            <a:avLst/>
          </a:prstGeom>
        </p:spPr>
      </p:pic>
      <p:pic>
        <p:nvPicPr>
          <p:cNvPr id="16" name="图片 15" descr="图标&#10;&#10;描述已自动生成"/>
          <p:cNvPicPr>
            <a:picLocks noChangeAspect="1"/>
          </p:cNvPicPr>
          <p:nvPr/>
        </p:nvPicPr>
        <p:blipFill>
          <a:blip r:embed="rId1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9674533" y="1314157"/>
            <a:ext cx="1589370" cy="2038806"/>
          </a:xfrm>
          <a:prstGeom prst="rect">
            <a:avLst/>
          </a:prstGeom>
        </p:spPr>
      </p:pic>
      <p:pic>
        <p:nvPicPr>
          <p:cNvPr id="17" name="图片 16" descr="图标&#10;&#10;描述已自动生成"/>
          <p:cNvPicPr>
            <a:picLocks noChangeAspect="1"/>
          </p:cNvPicPr>
          <p:nvPr/>
        </p:nvPicPr>
        <p:blipFill>
          <a:blip r:embed="rId1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 detail="2"/>
                    </a14:imgEffect>
                    <a14:imgEffect>
                      <a14:brightnessContrast bright="13000"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28843">
            <a:off x="5181966" y="1314157"/>
            <a:ext cx="1589370" cy="20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0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3"/>
          <p:cNvSpPr/>
          <p:nvPr/>
        </p:nvSpPr>
        <p:spPr>
          <a:xfrm>
            <a:off x="4992053" y="1295400"/>
            <a:ext cx="2209800" cy="419100"/>
          </a:xfrm>
          <a:custGeom>
            <a:avLst/>
            <a:gdLst/>
            <a:ahLst/>
            <a:cxnLst/>
            <a:rect l="l" t="t" r="r" b="b"/>
            <a:pathLst>
              <a:path w="2209800" h="419100">
                <a:moveTo>
                  <a:pt x="209550" y="0"/>
                </a:moveTo>
                <a:lnTo>
                  <a:pt x="2000250" y="0"/>
                </a:lnTo>
                <a:cubicBezTo>
                  <a:pt x="2115904" y="0"/>
                  <a:pt x="2209800" y="93896"/>
                  <a:pt x="2209800" y="209550"/>
                </a:cubicBezTo>
                <a:lnTo>
                  <a:pt x="2209800" y="209550"/>
                </a:lnTo>
                <a:cubicBezTo>
                  <a:pt x="2209800" y="325204"/>
                  <a:pt x="2115904" y="419100"/>
                  <a:pt x="200025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233750" y="14097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0099" y="-2679"/>
                </a:moveTo>
                <a:cubicBezTo>
                  <a:pt x="78057" y="-4755"/>
                  <a:pt x="75076" y="-5592"/>
                  <a:pt x="72263" y="-4822"/>
                </a:cubicBezTo>
                <a:cubicBezTo>
                  <a:pt x="69451" y="-4052"/>
                  <a:pt x="67274" y="-1875"/>
                  <a:pt x="66571" y="938"/>
                </a:cubicBezTo>
                <a:lnTo>
                  <a:pt x="61447" y="21096"/>
                </a:lnTo>
                <a:cubicBezTo>
                  <a:pt x="61079" y="22570"/>
                  <a:pt x="59572" y="23440"/>
                  <a:pt x="58132" y="23005"/>
                </a:cubicBezTo>
                <a:lnTo>
                  <a:pt x="38107" y="17379"/>
                </a:lnTo>
                <a:cubicBezTo>
                  <a:pt x="35295" y="16576"/>
                  <a:pt x="32281" y="17379"/>
                  <a:pt x="30238" y="19422"/>
                </a:cubicBezTo>
                <a:cubicBezTo>
                  <a:pt x="28195" y="21465"/>
                  <a:pt x="27392" y="24479"/>
                  <a:pt x="28195" y="27291"/>
                </a:cubicBezTo>
                <a:lnTo>
                  <a:pt x="33855" y="47316"/>
                </a:lnTo>
                <a:cubicBezTo>
                  <a:pt x="34257" y="48756"/>
                  <a:pt x="33386" y="50263"/>
                  <a:pt x="31946" y="50631"/>
                </a:cubicBezTo>
                <a:lnTo>
                  <a:pt x="11754" y="55755"/>
                </a:lnTo>
                <a:cubicBezTo>
                  <a:pt x="8941" y="56458"/>
                  <a:pt x="6731" y="58668"/>
                  <a:pt x="5961" y="61481"/>
                </a:cubicBezTo>
                <a:cubicBezTo>
                  <a:pt x="5190" y="64294"/>
                  <a:pt x="6028" y="67274"/>
                  <a:pt x="8104" y="69317"/>
                </a:cubicBezTo>
                <a:lnTo>
                  <a:pt x="23005" y="83816"/>
                </a:lnTo>
                <a:cubicBezTo>
                  <a:pt x="24077" y="84854"/>
                  <a:pt x="24077" y="86596"/>
                  <a:pt x="23005" y="87667"/>
                </a:cubicBezTo>
                <a:lnTo>
                  <a:pt x="8137" y="102167"/>
                </a:lnTo>
                <a:cubicBezTo>
                  <a:pt x="6061" y="104209"/>
                  <a:pt x="5224" y="107190"/>
                  <a:pt x="5994" y="110003"/>
                </a:cubicBezTo>
                <a:cubicBezTo>
                  <a:pt x="6764" y="112815"/>
                  <a:pt x="8974" y="114992"/>
                  <a:pt x="11787" y="115729"/>
                </a:cubicBezTo>
                <a:lnTo>
                  <a:pt x="31946" y="120852"/>
                </a:lnTo>
                <a:cubicBezTo>
                  <a:pt x="33419" y="121221"/>
                  <a:pt x="34290" y="122727"/>
                  <a:pt x="33855" y="124167"/>
                </a:cubicBezTo>
                <a:lnTo>
                  <a:pt x="28195" y="144159"/>
                </a:lnTo>
                <a:cubicBezTo>
                  <a:pt x="27392" y="146971"/>
                  <a:pt x="28195" y="149985"/>
                  <a:pt x="30238" y="152028"/>
                </a:cubicBezTo>
                <a:cubicBezTo>
                  <a:pt x="32281" y="154071"/>
                  <a:pt x="35295" y="154874"/>
                  <a:pt x="38107" y="154071"/>
                </a:cubicBezTo>
                <a:lnTo>
                  <a:pt x="58132" y="148411"/>
                </a:lnTo>
                <a:cubicBezTo>
                  <a:pt x="59572" y="148010"/>
                  <a:pt x="61079" y="148880"/>
                  <a:pt x="61447" y="150320"/>
                </a:cubicBezTo>
                <a:lnTo>
                  <a:pt x="66571" y="170479"/>
                </a:lnTo>
                <a:cubicBezTo>
                  <a:pt x="67274" y="173292"/>
                  <a:pt x="69484" y="175502"/>
                  <a:pt x="72297" y="176272"/>
                </a:cubicBezTo>
                <a:cubicBezTo>
                  <a:pt x="75110" y="177042"/>
                  <a:pt x="78090" y="176205"/>
                  <a:pt x="80133" y="174129"/>
                </a:cubicBezTo>
                <a:lnTo>
                  <a:pt x="94632" y="159227"/>
                </a:lnTo>
                <a:cubicBezTo>
                  <a:pt x="95670" y="158156"/>
                  <a:pt x="97412" y="158156"/>
                  <a:pt x="98483" y="159227"/>
                </a:cubicBezTo>
                <a:lnTo>
                  <a:pt x="112949" y="174129"/>
                </a:lnTo>
                <a:cubicBezTo>
                  <a:pt x="114992" y="176205"/>
                  <a:pt x="117972" y="177042"/>
                  <a:pt x="120785" y="176272"/>
                </a:cubicBezTo>
                <a:cubicBezTo>
                  <a:pt x="123598" y="175502"/>
                  <a:pt x="125775" y="173292"/>
                  <a:pt x="126511" y="170479"/>
                </a:cubicBezTo>
                <a:lnTo>
                  <a:pt x="131635" y="150354"/>
                </a:lnTo>
                <a:cubicBezTo>
                  <a:pt x="132003" y="148880"/>
                  <a:pt x="133510" y="148010"/>
                  <a:pt x="134950" y="148445"/>
                </a:cubicBezTo>
                <a:lnTo>
                  <a:pt x="154975" y="154104"/>
                </a:lnTo>
                <a:cubicBezTo>
                  <a:pt x="157788" y="154908"/>
                  <a:pt x="160801" y="154104"/>
                  <a:pt x="162844" y="152061"/>
                </a:cubicBezTo>
                <a:cubicBezTo>
                  <a:pt x="164887" y="150019"/>
                  <a:pt x="165690" y="147005"/>
                  <a:pt x="164887" y="144192"/>
                </a:cubicBezTo>
                <a:lnTo>
                  <a:pt x="159227" y="124167"/>
                </a:lnTo>
                <a:cubicBezTo>
                  <a:pt x="158826" y="122727"/>
                  <a:pt x="159696" y="121221"/>
                  <a:pt x="161136" y="120852"/>
                </a:cubicBezTo>
                <a:lnTo>
                  <a:pt x="181295" y="115729"/>
                </a:lnTo>
                <a:cubicBezTo>
                  <a:pt x="184108" y="115026"/>
                  <a:pt x="186318" y="112815"/>
                  <a:pt x="187088" y="110003"/>
                </a:cubicBezTo>
                <a:cubicBezTo>
                  <a:pt x="187858" y="107190"/>
                  <a:pt x="187021" y="104176"/>
                  <a:pt x="184945" y="102167"/>
                </a:cubicBezTo>
                <a:lnTo>
                  <a:pt x="170044" y="87667"/>
                </a:lnTo>
                <a:cubicBezTo>
                  <a:pt x="168972" y="86629"/>
                  <a:pt x="168972" y="84888"/>
                  <a:pt x="170044" y="83816"/>
                </a:cubicBezTo>
                <a:lnTo>
                  <a:pt x="184945" y="69317"/>
                </a:lnTo>
                <a:cubicBezTo>
                  <a:pt x="187021" y="67274"/>
                  <a:pt x="187858" y="64294"/>
                  <a:pt x="187088" y="61481"/>
                </a:cubicBezTo>
                <a:cubicBezTo>
                  <a:pt x="186318" y="58668"/>
                  <a:pt x="184108" y="56491"/>
                  <a:pt x="181295" y="55755"/>
                </a:cubicBezTo>
                <a:lnTo>
                  <a:pt x="161136" y="50631"/>
                </a:lnTo>
                <a:cubicBezTo>
                  <a:pt x="159663" y="50263"/>
                  <a:pt x="158792" y="48756"/>
                  <a:pt x="159227" y="47316"/>
                </a:cubicBezTo>
                <a:lnTo>
                  <a:pt x="164887" y="27291"/>
                </a:lnTo>
                <a:cubicBezTo>
                  <a:pt x="165690" y="24479"/>
                  <a:pt x="164887" y="21465"/>
                  <a:pt x="162844" y="19422"/>
                </a:cubicBezTo>
                <a:cubicBezTo>
                  <a:pt x="160801" y="17379"/>
                  <a:pt x="157788" y="16576"/>
                  <a:pt x="154975" y="17379"/>
                </a:cubicBezTo>
                <a:lnTo>
                  <a:pt x="134950" y="23039"/>
                </a:lnTo>
                <a:cubicBezTo>
                  <a:pt x="133510" y="23440"/>
                  <a:pt x="132003" y="22570"/>
                  <a:pt x="131635" y="21130"/>
                </a:cubicBezTo>
                <a:lnTo>
                  <a:pt x="126511" y="938"/>
                </a:lnTo>
                <a:cubicBezTo>
                  <a:pt x="125808" y="-1875"/>
                  <a:pt x="123598" y="-4085"/>
                  <a:pt x="120785" y="-4856"/>
                </a:cubicBezTo>
                <a:cubicBezTo>
                  <a:pt x="117972" y="-5626"/>
                  <a:pt x="114992" y="-4789"/>
                  <a:pt x="112949" y="-2712"/>
                </a:cubicBezTo>
                <a:lnTo>
                  <a:pt x="98450" y="12223"/>
                </a:lnTo>
                <a:cubicBezTo>
                  <a:pt x="97412" y="13294"/>
                  <a:pt x="95670" y="13294"/>
                  <a:pt x="94599" y="12223"/>
                </a:cubicBezTo>
                <a:lnTo>
                  <a:pt x="80099" y="-267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225415" y="1295400"/>
            <a:ext cx="2019300" cy="4191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chemeClr val="bg1">
                    <a:lumMod val="65000"/>
                    <a:lumOff val="3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CMA认证检测机构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61297" y="2171700"/>
            <a:ext cx="666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kern="0" spc="13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第三方测评服务介绍</a:t>
            </a:r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10150" y="3124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38850" y="3086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7450" y="3124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759994" y="3505200"/>
            <a:ext cx="1000125" cy="381000"/>
          </a:xfrm>
          <a:custGeom>
            <a:avLst/>
            <a:gdLst/>
            <a:ahLst/>
            <a:cxnLst/>
            <a:rect l="l" t="t" r="r" b="b"/>
            <a:pathLst>
              <a:path w="1000125" h="381000">
                <a:moveTo>
                  <a:pt x="76200" y="0"/>
                </a:moveTo>
                <a:lnTo>
                  <a:pt x="923925" y="0"/>
                </a:lnTo>
                <a:cubicBezTo>
                  <a:pt x="965981" y="0"/>
                  <a:pt x="1000125" y="34144"/>
                  <a:pt x="1000125" y="76200"/>
                </a:cubicBezTo>
                <a:lnTo>
                  <a:pt x="1000125" y="304800"/>
                </a:lnTo>
                <a:cubicBezTo>
                  <a:pt x="1000125" y="346856"/>
                  <a:pt x="965981" y="381000"/>
                  <a:pt x="9239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79069" y="36118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969544" y="3505200"/>
            <a:ext cx="82867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>
                    <a:lumMod val="65000"/>
                    <a:lumOff val="3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科学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85147" y="3505200"/>
            <a:ext cx="1000125" cy="381000"/>
          </a:xfrm>
          <a:custGeom>
            <a:avLst/>
            <a:gdLst/>
            <a:ahLst/>
            <a:cxnLst/>
            <a:rect l="l" t="t" r="r" b="b"/>
            <a:pathLst>
              <a:path w="1000125" h="381000">
                <a:moveTo>
                  <a:pt x="76200" y="0"/>
                </a:moveTo>
                <a:lnTo>
                  <a:pt x="923925" y="0"/>
                </a:lnTo>
                <a:cubicBezTo>
                  <a:pt x="965981" y="0"/>
                  <a:pt x="1000125" y="34144"/>
                  <a:pt x="1000125" y="76200"/>
                </a:cubicBezTo>
                <a:lnTo>
                  <a:pt x="1000125" y="304800"/>
                </a:lnTo>
                <a:cubicBezTo>
                  <a:pt x="1000125" y="346856"/>
                  <a:pt x="965981" y="381000"/>
                  <a:pt x="9239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75647" y="361188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194697" y="3505200"/>
            <a:ext cx="82867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>
                    <a:lumMod val="65000"/>
                    <a:lumOff val="3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公正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10300" y="3505200"/>
            <a:ext cx="1000125" cy="381000"/>
          </a:xfrm>
          <a:custGeom>
            <a:avLst/>
            <a:gdLst/>
            <a:ahLst/>
            <a:cxnLst/>
            <a:rect l="l" t="t" r="r" b="b"/>
            <a:pathLst>
              <a:path w="1000125" h="381000">
                <a:moveTo>
                  <a:pt x="76200" y="0"/>
                </a:moveTo>
                <a:lnTo>
                  <a:pt x="923925" y="0"/>
                </a:lnTo>
                <a:cubicBezTo>
                  <a:pt x="965981" y="0"/>
                  <a:pt x="1000125" y="34144"/>
                  <a:pt x="1000125" y="76200"/>
                </a:cubicBezTo>
                <a:lnTo>
                  <a:pt x="1000125" y="304800"/>
                </a:lnTo>
                <a:cubicBezTo>
                  <a:pt x="1000125" y="346856"/>
                  <a:pt x="965981" y="381000"/>
                  <a:pt x="9239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29375" y="36118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850" y="3505200"/>
            <a:ext cx="82867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>
                    <a:lumMod val="65000"/>
                    <a:lumOff val="3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优质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35453" y="3505200"/>
            <a:ext cx="1000125" cy="381000"/>
          </a:xfrm>
          <a:custGeom>
            <a:avLst/>
            <a:gdLst/>
            <a:ahLst/>
            <a:cxnLst/>
            <a:rect l="l" t="t" r="r" b="b"/>
            <a:pathLst>
              <a:path w="1000125" h="381000">
                <a:moveTo>
                  <a:pt x="76200" y="0"/>
                </a:moveTo>
                <a:lnTo>
                  <a:pt x="923925" y="0"/>
                </a:lnTo>
                <a:cubicBezTo>
                  <a:pt x="965981" y="0"/>
                  <a:pt x="1000125" y="34144"/>
                  <a:pt x="1000125" y="76200"/>
                </a:cubicBezTo>
                <a:lnTo>
                  <a:pt x="1000125" y="304800"/>
                </a:lnTo>
                <a:cubicBezTo>
                  <a:pt x="1000125" y="346856"/>
                  <a:pt x="965981" y="381000"/>
                  <a:pt x="9239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4902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54528" y="36118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645003" y="3505200"/>
            <a:ext cx="82867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>
                    <a:lumMod val="65000"/>
                    <a:lumOff val="3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2900" y="38862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33333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深圳智信方略工程咨询有限公司</a:t>
            </a:r>
            <a:endParaRPr lang="en-US" sz="1600" dirty="0">
              <a:solidFill>
                <a:srgbClr val="333333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347663" y="41529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chemeClr val="bg1">
                    <a:lumMod val="65000"/>
                    <a:lumOff val="3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深圳市新安街道大浪社区洪浪北路65号展宝大厦3楼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518" y="379518"/>
            <a:ext cx="75904" cy="455421"/>
          </a:xfrm>
          <a:custGeom>
            <a:avLst/>
            <a:gdLst/>
            <a:ahLst/>
            <a:cxnLst/>
            <a:rect l="l" t="t" r="r" b="b"/>
            <a:pathLst>
              <a:path w="75904" h="455421">
                <a:moveTo>
                  <a:pt x="37952" y="0"/>
                </a:moveTo>
                <a:lnTo>
                  <a:pt x="37952" y="0"/>
                </a:lnTo>
                <a:cubicBezTo>
                  <a:pt x="58898" y="0"/>
                  <a:pt x="75904" y="17006"/>
                  <a:pt x="75904" y="37952"/>
                </a:cubicBezTo>
                <a:lnTo>
                  <a:pt x="75904" y="417469"/>
                </a:lnTo>
                <a:cubicBezTo>
                  <a:pt x="75904" y="438429"/>
                  <a:pt x="58912" y="455421"/>
                  <a:pt x="37952" y="455421"/>
                </a:cubicBezTo>
                <a:lnTo>
                  <a:pt x="37952" y="455421"/>
                </a:lnTo>
                <a:cubicBezTo>
                  <a:pt x="16992" y="455421"/>
                  <a:pt x="0" y="438429"/>
                  <a:pt x="0" y="417469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关于智信方略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7228" y="948794"/>
            <a:ext cx="1214456" cy="37952"/>
          </a:xfrm>
          <a:custGeom>
            <a:avLst/>
            <a:gdLst/>
            <a:ahLst/>
            <a:cxnLst/>
            <a:rect l="l" t="t" r="r" b="b"/>
            <a:pathLst>
              <a:path w="1214456" h="37952">
                <a:moveTo>
                  <a:pt x="18976" y="0"/>
                </a:moveTo>
                <a:lnTo>
                  <a:pt x="1195480" y="0"/>
                </a:lnTo>
                <a:cubicBezTo>
                  <a:pt x="1205960" y="0"/>
                  <a:pt x="1214456" y="8496"/>
                  <a:pt x="1214456" y="18976"/>
                </a:cubicBezTo>
                <a:lnTo>
                  <a:pt x="1214456" y="18976"/>
                </a:lnTo>
                <a:cubicBezTo>
                  <a:pt x="1214456" y="29456"/>
                  <a:pt x="1205960" y="37952"/>
                  <a:pt x="1195480" y="37952"/>
                </a:cubicBezTo>
                <a:lnTo>
                  <a:pt x="18976" y="37952"/>
                </a:lnTo>
                <a:cubicBezTo>
                  <a:pt x="8503" y="37952"/>
                  <a:pt x="0" y="29449"/>
                  <a:pt x="0" y="18976"/>
                </a:cubicBezTo>
                <a:lnTo>
                  <a:pt x="0" y="18976"/>
                </a:lnTo>
                <a:cubicBezTo>
                  <a:pt x="0" y="8503"/>
                  <a:pt x="8503" y="0"/>
                  <a:pt x="18976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48" name="CustomNav1">
            <a:extLst>
              <a:ext uri="{FF2B5EF4-FFF2-40B4-BE49-F238E27FC236}">
                <a16:creationId xmlns:a16="http://schemas.microsoft.com/office/drawing/2014/main" id="{E8B900F4-8F9B-5870-91EF-BB104B2AF760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CustomNav2">
            <a:extLst>
              <a:ext uri="{FF2B5EF4-FFF2-40B4-BE49-F238E27FC236}">
                <a16:creationId xmlns:a16="http://schemas.microsoft.com/office/drawing/2014/main" id="{3EE698AE-E995-CF6B-A2E3-33C5E89194FF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CustomNav3">
            <a:extLst>
              <a:ext uri="{FF2B5EF4-FFF2-40B4-BE49-F238E27FC236}">
                <a16:creationId xmlns:a16="http://schemas.microsoft.com/office/drawing/2014/main" id="{4E0193AB-EC85-AF5D-1671-69C6479002B4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CustomNav4">
            <a:extLst>
              <a:ext uri="{FF2B5EF4-FFF2-40B4-BE49-F238E27FC236}">
                <a16:creationId xmlns:a16="http://schemas.microsoft.com/office/drawing/2014/main" id="{FF047AD6-253C-169E-4B71-59B3B0DEAB85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CustomNav5">
            <a:extLst>
              <a:ext uri="{FF2B5EF4-FFF2-40B4-BE49-F238E27FC236}">
                <a16:creationId xmlns:a16="http://schemas.microsoft.com/office/drawing/2014/main" id="{39F4305B-9195-F620-CAC3-02EC6A2F5AD3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450DC9D0-B4CE-F1AD-8894-25A929AA596A}"/>
              </a:ext>
            </a:extLst>
          </p:cNvPr>
          <p:cNvSpPr/>
          <p:nvPr/>
        </p:nvSpPr>
        <p:spPr>
          <a:xfrm>
            <a:off x="393700" y="1219200"/>
            <a:ext cx="7200900" cy="37973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C489935-CF32-EA7A-CD17-9B9EF01C04A4}"/>
              </a:ext>
            </a:extLst>
          </p:cNvPr>
          <p:cNvSpPr/>
          <p:nvPr/>
        </p:nvSpPr>
        <p:spPr>
          <a:xfrm>
            <a:off x="7835900" y="1219200"/>
            <a:ext cx="3975100" cy="379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FB9982D-1C41-48C7-1018-DD0623A1A99B}"/>
              </a:ext>
            </a:extLst>
          </p:cNvPr>
          <p:cNvSpPr/>
          <p:nvPr/>
        </p:nvSpPr>
        <p:spPr>
          <a:xfrm>
            <a:off x="635000" y="1524000"/>
            <a:ext cx="50800" cy="228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66CAF72-292B-CCAB-8C9D-FFBD6A08D3B1}"/>
              </a:ext>
            </a:extLst>
          </p:cNvPr>
          <p:cNvSpPr txBox="1"/>
          <p:nvPr/>
        </p:nvSpPr>
        <p:spPr>
          <a:xfrm>
            <a:off x="762000" y="14478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公司定位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145D858-9524-0F36-925C-948ECCF98F42}"/>
              </a:ext>
            </a:extLst>
          </p:cNvPr>
          <p:cNvSpPr txBox="1"/>
          <p:nvPr/>
        </p:nvSpPr>
        <p:spPr>
          <a:xfrm>
            <a:off x="635000" y="1866900"/>
            <a:ext cx="660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505050"/>
                </a:solidFill>
                <a:latin typeface="Microsoft YaHei" panose="020B0503020204020204" pitchFamily="34" charset="-122"/>
              </a:rPr>
              <a:t>依托公司在信息化咨询、项目管理与工程实施中的复合经验，面向政府、国企及重点建设单位，提供独立、公正、可追溯的第三方测评、验收与核查服务。</a:t>
            </a:r>
            <a:endParaRPr lang="zh-Hans-HK" altLang="en-US" sz="150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0F6D43C-B56F-5561-3759-B301BD42F91C}"/>
              </a:ext>
            </a:extLst>
          </p:cNvPr>
          <p:cNvSpPr/>
          <p:nvPr/>
        </p:nvSpPr>
        <p:spPr>
          <a:xfrm>
            <a:off x="635000" y="2908300"/>
            <a:ext cx="50800" cy="228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47F512E-BD89-538D-9DF8-CE9F5AE2BAED}"/>
              </a:ext>
            </a:extLst>
          </p:cNvPr>
          <p:cNvSpPr txBox="1"/>
          <p:nvPr/>
        </p:nvSpPr>
        <p:spPr>
          <a:xfrm>
            <a:off x="762000" y="28321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D14042FC-1845-E6BC-D744-793BA574FF90}"/>
              </a:ext>
            </a:extLst>
          </p:cNvPr>
          <p:cNvSpPr/>
          <p:nvPr/>
        </p:nvSpPr>
        <p:spPr>
          <a:xfrm>
            <a:off x="635000" y="3200400"/>
            <a:ext cx="31242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E865E97-E75B-3D2E-7E6B-0F3C39C06898}"/>
              </a:ext>
            </a:extLst>
          </p:cNvPr>
          <p:cNvSpPr/>
          <p:nvPr/>
        </p:nvSpPr>
        <p:spPr>
          <a:xfrm>
            <a:off x="635000" y="3200400"/>
            <a:ext cx="31242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F962B23-CF43-5856-30A8-A9C4A66C0B54}"/>
              </a:ext>
            </a:extLst>
          </p:cNvPr>
          <p:cNvSpPr txBox="1"/>
          <p:nvPr/>
        </p:nvSpPr>
        <p:spPr>
          <a:xfrm>
            <a:off x="812800" y="3289300"/>
            <a:ext cx="2667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</a:rPr>
              <a:t>软件测评</a:t>
            </a:r>
            <a:endParaRPr lang="zh-Hans-HK" altLang="en-US" sz="13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30FAAC34-C77A-144D-87EF-F13476473F7B}"/>
              </a:ext>
            </a:extLst>
          </p:cNvPr>
          <p:cNvSpPr/>
          <p:nvPr/>
        </p:nvSpPr>
        <p:spPr>
          <a:xfrm>
            <a:off x="812800" y="3746500"/>
            <a:ext cx="2717800" cy="2667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747DD85-7B32-C083-281D-7543A4A31EBD}"/>
              </a:ext>
            </a:extLst>
          </p:cNvPr>
          <p:cNvSpPr txBox="1"/>
          <p:nvPr/>
        </p:nvSpPr>
        <p:spPr>
          <a:xfrm>
            <a:off x="939800" y="3784600"/>
            <a:ext cx="24638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505050"/>
                </a:solidFill>
                <a:latin typeface="Microsoft YaHei" panose="020B0503020204020204" pitchFamily="34" charset="-122"/>
              </a:rPr>
              <a:t>质量验收检测</a:t>
            </a:r>
            <a:endParaRPr lang="zh-Hans-HK" altLang="en-US" sz="108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CFCB3FEF-7639-7839-A166-4EE706977A5E}"/>
              </a:ext>
            </a:extLst>
          </p:cNvPr>
          <p:cNvSpPr/>
          <p:nvPr/>
        </p:nvSpPr>
        <p:spPr>
          <a:xfrm>
            <a:off x="812800" y="4089400"/>
            <a:ext cx="2717800" cy="2667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1A9698B-EA35-45E0-03FD-5B6C2C611B27}"/>
              </a:ext>
            </a:extLst>
          </p:cNvPr>
          <p:cNvSpPr txBox="1"/>
          <p:nvPr/>
        </p:nvSpPr>
        <p:spPr>
          <a:xfrm>
            <a:off x="939800" y="4127500"/>
            <a:ext cx="24638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505050"/>
                </a:solidFill>
                <a:latin typeface="Microsoft YaHei" panose="020B0503020204020204" pitchFamily="34" charset="-122"/>
              </a:rPr>
              <a:t>安全专项检测</a:t>
            </a:r>
            <a:endParaRPr lang="zh-Hans-HK" altLang="en-US" sz="108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846D1180-E3A4-4FF7-4A26-793A7415AC5D}"/>
              </a:ext>
            </a:extLst>
          </p:cNvPr>
          <p:cNvSpPr/>
          <p:nvPr/>
        </p:nvSpPr>
        <p:spPr>
          <a:xfrm>
            <a:off x="812800" y="4432300"/>
            <a:ext cx="2717800" cy="2667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13DA654-F6DC-684B-7CC5-F98E43C2917D}"/>
              </a:ext>
            </a:extLst>
          </p:cNvPr>
          <p:cNvSpPr txBox="1"/>
          <p:nvPr/>
        </p:nvSpPr>
        <p:spPr>
          <a:xfrm>
            <a:off x="939800" y="4470400"/>
            <a:ext cx="24638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505050"/>
                </a:solidFill>
                <a:latin typeface="Microsoft YaHei" panose="020B0503020204020204" pitchFamily="34" charset="-122"/>
              </a:rPr>
              <a:t>源代码审计检测</a:t>
            </a:r>
            <a:endParaRPr lang="zh-Hans-HK" altLang="en-US" sz="108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4ED83387-1C5A-798B-B6B4-4026A9CEDB57}"/>
              </a:ext>
            </a:extLst>
          </p:cNvPr>
          <p:cNvSpPr/>
          <p:nvPr/>
        </p:nvSpPr>
        <p:spPr>
          <a:xfrm>
            <a:off x="3987800" y="3200400"/>
            <a:ext cx="31242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C4990C1-9371-EE1F-F250-ED0618086894}"/>
              </a:ext>
            </a:extLst>
          </p:cNvPr>
          <p:cNvSpPr/>
          <p:nvPr/>
        </p:nvSpPr>
        <p:spPr>
          <a:xfrm>
            <a:off x="3987800" y="3200400"/>
            <a:ext cx="31242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3705807-CA19-FC0C-F888-6DA0DA4C0266}"/>
              </a:ext>
            </a:extLst>
          </p:cNvPr>
          <p:cNvSpPr txBox="1"/>
          <p:nvPr/>
        </p:nvSpPr>
        <p:spPr>
          <a:xfrm>
            <a:off x="4165600" y="3289300"/>
            <a:ext cx="2667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</a:rPr>
              <a:t>计算机场地测评</a:t>
            </a:r>
            <a:endParaRPr lang="zh-Hans-HK" altLang="en-US" sz="13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955A3FE7-0ABA-66E8-AC27-428E55B7F780}"/>
              </a:ext>
            </a:extLst>
          </p:cNvPr>
          <p:cNvSpPr/>
          <p:nvPr/>
        </p:nvSpPr>
        <p:spPr>
          <a:xfrm>
            <a:off x="4165600" y="3746500"/>
            <a:ext cx="2717800" cy="2667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184833D-3371-F7E0-8572-520B4A4480A6}"/>
              </a:ext>
            </a:extLst>
          </p:cNvPr>
          <p:cNvSpPr txBox="1"/>
          <p:nvPr/>
        </p:nvSpPr>
        <p:spPr>
          <a:xfrm>
            <a:off x="4292600" y="3784600"/>
            <a:ext cx="24638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505050"/>
                </a:solidFill>
                <a:latin typeface="Microsoft YaHei" panose="020B0503020204020204" pitchFamily="34" charset="-122"/>
              </a:rPr>
              <a:t>场地环境检测</a:t>
            </a:r>
            <a:endParaRPr lang="zh-Hans-HK" altLang="en-US" sz="108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9A824C67-7ADD-8EB0-C793-54C054AAF5D5}"/>
              </a:ext>
            </a:extLst>
          </p:cNvPr>
          <p:cNvSpPr/>
          <p:nvPr/>
        </p:nvSpPr>
        <p:spPr>
          <a:xfrm>
            <a:off x="4165600" y="4089400"/>
            <a:ext cx="2717800" cy="2667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AD9F18F-1D13-20B0-BEBF-A0530709EAB5}"/>
              </a:ext>
            </a:extLst>
          </p:cNvPr>
          <p:cNvSpPr txBox="1"/>
          <p:nvPr/>
        </p:nvSpPr>
        <p:spPr>
          <a:xfrm>
            <a:off x="4292600" y="4127500"/>
            <a:ext cx="24638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505050"/>
                </a:solidFill>
                <a:latin typeface="Microsoft YaHei" panose="020B0503020204020204" pitchFamily="34" charset="-122"/>
              </a:rPr>
              <a:t>电气安全检测</a:t>
            </a:r>
            <a:endParaRPr lang="zh-Hans-HK" altLang="en-US" sz="108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2B5B39D1-3E2D-557D-9432-91DFD5624CC9}"/>
              </a:ext>
            </a:extLst>
          </p:cNvPr>
          <p:cNvSpPr/>
          <p:nvPr/>
        </p:nvSpPr>
        <p:spPr>
          <a:xfrm>
            <a:off x="4165600" y="4432300"/>
            <a:ext cx="2717800" cy="2667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0C8648C-F368-4834-8B5E-DDAC2DD3354D}"/>
              </a:ext>
            </a:extLst>
          </p:cNvPr>
          <p:cNvSpPr txBox="1"/>
          <p:nvPr/>
        </p:nvSpPr>
        <p:spPr>
          <a:xfrm>
            <a:off x="4292600" y="4470400"/>
            <a:ext cx="24638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80">
                <a:solidFill>
                  <a:srgbClr val="505050"/>
                </a:solidFill>
                <a:latin typeface="Microsoft YaHei" panose="020B0503020204020204" pitchFamily="34" charset="-122"/>
              </a:rPr>
              <a:t>弱电智能化检测</a:t>
            </a:r>
            <a:endParaRPr lang="zh-Hans-HK" altLang="en-US" sz="108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D25342A-39A9-C426-8F94-6AA58C071514}"/>
              </a:ext>
            </a:extLst>
          </p:cNvPr>
          <p:cNvSpPr txBox="1"/>
          <p:nvPr/>
        </p:nvSpPr>
        <p:spPr>
          <a:xfrm>
            <a:off x="8229600" y="1498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E6EB8"/>
                </a:solidFill>
                <a:latin typeface="Microsoft YaHei" panose="020B0503020204020204" pitchFamily="34" charset="-122"/>
              </a:rPr>
              <a:t>服务特色</a:t>
            </a:r>
            <a:endParaRPr lang="zh-Hans-HK" altLang="en-US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2E7262BD-B305-7E7D-6BEA-3E28D437391F}"/>
              </a:ext>
            </a:extLst>
          </p:cNvPr>
          <p:cNvSpPr/>
          <p:nvPr/>
        </p:nvSpPr>
        <p:spPr>
          <a:xfrm>
            <a:off x="8077200" y="2032000"/>
            <a:ext cx="3492500" cy="431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D8866F88-A9ED-07EA-05E0-55D42C3A9287}"/>
              </a:ext>
            </a:extLst>
          </p:cNvPr>
          <p:cNvSpPr/>
          <p:nvPr/>
        </p:nvSpPr>
        <p:spPr>
          <a:xfrm>
            <a:off x="8229600" y="2159000"/>
            <a:ext cx="139700" cy="139700"/>
          </a:xfrm>
          <a:prstGeom prst="ellipse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1D70F10-29FC-FD65-DE98-E021999C1D91}"/>
              </a:ext>
            </a:extLst>
          </p:cNvPr>
          <p:cNvSpPr txBox="1"/>
          <p:nvPr/>
        </p:nvSpPr>
        <p:spPr>
          <a:xfrm>
            <a:off x="8483600" y="2120900"/>
            <a:ext cx="29591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独立公正：坚持第三方立场开展检测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3BCC3FC9-AADD-1946-AB97-1F940737CB1D}"/>
              </a:ext>
            </a:extLst>
          </p:cNvPr>
          <p:cNvSpPr/>
          <p:nvPr/>
        </p:nvSpPr>
        <p:spPr>
          <a:xfrm>
            <a:off x="8077200" y="2603500"/>
            <a:ext cx="3492500" cy="431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0AFB5E4C-44B7-4944-2460-FAB7B0B55248}"/>
              </a:ext>
            </a:extLst>
          </p:cNvPr>
          <p:cNvSpPr/>
          <p:nvPr/>
        </p:nvSpPr>
        <p:spPr>
          <a:xfrm>
            <a:off x="8229600" y="2730500"/>
            <a:ext cx="139700" cy="139700"/>
          </a:xfrm>
          <a:prstGeom prst="ellipse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59A49ED-8868-1606-D664-625CEAF7A52D}"/>
              </a:ext>
            </a:extLst>
          </p:cNvPr>
          <p:cNvSpPr txBox="1"/>
          <p:nvPr/>
        </p:nvSpPr>
        <p:spPr>
          <a:xfrm>
            <a:off x="8483600" y="2692400"/>
            <a:ext cx="29591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标准依据：按国家标准与项目要求组织实施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263C8F11-9FF4-EE0D-125F-49CED52D69A2}"/>
              </a:ext>
            </a:extLst>
          </p:cNvPr>
          <p:cNvSpPr/>
          <p:nvPr/>
        </p:nvSpPr>
        <p:spPr>
          <a:xfrm>
            <a:off x="8077200" y="3175000"/>
            <a:ext cx="3492500" cy="431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7451CB4-1D92-93A0-5DC0-9C186276B7FE}"/>
              </a:ext>
            </a:extLst>
          </p:cNvPr>
          <p:cNvSpPr/>
          <p:nvPr/>
        </p:nvSpPr>
        <p:spPr>
          <a:xfrm>
            <a:off x="8229600" y="3302000"/>
            <a:ext cx="139700" cy="139700"/>
          </a:xfrm>
          <a:prstGeom prst="ellipse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8DED50E2-5B39-6064-D2AC-C4DD87393C7D}"/>
              </a:ext>
            </a:extLst>
          </p:cNvPr>
          <p:cNvSpPr txBox="1"/>
          <p:nvPr/>
        </p:nvSpPr>
        <p:spPr>
          <a:xfrm>
            <a:off x="8483600" y="3263900"/>
            <a:ext cx="29591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过程留痕：检测过程可追溯、可复核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138BA26F-FFFF-171C-5D16-E0CC29452EC4}"/>
              </a:ext>
            </a:extLst>
          </p:cNvPr>
          <p:cNvSpPr/>
          <p:nvPr/>
        </p:nvSpPr>
        <p:spPr>
          <a:xfrm>
            <a:off x="8077200" y="3746500"/>
            <a:ext cx="3492500" cy="431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431E5FCC-257F-B769-2B3B-2F21747A1821}"/>
              </a:ext>
            </a:extLst>
          </p:cNvPr>
          <p:cNvSpPr/>
          <p:nvPr/>
        </p:nvSpPr>
        <p:spPr>
          <a:xfrm>
            <a:off x="8229600" y="3873500"/>
            <a:ext cx="139700" cy="139700"/>
          </a:xfrm>
          <a:prstGeom prst="ellipse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8A6C411-65D0-447F-4EC0-1303DE45C2C2}"/>
              </a:ext>
            </a:extLst>
          </p:cNvPr>
          <p:cNvSpPr txBox="1"/>
          <p:nvPr/>
        </p:nvSpPr>
        <p:spPr>
          <a:xfrm>
            <a:off x="8483600" y="3835400"/>
            <a:ext cx="29591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交付支撑：输出报告、问题清单与整改建议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305959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质量验收检测服务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90335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1971675" y="85001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2C3E50">
              <a:alpha val="7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792481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标准依据：</a:t>
            </a:r>
            <a:r>
              <a:rPr lang="en-US" altLang="zh-CN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GB/T 25000.51-2016</a:t>
            </a:r>
            <a:endParaRPr lang="en-US" sz="1150" dirty="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1000" y="1238250"/>
            <a:ext cx="2771775" cy="1733550"/>
          </a:xfrm>
          <a:custGeom>
            <a:avLst/>
            <a:gdLst/>
            <a:ahLst/>
            <a:cxnLst/>
            <a:rect l="l" t="t" r="r" b="b"/>
            <a:pathLst>
              <a:path w="2771775" h="1733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619257"/>
                </a:lnTo>
                <a:cubicBezTo>
                  <a:pt x="2771775" y="1682379"/>
                  <a:pt x="2720604" y="1733550"/>
                  <a:pt x="2657482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000" y="12382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9" name="Shape 7"/>
          <p:cNvSpPr/>
          <p:nvPr/>
        </p:nvSpPr>
        <p:spPr>
          <a:xfrm>
            <a:off x="49530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" y="14763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14287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5300" y="1914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628650" y="18288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功能完备性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5300" y="2181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628650" y="20955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功能正确性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5300" y="2447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628650" y="23622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功能适合性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5300" y="2714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628650" y="26289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功能依从性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67075" y="1238250"/>
            <a:ext cx="2771775" cy="1733550"/>
          </a:xfrm>
          <a:custGeom>
            <a:avLst/>
            <a:gdLst/>
            <a:ahLst/>
            <a:cxnLst/>
            <a:rect l="l" t="t" r="r" b="b"/>
            <a:pathLst>
              <a:path w="2771775" h="1733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619257"/>
                </a:lnTo>
                <a:cubicBezTo>
                  <a:pt x="2771775" y="1682379"/>
                  <a:pt x="2720604" y="1733550"/>
                  <a:pt x="2657482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7075" y="12382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1375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3" name="Shape 21"/>
          <p:cNvSpPr/>
          <p:nvPr/>
        </p:nvSpPr>
        <p:spPr>
          <a:xfrm>
            <a:off x="3488531" y="1476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838575" y="14287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性能效率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81375" y="1914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3514725" y="1828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时间特性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81375" y="2181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3514725" y="20955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资源利用性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81375" y="2447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3514725" y="2362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容量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81375" y="2714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3514725" y="26289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性能依从性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53150" y="1238250"/>
            <a:ext cx="2771775" cy="1733550"/>
          </a:xfrm>
          <a:custGeom>
            <a:avLst/>
            <a:gdLst/>
            <a:ahLst/>
            <a:cxnLst/>
            <a:rect l="l" t="t" r="r" b="b"/>
            <a:pathLst>
              <a:path w="2771775" h="1733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619257"/>
                </a:lnTo>
                <a:cubicBezTo>
                  <a:pt x="2771775" y="1682379"/>
                  <a:pt x="2720604" y="1733550"/>
                  <a:pt x="2657482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53150" y="12382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35" name="Shape 33"/>
          <p:cNvSpPr/>
          <p:nvPr/>
        </p:nvSpPr>
        <p:spPr>
          <a:xfrm>
            <a:off x="626745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36" name="Shape 34"/>
          <p:cNvSpPr/>
          <p:nvPr/>
        </p:nvSpPr>
        <p:spPr>
          <a:xfrm>
            <a:off x="6374606" y="1476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cubicBezTo>
                  <a:pt x="86830" y="0"/>
                  <a:pt x="96441" y="7200"/>
                  <a:pt x="96441" y="16073"/>
                </a:cubicBezTo>
                <a:cubicBezTo>
                  <a:pt x="96441" y="19556"/>
                  <a:pt x="94967" y="22771"/>
                  <a:pt x="92422" y="25416"/>
                </a:cubicBezTo>
                <a:cubicBezTo>
                  <a:pt x="90212" y="27727"/>
                  <a:pt x="88404" y="30540"/>
                  <a:pt x="88404" y="33754"/>
                </a:cubicBezTo>
                <a:cubicBezTo>
                  <a:pt x="88404" y="38777"/>
                  <a:pt x="92489" y="42863"/>
                  <a:pt x="97512" y="42863"/>
                </a:cubicBezTo>
                <a:lnTo>
                  <a:pt x="112514" y="42863"/>
                </a:lnTo>
                <a:cubicBezTo>
                  <a:pt x="121388" y="42863"/>
                  <a:pt x="128588" y="50062"/>
                  <a:pt x="128588" y="58936"/>
                </a:cubicBezTo>
                <a:lnTo>
                  <a:pt x="128588" y="73938"/>
                </a:lnTo>
                <a:cubicBezTo>
                  <a:pt x="128588" y="78961"/>
                  <a:pt x="132673" y="83046"/>
                  <a:pt x="137696" y="83046"/>
                </a:cubicBezTo>
                <a:cubicBezTo>
                  <a:pt x="140877" y="83046"/>
                  <a:pt x="143723" y="81238"/>
                  <a:pt x="146034" y="79028"/>
                </a:cubicBezTo>
                <a:cubicBezTo>
                  <a:pt x="148679" y="76516"/>
                  <a:pt x="151894" y="75009"/>
                  <a:pt x="155377" y="75009"/>
                </a:cubicBezTo>
                <a:cubicBezTo>
                  <a:pt x="164250" y="75009"/>
                  <a:pt x="171450" y="84620"/>
                  <a:pt x="171450" y="96441"/>
                </a:cubicBezTo>
                <a:cubicBezTo>
                  <a:pt x="171450" y="108261"/>
                  <a:pt x="164250" y="117872"/>
                  <a:pt x="155377" y="117872"/>
                </a:cubicBezTo>
                <a:cubicBezTo>
                  <a:pt x="151894" y="117872"/>
                  <a:pt x="148646" y="116398"/>
                  <a:pt x="146034" y="113854"/>
                </a:cubicBezTo>
                <a:cubicBezTo>
                  <a:pt x="143723" y="111643"/>
                  <a:pt x="140910" y="109835"/>
                  <a:pt x="137696" y="109835"/>
                </a:cubicBezTo>
                <a:cubicBezTo>
                  <a:pt x="132673" y="109835"/>
                  <a:pt x="128588" y="113920"/>
                  <a:pt x="128588" y="118943"/>
                </a:cubicBezTo>
                <a:lnTo>
                  <a:pt x="128588" y="155377"/>
                </a:lnTo>
                <a:cubicBezTo>
                  <a:pt x="128588" y="164250"/>
                  <a:pt x="121388" y="171450"/>
                  <a:pt x="112514" y="171450"/>
                </a:cubicBezTo>
                <a:lnTo>
                  <a:pt x="93494" y="171450"/>
                </a:lnTo>
                <a:cubicBezTo>
                  <a:pt x="89208" y="171450"/>
                  <a:pt x="85725" y="167967"/>
                  <a:pt x="85725" y="163681"/>
                </a:cubicBezTo>
                <a:cubicBezTo>
                  <a:pt x="85725" y="160600"/>
                  <a:pt x="87667" y="157888"/>
                  <a:pt x="90145" y="156046"/>
                </a:cubicBezTo>
                <a:cubicBezTo>
                  <a:pt x="94030" y="153133"/>
                  <a:pt x="96441" y="149115"/>
                  <a:pt x="96441" y="144661"/>
                </a:cubicBezTo>
                <a:cubicBezTo>
                  <a:pt x="96441" y="135787"/>
                  <a:pt x="86830" y="128588"/>
                  <a:pt x="75009" y="128588"/>
                </a:cubicBezTo>
                <a:cubicBezTo>
                  <a:pt x="63189" y="128588"/>
                  <a:pt x="53578" y="135787"/>
                  <a:pt x="53578" y="144661"/>
                </a:cubicBezTo>
                <a:cubicBezTo>
                  <a:pt x="53578" y="149115"/>
                  <a:pt x="55989" y="153133"/>
                  <a:pt x="59874" y="156046"/>
                </a:cubicBezTo>
                <a:cubicBezTo>
                  <a:pt x="62352" y="157888"/>
                  <a:pt x="64294" y="160567"/>
                  <a:pt x="64294" y="163681"/>
                </a:cubicBezTo>
                <a:cubicBezTo>
                  <a:pt x="64294" y="167967"/>
                  <a:pt x="60811" y="171450"/>
                  <a:pt x="56525" y="171450"/>
                </a:cubicBezTo>
                <a:lnTo>
                  <a:pt x="16073" y="171450"/>
                </a:lnTo>
                <a:cubicBezTo>
                  <a:pt x="7200" y="171450"/>
                  <a:pt x="0" y="164250"/>
                  <a:pt x="0" y="155377"/>
                </a:cubicBezTo>
                <a:lnTo>
                  <a:pt x="0" y="114925"/>
                </a:lnTo>
                <a:cubicBezTo>
                  <a:pt x="0" y="110639"/>
                  <a:pt x="3483" y="107156"/>
                  <a:pt x="7769" y="107156"/>
                </a:cubicBezTo>
                <a:cubicBezTo>
                  <a:pt x="10850" y="107156"/>
                  <a:pt x="13562" y="109098"/>
                  <a:pt x="15404" y="111576"/>
                </a:cubicBezTo>
                <a:cubicBezTo>
                  <a:pt x="18317" y="115461"/>
                  <a:pt x="22335" y="117872"/>
                  <a:pt x="26789" y="117872"/>
                </a:cubicBezTo>
                <a:cubicBezTo>
                  <a:pt x="35663" y="117872"/>
                  <a:pt x="42863" y="108261"/>
                  <a:pt x="42863" y="96441"/>
                </a:cubicBezTo>
                <a:cubicBezTo>
                  <a:pt x="42863" y="84620"/>
                  <a:pt x="35663" y="75009"/>
                  <a:pt x="26789" y="75009"/>
                </a:cubicBezTo>
                <a:cubicBezTo>
                  <a:pt x="22335" y="75009"/>
                  <a:pt x="18317" y="77420"/>
                  <a:pt x="15404" y="81305"/>
                </a:cubicBezTo>
                <a:cubicBezTo>
                  <a:pt x="13562" y="83783"/>
                  <a:pt x="10883" y="85725"/>
                  <a:pt x="7769" y="85725"/>
                </a:cubicBezTo>
                <a:cubicBezTo>
                  <a:pt x="3483" y="85725"/>
                  <a:pt x="0" y="82242"/>
                  <a:pt x="0" y="77956"/>
                </a:cubicBezTo>
                <a:lnTo>
                  <a:pt x="0" y="58936"/>
                </a:lnTo>
                <a:cubicBezTo>
                  <a:pt x="0" y="50062"/>
                  <a:pt x="7200" y="42863"/>
                  <a:pt x="16073" y="42863"/>
                </a:cubicBezTo>
                <a:lnTo>
                  <a:pt x="52507" y="42863"/>
                </a:lnTo>
                <a:cubicBezTo>
                  <a:pt x="57530" y="42863"/>
                  <a:pt x="61615" y="38777"/>
                  <a:pt x="61615" y="33754"/>
                </a:cubicBezTo>
                <a:cubicBezTo>
                  <a:pt x="61615" y="30573"/>
                  <a:pt x="59807" y="27727"/>
                  <a:pt x="57596" y="25416"/>
                </a:cubicBezTo>
                <a:cubicBezTo>
                  <a:pt x="55085" y="22771"/>
                  <a:pt x="53578" y="19556"/>
                  <a:pt x="53578" y="16073"/>
                </a:cubicBezTo>
                <a:cubicBezTo>
                  <a:pt x="53578" y="7200"/>
                  <a:pt x="63189" y="0"/>
                  <a:pt x="7500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724650" y="14287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兼容性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67450" y="1914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18288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共存性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67450" y="2181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0955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互操作性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67450" y="2447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23622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兼容依从性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39225" y="1238250"/>
            <a:ext cx="2771775" cy="1733550"/>
          </a:xfrm>
          <a:custGeom>
            <a:avLst/>
            <a:gdLst/>
            <a:ahLst/>
            <a:cxnLst/>
            <a:rect l="l" t="t" r="r" b="b"/>
            <a:pathLst>
              <a:path w="2771775" h="1733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619257"/>
                </a:lnTo>
                <a:cubicBezTo>
                  <a:pt x="2771775" y="1682379"/>
                  <a:pt x="2720604" y="1733550"/>
                  <a:pt x="2657482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39225" y="12382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46" name="Shape 44"/>
          <p:cNvSpPr/>
          <p:nvPr/>
        </p:nvSpPr>
        <p:spPr>
          <a:xfrm>
            <a:off x="9153525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47" name="Shape 45"/>
          <p:cNvSpPr/>
          <p:nvPr/>
        </p:nvSpPr>
        <p:spPr>
          <a:xfrm>
            <a:off x="9249966" y="14763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21431" y="42863"/>
                </a:moveTo>
                <a:cubicBezTo>
                  <a:pt x="21431" y="22163"/>
                  <a:pt x="38237" y="5358"/>
                  <a:pt x="58936" y="5358"/>
                </a:cubicBezTo>
                <a:cubicBezTo>
                  <a:pt x="79635" y="5358"/>
                  <a:pt x="96441" y="22163"/>
                  <a:pt x="96441" y="42862"/>
                </a:cubicBezTo>
                <a:cubicBezTo>
                  <a:pt x="96441" y="63562"/>
                  <a:pt x="79635" y="80367"/>
                  <a:pt x="58936" y="80367"/>
                </a:cubicBezTo>
                <a:cubicBezTo>
                  <a:pt x="38237" y="80367"/>
                  <a:pt x="21431" y="63562"/>
                  <a:pt x="21431" y="42863"/>
                </a:cubicBezTo>
                <a:close/>
                <a:moveTo>
                  <a:pt x="0" y="155377"/>
                </a:moveTo>
                <a:cubicBezTo>
                  <a:pt x="0" y="122828"/>
                  <a:pt x="26387" y="96441"/>
                  <a:pt x="58936" y="96441"/>
                </a:cubicBezTo>
                <a:cubicBezTo>
                  <a:pt x="91485" y="96441"/>
                  <a:pt x="117872" y="122828"/>
                  <a:pt x="117872" y="155377"/>
                </a:cubicBezTo>
                <a:lnTo>
                  <a:pt x="117872" y="157386"/>
                </a:lnTo>
                <a:cubicBezTo>
                  <a:pt x="117872" y="165155"/>
                  <a:pt x="111576" y="171450"/>
                  <a:pt x="103808" y="171450"/>
                </a:cubicBezTo>
                <a:lnTo>
                  <a:pt x="14064" y="171450"/>
                </a:lnTo>
                <a:cubicBezTo>
                  <a:pt x="6295" y="171450"/>
                  <a:pt x="0" y="165155"/>
                  <a:pt x="0" y="157386"/>
                </a:cubicBezTo>
                <a:lnTo>
                  <a:pt x="0" y="155377"/>
                </a:lnTo>
                <a:close/>
                <a:moveTo>
                  <a:pt x="144661" y="21431"/>
                </a:moveTo>
                <a:cubicBezTo>
                  <a:pt x="162403" y="21431"/>
                  <a:pt x="176808" y="35836"/>
                  <a:pt x="176808" y="53578"/>
                </a:cubicBezTo>
                <a:cubicBezTo>
                  <a:pt x="176808" y="71320"/>
                  <a:pt x="162403" y="85725"/>
                  <a:pt x="144661" y="85725"/>
                </a:cubicBezTo>
                <a:cubicBezTo>
                  <a:pt x="126919" y="85725"/>
                  <a:pt x="112514" y="71320"/>
                  <a:pt x="112514" y="53578"/>
                </a:cubicBezTo>
                <a:cubicBezTo>
                  <a:pt x="112514" y="35836"/>
                  <a:pt x="126919" y="21431"/>
                  <a:pt x="144661" y="21431"/>
                </a:cubicBezTo>
                <a:close/>
                <a:moveTo>
                  <a:pt x="144661" y="101798"/>
                </a:moveTo>
                <a:cubicBezTo>
                  <a:pt x="171283" y="101798"/>
                  <a:pt x="192881" y="123397"/>
                  <a:pt x="192881" y="150019"/>
                </a:cubicBezTo>
                <a:lnTo>
                  <a:pt x="192881" y="157520"/>
                </a:lnTo>
                <a:cubicBezTo>
                  <a:pt x="192881" y="165222"/>
                  <a:pt x="186653" y="171450"/>
                  <a:pt x="178951" y="171450"/>
                </a:cubicBezTo>
                <a:lnTo>
                  <a:pt x="130463" y="171450"/>
                </a:lnTo>
                <a:cubicBezTo>
                  <a:pt x="132673" y="167264"/>
                  <a:pt x="133945" y="162476"/>
                  <a:pt x="133945" y="157386"/>
                </a:cubicBezTo>
                <a:lnTo>
                  <a:pt x="133945" y="155377"/>
                </a:lnTo>
                <a:cubicBezTo>
                  <a:pt x="133945" y="138131"/>
                  <a:pt x="128119" y="122259"/>
                  <a:pt x="118374" y="109601"/>
                </a:cubicBezTo>
                <a:cubicBezTo>
                  <a:pt x="125942" y="104678"/>
                  <a:pt x="134983" y="101798"/>
                  <a:pt x="144661" y="1017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9610725" y="14287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易用性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53525" y="1914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0" name="Text 48"/>
          <p:cNvSpPr/>
          <p:nvPr/>
        </p:nvSpPr>
        <p:spPr>
          <a:xfrm>
            <a:off x="9286875" y="1828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可辨识性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153525" y="2181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2" name="Text 50"/>
          <p:cNvSpPr/>
          <p:nvPr/>
        </p:nvSpPr>
        <p:spPr>
          <a:xfrm>
            <a:off x="9286875" y="20955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易学性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153525" y="2447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4" name="Text 52"/>
          <p:cNvSpPr/>
          <p:nvPr/>
        </p:nvSpPr>
        <p:spPr>
          <a:xfrm>
            <a:off x="9286875" y="23622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易操作性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153525" y="2714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6" name="Text 54"/>
          <p:cNvSpPr/>
          <p:nvPr/>
        </p:nvSpPr>
        <p:spPr>
          <a:xfrm>
            <a:off x="9286875" y="26289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易访问性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1000" y="3105150"/>
            <a:ext cx="2771775" cy="1733550"/>
          </a:xfrm>
          <a:custGeom>
            <a:avLst/>
            <a:gdLst/>
            <a:ahLst/>
            <a:cxnLst/>
            <a:rect l="l" t="t" r="r" b="b"/>
            <a:pathLst>
              <a:path w="2771775" h="1733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619257"/>
                </a:lnTo>
                <a:cubicBezTo>
                  <a:pt x="2771775" y="1682379"/>
                  <a:pt x="2720604" y="1733550"/>
                  <a:pt x="2657482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81000" y="31051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59" name="Shape 57"/>
          <p:cNvSpPr/>
          <p:nvPr/>
        </p:nvSpPr>
        <p:spPr>
          <a:xfrm>
            <a:off x="495300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60" name="Shape 58"/>
          <p:cNvSpPr/>
          <p:nvPr/>
        </p:nvSpPr>
        <p:spPr>
          <a:xfrm>
            <a:off x="602456" y="3343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952500" y="32956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可靠性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95300" y="3781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63" name="Text 61"/>
          <p:cNvSpPr/>
          <p:nvPr/>
        </p:nvSpPr>
        <p:spPr>
          <a:xfrm>
            <a:off x="628650" y="36957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成熟性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95300" y="4048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65" name="Text 63"/>
          <p:cNvSpPr/>
          <p:nvPr/>
        </p:nvSpPr>
        <p:spPr>
          <a:xfrm>
            <a:off x="628650" y="39624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95300" y="431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67" name="Text 65"/>
          <p:cNvSpPr/>
          <p:nvPr/>
        </p:nvSpPr>
        <p:spPr>
          <a:xfrm>
            <a:off x="628650" y="4229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容错性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95300" y="4581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69" name="Text 67"/>
          <p:cNvSpPr/>
          <p:nvPr/>
        </p:nvSpPr>
        <p:spPr>
          <a:xfrm>
            <a:off x="628650" y="4495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易恢复性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267075" y="3105150"/>
            <a:ext cx="2771775" cy="1733550"/>
          </a:xfrm>
          <a:custGeom>
            <a:avLst/>
            <a:gdLst/>
            <a:ahLst/>
            <a:cxnLst/>
            <a:rect l="l" t="t" r="r" b="b"/>
            <a:pathLst>
              <a:path w="2771775" h="1733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619257"/>
                </a:lnTo>
                <a:cubicBezTo>
                  <a:pt x="2771775" y="1682379"/>
                  <a:pt x="2720604" y="1733550"/>
                  <a:pt x="2657482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267075" y="31051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72" name="Shape 70"/>
          <p:cNvSpPr/>
          <p:nvPr/>
        </p:nvSpPr>
        <p:spPr>
          <a:xfrm>
            <a:off x="3381375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73" name="Shape 71"/>
          <p:cNvSpPr/>
          <p:nvPr/>
        </p:nvSpPr>
        <p:spPr>
          <a:xfrm>
            <a:off x="3509963" y="33432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2863" y="32147"/>
                </a:moveTo>
                <a:lnTo>
                  <a:pt x="42863" y="53578"/>
                </a:lnTo>
                <a:lnTo>
                  <a:pt x="85725" y="53578"/>
                </a:lnTo>
                <a:lnTo>
                  <a:pt x="85725" y="32147"/>
                </a:lnTo>
                <a:cubicBezTo>
                  <a:pt x="85725" y="20326"/>
                  <a:pt x="76114" y="10716"/>
                  <a:pt x="64294" y="10716"/>
                </a:cubicBezTo>
                <a:cubicBezTo>
                  <a:pt x="52473" y="10716"/>
                  <a:pt x="42863" y="20326"/>
                  <a:pt x="42863" y="32147"/>
                </a:cubicBezTo>
                <a:close/>
                <a:moveTo>
                  <a:pt x="21431" y="53578"/>
                </a:moveTo>
                <a:lnTo>
                  <a:pt x="21431" y="32147"/>
                </a:lnTo>
                <a:cubicBezTo>
                  <a:pt x="21431" y="8472"/>
                  <a:pt x="40619" y="-10716"/>
                  <a:pt x="64294" y="-10716"/>
                </a:cubicBezTo>
                <a:cubicBezTo>
                  <a:pt x="87969" y="-10716"/>
                  <a:pt x="107156" y="8472"/>
                  <a:pt x="107156" y="32147"/>
                </a:cubicBezTo>
                <a:lnTo>
                  <a:pt x="107156" y="53578"/>
                </a:lnTo>
                <a:cubicBezTo>
                  <a:pt x="118977" y="53578"/>
                  <a:pt x="128588" y="63189"/>
                  <a:pt x="128588" y="75009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75009"/>
                </a:lnTo>
                <a:cubicBezTo>
                  <a:pt x="0" y="63189"/>
                  <a:pt x="9611" y="53578"/>
                  <a:pt x="21431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3838575" y="329565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信息安全性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381375" y="3781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76" name="Text 74"/>
          <p:cNvSpPr/>
          <p:nvPr/>
        </p:nvSpPr>
        <p:spPr>
          <a:xfrm>
            <a:off x="3514725" y="36957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保密性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381375" y="4048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78" name="Text 76"/>
          <p:cNvSpPr/>
          <p:nvPr/>
        </p:nvSpPr>
        <p:spPr>
          <a:xfrm>
            <a:off x="3514725" y="39624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完整性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381375" y="431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80" name="Text 78"/>
          <p:cNvSpPr/>
          <p:nvPr/>
        </p:nvSpPr>
        <p:spPr>
          <a:xfrm>
            <a:off x="3514725" y="42291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抗抵赖性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381375" y="4581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82" name="Text 80"/>
          <p:cNvSpPr/>
          <p:nvPr/>
        </p:nvSpPr>
        <p:spPr>
          <a:xfrm>
            <a:off x="3514725" y="4495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可核查性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153150" y="3105150"/>
            <a:ext cx="2771775" cy="1733550"/>
          </a:xfrm>
          <a:custGeom>
            <a:avLst/>
            <a:gdLst/>
            <a:ahLst/>
            <a:cxnLst/>
            <a:rect l="l" t="t" r="r" b="b"/>
            <a:pathLst>
              <a:path w="2771775" h="1733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619257"/>
                </a:lnTo>
                <a:cubicBezTo>
                  <a:pt x="2771775" y="1682379"/>
                  <a:pt x="2720604" y="1733550"/>
                  <a:pt x="2657482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153150" y="31051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85" name="Shape 83"/>
          <p:cNvSpPr/>
          <p:nvPr/>
        </p:nvSpPr>
        <p:spPr>
          <a:xfrm>
            <a:off x="6267450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86" name="Shape 84"/>
          <p:cNvSpPr/>
          <p:nvPr/>
        </p:nvSpPr>
        <p:spPr>
          <a:xfrm>
            <a:off x="6363891" y="33432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0579" y="33018"/>
                </a:moveTo>
                <a:cubicBezTo>
                  <a:pt x="173124" y="30473"/>
                  <a:pt x="177377" y="31109"/>
                  <a:pt x="178650" y="34457"/>
                </a:cubicBezTo>
                <a:cubicBezTo>
                  <a:pt x="180927" y="40385"/>
                  <a:pt x="182166" y="46847"/>
                  <a:pt x="182166" y="53578"/>
                </a:cubicBezTo>
                <a:cubicBezTo>
                  <a:pt x="182166" y="83180"/>
                  <a:pt x="158189" y="107156"/>
                  <a:pt x="128588" y="107156"/>
                </a:cubicBezTo>
                <a:cubicBezTo>
                  <a:pt x="122727" y="107156"/>
                  <a:pt x="117068" y="106219"/>
                  <a:pt x="111777" y="104477"/>
                </a:cubicBezTo>
                <a:lnTo>
                  <a:pt x="49191" y="167063"/>
                </a:lnTo>
                <a:cubicBezTo>
                  <a:pt x="39782" y="176473"/>
                  <a:pt x="24512" y="176473"/>
                  <a:pt x="15102" y="167063"/>
                </a:cubicBezTo>
                <a:cubicBezTo>
                  <a:pt x="5693" y="157654"/>
                  <a:pt x="5693" y="142384"/>
                  <a:pt x="15102" y="132974"/>
                </a:cubicBezTo>
                <a:lnTo>
                  <a:pt x="77688" y="70388"/>
                </a:lnTo>
                <a:cubicBezTo>
                  <a:pt x="75947" y="65097"/>
                  <a:pt x="75009" y="59472"/>
                  <a:pt x="75009" y="53578"/>
                </a:cubicBezTo>
                <a:cubicBezTo>
                  <a:pt x="75009" y="23976"/>
                  <a:pt x="98986" y="0"/>
                  <a:pt x="128588" y="0"/>
                </a:cubicBezTo>
                <a:cubicBezTo>
                  <a:pt x="135318" y="0"/>
                  <a:pt x="141781" y="1239"/>
                  <a:pt x="147708" y="3516"/>
                </a:cubicBezTo>
                <a:cubicBezTo>
                  <a:pt x="151057" y="4789"/>
                  <a:pt x="151660" y="9041"/>
                  <a:pt x="149148" y="11586"/>
                </a:cubicBezTo>
                <a:lnTo>
                  <a:pt x="119446" y="41289"/>
                </a:lnTo>
                <a:cubicBezTo>
                  <a:pt x="118441" y="42293"/>
                  <a:pt x="117872" y="43666"/>
                  <a:pt x="117872" y="45073"/>
                </a:cubicBezTo>
                <a:lnTo>
                  <a:pt x="117872" y="58936"/>
                </a:lnTo>
                <a:cubicBezTo>
                  <a:pt x="117872" y="61883"/>
                  <a:pt x="120283" y="64294"/>
                  <a:pt x="123230" y="64294"/>
                </a:cubicBezTo>
                <a:lnTo>
                  <a:pt x="137093" y="64294"/>
                </a:lnTo>
                <a:cubicBezTo>
                  <a:pt x="138499" y="64294"/>
                  <a:pt x="139872" y="63724"/>
                  <a:pt x="140877" y="62720"/>
                </a:cubicBezTo>
                <a:lnTo>
                  <a:pt x="170579" y="3301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6724650" y="3295650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维护性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267450" y="3781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89" name="Text 87"/>
          <p:cNvSpPr/>
          <p:nvPr/>
        </p:nvSpPr>
        <p:spPr>
          <a:xfrm>
            <a:off x="6400800" y="36957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267450" y="4048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91" name="Text 89"/>
          <p:cNvSpPr/>
          <p:nvPr/>
        </p:nvSpPr>
        <p:spPr>
          <a:xfrm>
            <a:off x="6400800" y="3962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可重用性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6267450" y="431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93" name="Text 91"/>
          <p:cNvSpPr/>
          <p:nvPr/>
        </p:nvSpPr>
        <p:spPr>
          <a:xfrm>
            <a:off x="6400800" y="42291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易分析性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6267450" y="4581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95" name="Text 93"/>
          <p:cNvSpPr/>
          <p:nvPr/>
        </p:nvSpPr>
        <p:spPr>
          <a:xfrm>
            <a:off x="6400800" y="4495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易修改性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9039225" y="3105150"/>
            <a:ext cx="2771775" cy="1733550"/>
          </a:xfrm>
          <a:custGeom>
            <a:avLst/>
            <a:gdLst/>
            <a:ahLst/>
            <a:cxnLst/>
            <a:rect l="l" t="t" r="r" b="b"/>
            <a:pathLst>
              <a:path w="2771775" h="17335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1619257"/>
                </a:lnTo>
                <a:cubicBezTo>
                  <a:pt x="2771775" y="1682379"/>
                  <a:pt x="2720604" y="1733550"/>
                  <a:pt x="2657482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039225" y="31051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98" name="Shape 96"/>
          <p:cNvSpPr/>
          <p:nvPr/>
        </p:nvSpPr>
        <p:spPr>
          <a:xfrm>
            <a:off x="9153525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99" name="Shape 97"/>
          <p:cNvSpPr/>
          <p:nvPr/>
        </p:nvSpPr>
        <p:spPr>
          <a:xfrm>
            <a:off x="9260681" y="3343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50430"/>
                </a:moveTo>
                <a:lnTo>
                  <a:pt x="136155" y="82577"/>
                </a:lnTo>
                <a:cubicBezTo>
                  <a:pt x="133075" y="85658"/>
                  <a:pt x="128487" y="86562"/>
                  <a:pt x="124469" y="84888"/>
                </a:cubicBezTo>
                <a:cubicBezTo>
                  <a:pt x="120450" y="83214"/>
                  <a:pt x="117872" y="79329"/>
                  <a:pt x="117872" y="75009"/>
                </a:cubicBezTo>
                <a:lnTo>
                  <a:pt x="117872" y="53578"/>
                </a:ln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117872" y="32147"/>
                </a:lnTo>
                <a:lnTo>
                  <a:pt x="117872" y="10716"/>
                </a:lnTo>
                <a:cubicBezTo>
                  <a:pt x="117872" y="6396"/>
                  <a:pt x="120484" y="2478"/>
                  <a:pt x="124502" y="804"/>
                </a:cubicBezTo>
                <a:cubicBezTo>
                  <a:pt x="128521" y="-871"/>
                  <a:pt x="133108" y="67"/>
                  <a:pt x="136189" y="3114"/>
                </a:cubicBezTo>
                <a:lnTo>
                  <a:pt x="168336" y="35261"/>
                </a:lnTo>
                <a:cubicBezTo>
                  <a:pt x="172522" y="39447"/>
                  <a:pt x="172522" y="46245"/>
                  <a:pt x="168336" y="50430"/>
                </a:cubicBezTo>
                <a:close/>
                <a:moveTo>
                  <a:pt x="35261" y="168302"/>
                </a:moveTo>
                <a:lnTo>
                  <a:pt x="3114" y="136155"/>
                </a:lnTo>
                <a:cubicBezTo>
                  <a:pt x="-1072" y="131970"/>
                  <a:pt x="-1072" y="125172"/>
                  <a:pt x="3114" y="120986"/>
                </a:cubicBezTo>
                <a:lnTo>
                  <a:pt x="35261" y="88839"/>
                </a:lnTo>
                <a:cubicBezTo>
                  <a:pt x="38342" y="85758"/>
                  <a:pt x="42929" y="84854"/>
                  <a:pt x="46948" y="86529"/>
                </a:cubicBezTo>
                <a:cubicBezTo>
                  <a:pt x="50966" y="88203"/>
                  <a:pt x="53578" y="92121"/>
                  <a:pt x="53578" y="96441"/>
                </a:cubicBezTo>
                <a:lnTo>
                  <a:pt x="53578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cubicBezTo>
                  <a:pt x="171450" y="134515"/>
                  <a:pt x="166661" y="139303"/>
                  <a:pt x="160734" y="139303"/>
                </a:cubicBezTo>
                <a:lnTo>
                  <a:pt x="53578" y="139303"/>
                </a:lnTo>
                <a:lnTo>
                  <a:pt x="53578" y="160734"/>
                </a:lnTo>
                <a:cubicBezTo>
                  <a:pt x="53578" y="165054"/>
                  <a:pt x="50966" y="168972"/>
                  <a:pt x="46948" y="170646"/>
                </a:cubicBezTo>
                <a:cubicBezTo>
                  <a:pt x="42929" y="172321"/>
                  <a:pt x="38342" y="171383"/>
                  <a:pt x="35261" y="1683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9610725" y="32956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可移植性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9153525" y="3781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02" name="Text 100"/>
          <p:cNvSpPr/>
          <p:nvPr/>
        </p:nvSpPr>
        <p:spPr>
          <a:xfrm>
            <a:off x="9286875" y="36957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适应性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9153525" y="4048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04" name="Text 102"/>
          <p:cNvSpPr/>
          <p:nvPr/>
        </p:nvSpPr>
        <p:spPr>
          <a:xfrm>
            <a:off x="9286875" y="3962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易安装性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9153525" y="431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06" name="Text 104"/>
          <p:cNvSpPr/>
          <p:nvPr/>
        </p:nvSpPr>
        <p:spPr>
          <a:xfrm>
            <a:off x="9286875" y="42291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易替换性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9153525" y="4581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08" name="Text 106"/>
          <p:cNvSpPr/>
          <p:nvPr/>
        </p:nvSpPr>
        <p:spPr>
          <a:xfrm>
            <a:off x="9286875" y="44958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移植依从性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381000" y="4914900"/>
            <a:ext cx="11430000" cy="723900"/>
          </a:xfrm>
          <a:custGeom>
            <a:avLst/>
            <a:gdLst/>
            <a:ahLst/>
            <a:cxnLst/>
            <a:rect l="l" t="t" r="r" b="b"/>
            <a:pathLst>
              <a:path w="11430000" h="7239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609603"/>
                </a:lnTo>
                <a:cubicBezTo>
                  <a:pt x="11430000" y="672728"/>
                  <a:pt x="11378828" y="723900"/>
                  <a:pt x="113157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100000">
                <a:srgbClr val="4A90D9"/>
              </a:gs>
            </a:gsLst>
            <a:lin ang="0" scaled="1"/>
          </a:gradFill>
          <a:ln/>
        </p:spPr>
      </p:sp>
      <p:sp>
        <p:nvSpPr>
          <p:cNvPr id="110" name="Shape 108"/>
          <p:cNvSpPr/>
          <p:nvPr/>
        </p:nvSpPr>
        <p:spPr>
          <a:xfrm>
            <a:off x="495300" y="5048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595313" y="51625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66800" y="50292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专业工具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1066800" y="52959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LoadRunner 性能测试工具</a:t>
            </a: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7495699" y="5200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5" name="Text 113"/>
          <p:cNvSpPr/>
          <p:nvPr/>
        </p:nvSpPr>
        <p:spPr>
          <a:xfrm>
            <a:off x="7743349" y="51625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支持多种协议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8810149" y="5162550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9015175" y="5200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8" name="Text 116"/>
          <p:cNvSpPr/>
          <p:nvPr/>
        </p:nvSpPr>
        <p:spPr>
          <a:xfrm>
            <a:off x="9262825" y="51625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精准性能分析</a:t>
            </a:r>
            <a:endParaRPr lang="en-US" sz="1600" dirty="0"/>
          </a:p>
        </p:txBody>
      </p:sp>
      <p:sp>
        <p:nvSpPr>
          <p:cNvPr id="119" name="Text 117"/>
          <p:cNvSpPr/>
          <p:nvPr/>
        </p:nvSpPr>
        <p:spPr>
          <a:xfrm>
            <a:off x="10329624" y="5162550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120" name="Shape 118"/>
          <p:cNvSpPr/>
          <p:nvPr/>
        </p:nvSpPr>
        <p:spPr>
          <a:xfrm>
            <a:off x="10534650" y="5200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1" name="Text 119"/>
          <p:cNvSpPr/>
          <p:nvPr/>
        </p:nvSpPr>
        <p:spPr>
          <a:xfrm>
            <a:off x="10782300" y="51625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</a:t>
            </a:r>
            <a:r>
              <a:rPr lang="en-US" sz="12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测试报告</a:t>
            </a:r>
            <a:endParaRPr lang="en-US" sz="1600" dirty="0"/>
          </a:p>
        </p:txBody>
      </p:sp>
      <p:sp>
        <p:nvSpPr>
          <p:cNvPr id="127" name="CustomNav1">
            <a:extLst>
              <a:ext uri="{FF2B5EF4-FFF2-40B4-BE49-F238E27FC236}">
                <a16:creationId xmlns:a16="http://schemas.microsoft.com/office/drawing/2014/main" id="{D6A400D7-D418-3110-8EAC-2606EED0434C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8" name="CustomNav2">
            <a:extLst>
              <a:ext uri="{FF2B5EF4-FFF2-40B4-BE49-F238E27FC236}">
                <a16:creationId xmlns:a16="http://schemas.microsoft.com/office/drawing/2014/main" id="{F1BF8895-2987-EC2E-1F62-6EFB9E174451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9" name="CustomNav3">
            <a:extLst>
              <a:ext uri="{FF2B5EF4-FFF2-40B4-BE49-F238E27FC236}">
                <a16:creationId xmlns:a16="http://schemas.microsoft.com/office/drawing/2014/main" id="{E0FEF756-E4B3-43F1-4B50-4C03C6844834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0" name="CustomNav4">
            <a:extLst>
              <a:ext uri="{FF2B5EF4-FFF2-40B4-BE49-F238E27FC236}">
                <a16:creationId xmlns:a16="http://schemas.microsoft.com/office/drawing/2014/main" id="{BDB96365-C7E7-082A-0C69-850B72038170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1" name="CustomNav5">
            <a:extLst>
              <a:ext uri="{FF2B5EF4-FFF2-40B4-BE49-F238E27FC236}">
                <a16:creationId xmlns:a16="http://schemas.microsoft.com/office/drawing/2014/main" id="{F2AE16F6-114B-0FC6-B1E7-211DA87C9308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409653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709" y="438430"/>
            <a:ext cx="65947" cy="395684"/>
          </a:xfrm>
          <a:custGeom>
            <a:avLst/>
            <a:gdLst/>
            <a:ahLst/>
            <a:cxnLst/>
            <a:rect l="l" t="t" r="r" b="b"/>
            <a:pathLst>
              <a:path w="65947" h="395684">
                <a:moveTo>
                  <a:pt x="32974" y="0"/>
                </a:moveTo>
                <a:lnTo>
                  <a:pt x="32974" y="0"/>
                </a:lnTo>
                <a:cubicBezTo>
                  <a:pt x="51172" y="0"/>
                  <a:pt x="65947" y="14775"/>
                  <a:pt x="65947" y="32974"/>
                </a:cubicBezTo>
                <a:lnTo>
                  <a:pt x="65947" y="362710"/>
                </a:lnTo>
                <a:cubicBezTo>
                  <a:pt x="65947" y="380909"/>
                  <a:pt x="51172" y="395684"/>
                  <a:pt x="32974" y="395684"/>
                </a:cubicBezTo>
                <a:lnTo>
                  <a:pt x="32974" y="395684"/>
                </a:lnTo>
                <a:cubicBezTo>
                  <a:pt x="14775" y="395684"/>
                  <a:pt x="0" y="380909"/>
                  <a:pt x="0" y="362710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安全专项检测服务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7223" y="922566"/>
            <a:ext cx="1055156" cy="32974"/>
          </a:xfrm>
          <a:custGeom>
            <a:avLst/>
            <a:gdLst/>
            <a:ahLst/>
            <a:cxnLst/>
            <a:rect l="l" t="t" r="r" b="b"/>
            <a:pathLst>
              <a:path w="1055156" h="32974">
                <a:moveTo>
                  <a:pt x="16487" y="0"/>
                </a:moveTo>
                <a:lnTo>
                  <a:pt x="1038669" y="0"/>
                </a:lnTo>
                <a:cubicBezTo>
                  <a:pt x="1047775" y="0"/>
                  <a:pt x="1055156" y="7381"/>
                  <a:pt x="1055156" y="16487"/>
                </a:cubicBezTo>
                <a:lnTo>
                  <a:pt x="1055156" y="16487"/>
                </a:lnTo>
                <a:cubicBezTo>
                  <a:pt x="1055156" y="25592"/>
                  <a:pt x="1047775" y="32974"/>
                  <a:pt x="1038669" y="32974"/>
                </a:cubicBezTo>
                <a:lnTo>
                  <a:pt x="16487" y="32974"/>
                </a:lnTo>
                <a:cubicBezTo>
                  <a:pt x="7387" y="32974"/>
                  <a:pt x="0" y="25586"/>
                  <a:pt x="0" y="16487"/>
                </a:cubicBezTo>
                <a:lnTo>
                  <a:pt x="0" y="16487"/>
                </a:lnTo>
                <a:cubicBezTo>
                  <a:pt x="0" y="7387"/>
                  <a:pt x="7387" y="0"/>
                  <a:pt x="16487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1698142" y="879133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0"/>
                </a:moveTo>
                <a:cubicBezTo>
                  <a:pt x="67132" y="0"/>
                  <a:pt x="68317" y="258"/>
                  <a:pt x="69399" y="747"/>
                </a:cubicBezTo>
                <a:lnTo>
                  <a:pt x="117932" y="21330"/>
                </a:lnTo>
                <a:cubicBezTo>
                  <a:pt x="123600" y="23726"/>
                  <a:pt x="127824" y="29316"/>
                  <a:pt x="127799" y="36065"/>
                </a:cubicBezTo>
                <a:cubicBezTo>
                  <a:pt x="127670" y="61619"/>
                  <a:pt x="117159" y="108375"/>
                  <a:pt x="72774" y="129628"/>
                </a:cubicBezTo>
                <a:cubicBezTo>
                  <a:pt x="68472" y="131688"/>
                  <a:pt x="63474" y="131688"/>
                  <a:pt x="59172" y="129628"/>
                </a:cubicBezTo>
                <a:cubicBezTo>
                  <a:pt x="14761" y="108375"/>
                  <a:pt x="4276" y="61619"/>
                  <a:pt x="4147" y="36065"/>
                </a:cubicBezTo>
                <a:cubicBezTo>
                  <a:pt x="4122" y="29316"/>
                  <a:pt x="8346" y="23726"/>
                  <a:pt x="14014" y="21330"/>
                </a:cubicBezTo>
                <a:lnTo>
                  <a:pt x="62521" y="747"/>
                </a:lnTo>
                <a:cubicBezTo>
                  <a:pt x="63603" y="258"/>
                  <a:pt x="64762" y="0"/>
                  <a:pt x="65947" y="0"/>
                </a:cubicBezTo>
                <a:close/>
                <a:moveTo>
                  <a:pt x="65947" y="17208"/>
                </a:moveTo>
                <a:lnTo>
                  <a:pt x="65947" y="114609"/>
                </a:lnTo>
                <a:cubicBezTo>
                  <a:pt x="101497" y="97401"/>
                  <a:pt x="111054" y="59275"/>
                  <a:pt x="111286" y="36451"/>
                </a:cubicBezTo>
                <a:lnTo>
                  <a:pt x="65947" y="17234"/>
                </a:lnTo>
                <a:lnTo>
                  <a:pt x="65947" y="17234"/>
                </a:lnTo>
                <a:close/>
              </a:path>
            </a:pathLst>
          </a:custGeom>
          <a:solidFill>
            <a:srgbClr val="2C3E50">
              <a:alpha val="7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955800" y="833483"/>
            <a:ext cx="546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标准依据：</a:t>
            </a:r>
            <a:r>
              <a:rPr lang="en-US" altLang="zh-CN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GB/T 25000.51-2016</a:t>
            </a:r>
            <a:r>
              <a:rPr lang="zh-CN" altLang="en-US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（信息安全性）</a:t>
            </a:r>
            <a:r>
              <a:rPr lang="en-US" altLang="zh-CN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项目安全要求</a:t>
            </a:r>
            <a:endParaRPr lang="en-US" sz="1150" dirty="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736" y="1121103"/>
            <a:ext cx="11532527" cy="692446"/>
          </a:xfrm>
          <a:custGeom>
            <a:avLst/>
            <a:gdLst/>
            <a:ahLst/>
            <a:cxnLst/>
            <a:rect l="l" t="t" r="r" b="b"/>
            <a:pathLst>
              <a:path w="11532527" h="692446">
                <a:moveTo>
                  <a:pt x="98923" y="0"/>
                </a:moveTo>
                <a:lnTo>
                  <a:pt x="11433605" y="0"/>
                </a:lnTo>
                <a:cubicBezTo>
                  <a:pt x="11488238" y="0"/>
                  <a:pt x="11532527" y="44289"/>
                  <a:pt x="11532527" y="98923"/>
                </a:cubicBezTo>
                <a:lnTo>
                  <a:pt x="11532527" y="593523"/>
                </a:lnTo>
                <a:cubicBezTo>
                  <a:pt x="11532527" y="648157"/>
                  <a:pt x="11488238" y="692446"/>
                  <a:pt x="11433605" y="692446"/>
                </a:cubicBezTo>
                <a:lnTo>
                  <a:pt x="98923" y="692446"/>
                </a:lnTo>
                <a:cubicBezTo>
                  <a:pt x="44289" y="692446"/>
                  <a:pt x="0" y="648157"/>
                  <a:pt x="0" y="593523"/>
                </a:cubicBezTo>
                <a:lnTo>
                  <a:pt x="0" y="98923"/>
                </a:lnTo>
                <a:cubicBezTo>
                  <a:pt x="0" y="44289"/>
                  <a:pt x="44289" y="0"/>
                  <a:pt x="989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460" dist="32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414" y="1269485"/>
            <a:ext cx="478118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6235" y="1252998"/>
            <a:ext cx="1525030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上线类别分析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6235" y="1483813"/>
            <a:ext cx="1516787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明确系统类型与安全等级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21312" y="1368406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194210" y="107654"/>
                </a:moveTo>
                <a:cubicBezTo>
                  <a:pt x="199040" y="102824"/>
                  <a:pt x="199040" y="94980"/>
                  <a:pt x="194210" y="90149"/>
                </a:cubicBezTo>
                <a:lnTo>
                  <a:pt x="132384" y="28324"/>
                </a:lnTo>
                <a:cubicBezTo>
                  <a:pt x="127554" y="23494"/>
                  <a:pt x="119710" y="23494"/>
                  <a:pt x="114880" y="28324"/>
                </a:cubicBezTo>
                <a:cubicBezTo>
                  <a:pt x="110049" y="33154"/>
                  <a:pt x="110049" y="40998"/>
                  <a:pt x="114880" y="45828"/>
                </a:cubicBezTo>
                <a:lnTo>
                  <a:pt x="155607" y="86556"/>
                </a:lnTo>
                <a:lnTo>
                  <a:pt x="12365" y="86556"/>
                </a:lnTo>
                <a:cubicBezTo>
                  <a:pt x="5526" y="86556"/>
                  <a:pt x="0" y="92081"/>
                  <a:pt x="0" y="98921"/>
                </a:cubicBezTo>
                <a:cubicBezTo>
                  <a:pt x="0" y="105760"/>
                  <a:pt x="5526" y="111286"/>
                  <a:pt x="12365" y="111286"/>
                </a:cubicBezTo>
                <a:lnTo>
                  <a:pt x="155607" y="111286"/>
                </a:lnTo>
                <a:lnTo>
                  <a:pt x="114880" y="152014"/>
                </a:lnTo>
                <a:cubicBezTo>
                  <a:pt x="110049" y="156844"/>
                  <a:pt x="110049" y="164688"/>
                  <a:pt x="114880" y="169518"/>
                </a:cubicBezTo>
                <a:cubicBezTo>
                  <a:pt x="119710" y="174348"/>
                  <a:pt x="127554" y="174348"/>
                  <a:pt x="132384" y="169518"/>
                </a:cubicBezTo>
                <a:lnTo>
                  <a:pt x="194210" y="107692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3792277" y="1269485"/>
            <a:ext cx="478118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28098" y="1252998"/>
            <a:ext cx="1393136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检测范围分析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28098" y="1483813"/>
            <a:ext cx="1384892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确定检测项与检测深度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1280" y="1368406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194210" y="107654"/>
                </a:moveTo>
                <a:cubicBezTo>
                  <a:pt x="199040" y="102824"/>
                  <a:pt x="199040" y="94980"/>
                  <a:pt x="194210" y="90149"/>
                </a:cubicBezTo>
                <a:lnTo>
                  <a:pt x="132384" y="28324"/>
                </a:lnTo>
                <a:cubicBezTo>
                  <a:pt x="127554" y="23494"/>
                  <a:pt x="119710" y="23494"/>
                  <a:pt x="114880" y="28324"/>
                </a:cubicBezTo>
                <a:cubicBezTo>
                  <a:pt x="110049" y="33154"/>
                  <a:pt x="110049" y="40998"/>
                  <a:pt x="114880" y="45828"/>
                </a:cubicBezTo>
                <a:lnTo>
                  <a:pt x="155607" y="86556"/>
                </a:lnTo>
                <a:lnTo>
                  <a:pt x="12365" y="86556"/>
                </a:lnTo>
                <a:cubicBezTo>
                  <a:pt x="5526" y="86556"/>
                  <a:pt x="0" y="92081"/>
                  <a:pt x="0" y="98921"/>
                </a:cubicBezTo>
                <a:cubicBezTo>
                  <a:pt x="0" y="105760"/>
                  <a:pt x="5526" y="111286"/>
                  <a:pt x="12365" y="111286"/>
                </a:cubicBezTo>
                <a:lnTo>
                  <a:pt x="155607" y="111286"/>
                </a:lnTo>
                <a:lnTo>
                  <a:pt x="114880" y="152014"/>
                </a:lnTo>
                <a:cubicBezTo>
                  <a:pt x="110049" y="156844"/>
                  <a:pt x="110049" y="164688"/>
                  <a:pt x="114880" y="169518"/>
                </a:cubicBezTo>
                <a:cubicBezTo>
                  <a:pt x="119710" y="174348"/>
                  <a:pt x="127554" y="174348"/>
                  <a:pt x="132384" y="169518"/>
                </a:cubicBezTo>
                <a:lnTo>
                  <a:pt x="194210" y="107692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7032142" y="1269485"/>
            <a:ext cx="478118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67963" y="1252998"/>
            <a:ext cx="1261241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检测实施与整改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67963" y="1483813"/>
            <a:ext cx="1252998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执行检测并协助整改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69354" y="1368406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194210" y="107654"/>
                </a:moveTo>
                <a:cubicBezTo>
                  <a:pt x="199040" y="102824"/>
                  <a:pt x="199040" y="94980"/>
                  <a:pt x="194210" y="90149"/>
                </a:cubicBezTo>
                <a:lnTo>
                  <a:pt x="132384" y="28324"/>
                </a:lnTo>
                <a:cubicBezTo>
                  <a:pt x="127554" y="23494"/>
                  <a:pt x="119710" y="23494"/>
                  <a:pt x="114880" y="28324"/>
                </a:cubicBezTo>
                <a:cubicBezTo>
                  <a:pt x="110049" y="33154"/>
                  <a:pt x="110049" y="40998"/>
                  <a:pt x="114880" y="45828"/>
                </a:cubicBezTo>
                <a:lnTo>
                  <a:pt x="155607" y="86556"/>
                </a:lnTo>
                <a:lnTo>
                  <a:pt x="12365" y="86556"/>
                </a:lnTo>
                <a:cubicBezTo>
                  <a:pt x="5526" y="86556"/>
                  <a:pt x="0" y="92081"/>
                  <a:pt x="0" y="98921"/>
                </a:cubicBezTo>
                <a:cubicBezTo>
                  <a:pt x="0" y="105760"/>
                  <a:pt x="5526" y="111286"/>
                  <a:pt x="12365" y="111286"/>
                </a:cubicBezTo>
                <a:lnTo>
                  <a:pt x="155607" y="111286"/>
                </a:lnTo>
                <a:lnTo>
                  <a:pt x="114880" y="152014"/>
                </a:lnTo>
                <a:cubicBezTo>
                  <a:pt x="110049" y="156844"/>
                  <a:pt x="110049" y="164688"/>
                  <a:pt x="114880" y="169518"/>
                </a:cubicBezTo>
                <a:cubicBezTo>
                  <a:pt x="119710" y="174348"/>
                  <a:pt x="127554" y="174348"/>
                  <a:pt x="132384" y="169518"/>
                </a:cubicBezTo>
                <a:lnTo>
                  <a:pt x="194210" y="107692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10140216" y="1269485"/>
            <a:ext cx="478118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8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76037" y="1252998"/>
            <a:ext cx="1129347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检测报告出具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76037" y="1483813"/>
            <a:ext cx="1121103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输出权威检测报告</a:t>
            </a:r>
            <a:endParaRPr lang="en-US" sz="1600" dirty="0"/>
          </a:p>
        </p:txBody>
      </p:sp>
      <p:sp>
        <p:nvSpPr>
          <p:cNvPr id="68" name="CustomNav1">
            <a:extLst>
              <a:ext uri="{FF2B5EF4-FFF2-40B4-BE49-F238E27FC236}">
                <a16:creationId xmlns:a16="http://schemas.microsoft.com/office/drawing/2014/main" id="{4EBA0836-7C90-50B5-B026-F63444722F5F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CustomNav2">
            <a:extLst>
              <a:ext uri="{FF2B5EF4-FFF2-40B4-BE49-F238E27FC236}">
                <a16:creationId xmlns:a16="http://schemas.microsoft.com/office/drawing/2014/main" id="{1FF4EF90-F1E0-AB14-731D-8AC0022506EB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CustomNav3">
            <a:extLst>
              <a:ext uri="{FF2B5EF4-FFF2-40B4-BE49-F238E27FC236}">
                <a16:creationId xmlns:a16="http://schemas.microsoft.com/office/drawing/2014/main" id="{E0A44EE0-5385-ADB3-0440-76EBB9F66403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CustomNav4">
            <a:extLst>
              <a:ext uri="{FF2B5EF4-FFF2-40B4-BE49-F238E27FC236}">
                <a16:creationId xmlns:a16="http://schemas.microsoft.com/office/drawing/2014/main" id="{C7A001AA-665A-6F10-B701-4F4A1A018A09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2" name="CustomNav5">
            <a:extLst>
              <a:ext uri="{FF2B5EF4-FFF2-40B4-BE49-F238E27FC236}">
                <a16:creationId xmlns:a16="http://schemas.microsoft.com/office/drawing/2014/main" id="{19751618-AECF-62D5-2FBE-F4B8918100A8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BB36FDC3-233F-18ED-1058-99C8ACDC5B9D}"/>
              </a:ext>
            </a:extLst>
          </p:cNvPr>
          <p:cNvSpPr/>
          <p:nvPr/>
        </p:nvSpPr>
        <p:spPr>
          <a:xfrm>
            <a:off x="330200" y="1917700"/>
            <a:ext cx="2743200" cy="261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7833D99-D6A0-E7B7-A066-EBEE7C3623E9}"/>
              </a:ext>
            </a:extLst>
          </p:cNvPr>
          <p:cNvSpPr/>
          <p:nvPr/>
        </p:nvSpPr>
        <p:spPr>
          <a:xfrm>
            <a:off x="330200" y="1917700"/>
            <a:ext cx="2743200" cy="5080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81FED42-824E-2DB8-61FD-295AD517D4B7}"/>
              </a:ext>
            </a:extLst>
          </p:cNvPr>
          <p:cNvSpPr txBox="1"/>
          <p:nvPr/>
        </p:nvSpPr>
        <p:spPr>
          <a:xfrm>
            <a:off x="482600" y="1993900"/>
            <a:ext cx="2438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身份与访问控制</a:t>
            </a:r>
            <a:endParaRPr lang="zh-Hans-HK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8880C6B-3014-CA9C-C5E0-3A46CB2D84EF}"/>
              </a:ext>
            </a:extLst>
          </p:cNvPr>
          <p:cNvSpPr txBox="1"/>
          <p:nvPr/>
        </p:nvSpPr>
        <p:spPr>
          <a:xfrm>
            <a:off x="482600" y="25527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身份鉴别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063B03F-6E5C-5E5A-FB3C-5C5459AD659B}"/>
              </a:ext>
            </a:extLst>
          </p:cNvPr>
          <p:cNvSpPr txBox="1"/>
          <p:nvPr/>
        </p:nvSpPr>
        <p:spPr>
          <a:xfrm>
            <a:off x="482600" y="28448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 dirty="0">
                <a:solidFill>
                  <a:srgbClr val="505050"/>
                </a:solidFill>
                <a:latin typeface="Microsoft YaHei" panose="020B0503020204020204" pitchFamily="34" charset="-122"/>
              </a:rPr>
              <a:t>权限控制</a:t>
            </a:r>
            <a:endParaRPr lang="zh-Hans-HK" altLang="en-US" sz="1150" dirty="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279F35A-0189-1E54-D1CC-FD2172E57C1F}"/>
              </a:ext>
            </a:extLst>
          </p:cNvPr>
          <p:cNvSpPr txBox="1"/>
          <p:nvPr/>
        </p:nvSpPr>
        <p:spPr>
          <a:xfrm>
            <a:off x="482600" y="31369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角色边界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31A60EE-ACFD-3739-9E68-416A3460EAD9}"/>
              </a:ext>
            </a:extLst>
          </p:cNvPr>
          <p:cNvSpPr txBox="1"/>
          <p:nvPr/>
        </p:nvSpPr>
        <p:spPr>
          <a:xfrm>
            <a:off x="482600" y="34290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会话管理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69F681D-B3C1-CF91-550E-A6E9460DA205}"/>
              </a:ext>
            </a:extLst>
          </p:cNvPr>
          <p:cNvSpPr/>
          <p:nvPr/>
        </p:nvSpPr>
        <p:spPr>
          <a:xfrm>
            <a:off x="3225800" y="1917700"/>
            <a:ext cx="2743200" cy="261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DD2DB29-C8D9-5D32-4B8C-1B2A273399BB}"/>
              </a:ext>
            </a:extLst>
          </p:cNvPr>
          <p:cNvSpPr/>
          <p:nvPr/>
        </p:nvSpPr>
        <p:spPr>
          <a:xfrm>
            <a:off x="3225800" y="1917700"/>
            <a:ext cx="2743200" cy="5080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D7FDD2E-064C-AD2A-5F34-773BCD1C9662}"/>
              </a:ext>
            </a:extLst>
          </p:cNvPr>
          <p:cNvSpPr txBox="1"/>
          <p:nvPr/>
        </p:nvSpPr>
        <p:spPr>
          <a:xfrm>
            <a:off x="3378200" y="1993900"/>
            <a:ext cx="2438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数据与接口保护</a:t>
            </a:r>
            <a:endParaRPr lang="zh-Hans-HK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B11F6C9-252A-E086-788B-C720F27E17D8}"/>
              </a:ext>
            </a:extLst>
          </p:cNvPr>
          <p:cNvSpPr txBox="1"/>
          <p:nvPr/>
        </p:nvSpPr>
        <p:spPr>
          <a:xfrm>
            <a:off x="3378200" y="25527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敏感信息保护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199D0718-0ECA-CD03-4CFE-5EE96EEE2785}"/>
              </a:ext>
            </a:extLst>
          </p:cNvPr>
          <p:cNvSpPr txBox="1"/>
          <p:nvPr/>
        </p:nvSpPr>
        <p:spPr>
          <a:xfrm>
            <a:off x="3378200" y="28448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传输安全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9E671FC-BC0D-1033-DCED-8D829117A96A}"/>
              </a:ext>
            </a:extLst>
          </p:cNvPr>
          <p:cNvSpPr txBox="1"/>
          <p:nvPr/>
        </p:nvSpPr>
        <p:spPr>
          <a:xfrm>
            <a:off x="3378200" y="31369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接口调用控制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E91D4AF-B4EC-7203-3F5F-D08FA4EE4852}"/>
              </a:ext>
            </a:extLst>
          </p:cNvPr>
          <p:cNvSpPr txBox="1"/>
          <p:nvPr/>
        </p:nvSpPr>
        <p:spPr>
          <a:xfrm>
            <a:off x="3378200" y="34290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关键配置保护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B72C29A4-B8F9-8BF3-F353-8209643CC557}"/>
              </a:ext>
            </a:extLst>
          </p:cNvPr>
          <p:cNvSpPr/>
          <p:nvPr/>
        </p:nvSpPr>
        <p:spPr>
          <a:xfrm>
            <a:off x="6121400" y="1917700"/>
            <a:ext cx="2743200" cy="261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8137AF5-CA0C-A058-FC16-8EFD57333EC5}"/>
              </a:ext>
            </a:extLst>
          </p:cNvPr>
          <p:cNvSpPr/>
          <p:nvPr/>
        </p:nvSpPr>
        <p:spPr>
          <a:xfrm>
            <a:off x="6121400" y="1917700"/>
            <a:ext cx="2743200" cy="5080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9C8C8F23-2914-0802-6103-EE4778B75B61}"/>
              </a:ext>
            </a:extLst>
          </p:cNvPr>
          <p:cNvSpPr txBox="1"/>
          <p:nvPr/>
        </p:nvSpPr>
        <p:spPr>
          <a:xfrm>
            <a:off x="6273800" y="1993900"/>
            <a:ext cx="2438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日志与可追溯</a:t>
            </a:r>
            <a:endParaRPr lang="zh-Hans-HK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BD0ABB2-547B-B68E-4F14-B170FE194D15}"/>
              </a:ext>
            </a:extLst>
          </p:cNvPr>
          <p:cNvSpPr txBox="1"/>
          <p:nvPr/>
        </p:nvSpPr>
        <p:spPr>
          <a:xfrm>
            <a:off x="6273800" y="25527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日志记录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682171B1-13BA-11EE-4434-0064EE293030}"/>
              </a:ext>
            </a:extLst>
          </p:cNvPr>
          <p:cNvSpPr txBox="1"/>
          <p:nvPr/>
        </p:nvSpPr>
        <p:spPr>
          <a:xfrm>
            <a:off x="6273800" y="28448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关键操作留痕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1CEADB3-4E61-FDA4-37CD-AB04DB835294}"/>
              </a:ext>
            </a:extLst>
          </p:cNvPr>
          <p:cNvSpPr txBox="1"/>
          <p:nvPr/>
        </p:nvSpPr>
        <p:spPr>
          <a:xfrm>
            <a:off x="6273800" y="31369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告警追踪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C0AA944-3E0E-5C79-E63F-6C33CD71012D}"/>
              </a:ext>
            </a:extLst>
          </p:cNvPr>
          <p:cNvSpPr txBox="1"/>
          <p:nvPr/>
        </p:nvSpPr>
        <p:spPr>
          <a:xfrm>
            <a:off x="6273800" y="3429000"/>
            <a:ext cx="2438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问题复盘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22047067-054A-C3CA-7E4B-713CA2B94628}"/>
              </a:ext>
            </a:extLst>
          </p:cNvPr>
          <p:cNvSpPr/>
          <p:nvPr/>
        </p:nvSpPr>
        <p:spPr>
          <a:xfrm>
            <a:off x="9017000" y="1917700"/>
            <a:ext cx="2844800" cy="2616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A666D26-88A3-32F5-16BB-1AA21A07B9DC}"/>
              </a:ext>
            </a:extLst>
          </p:cNvPr>
          <p:cNvSpPr/>
          <p:nvPr/>
        </p:nvSpPr>
        <p:spPr>
          <a:xfrm>
            <a:off x="9042400" y="1917700"/>
            <a:ext cx="2844800" cy="5080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9CAD3682-7DE1-6654-6420-9DC692045399}"/>
              </a:ext>
            </a:extLst>
          </p:cNvPr>
          <p:cNvSpPr txBox="1"/>
          <p:nvPr/>
        </p:nvSpPr>
        <p:spPr>
          <a:xfrm>
            <a:off x="9169400" y="19939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验证与整改复核</a:t>
            </a:r>
            <a:endParaRPr lang="zh-Hans-HK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79BBA11-750F-E1DB-97EE-789D9D709FD5}"/>
              </a:ext>
            </a:extLst>
          </p:cNvPr>
          <p:cNvSpPr txBox="1"/>
          <p:nvPr/>
        </p:nvSpPr>
        <p:spPr>
          <a:xfrm>
            <a:off x="9169400" y="2552700"/>
            <a:ext cx="254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配置核查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27053A85-B84D-277D-4AEA-FE8D8C73E9B4}"/>
              </a:ext>
            </a:extLst>
          </p:cNvPr>
          <p:cNvSpPr txBox="1"/>
          <p:nvPr/>
        </p:nvSpPr>
        <p:spPr>
          <a:xfrm>
            <a:off x="9169400" y="2844800"/>
            <a:ext cx="254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 dirty="0">
                <a:solidFill>
                  <a:srgbClr val="505050"/>
                </a:solidFill>
                <a:latin typeface="Microsoft YaHei" panose="020B0503020204020204" pitchFamily="34" charset="-122"/>
              </a:rPr>
              <a:t>漏洞验证</a:t>
            </a:r>
            <a:endParaRPr lang="zh-Hans-HK" altLang="en-US" sz="1150" dirty="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A838516-2AC9-F749-D720-5474186CE142}"/>
              </a:ext>
            </a:extLst>
          </p:cNvPr>
          <p:cNvSpPr txBox="1"/>
          <p:nvPr/>
        </p:nvSpPr>
        <p:spPr>
          <a:xfrm>
            <a:off x="9169400" y="3136900"/>
            <a:ext cx="254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整改建议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8B40055F-4D0D-9363-8177-A06066D05C39}"/>
              </a:ext>
            </a:extLst>
          </p:cNvPr>
          <p:cNvSpPr txBox="1"/>
          <p:nvPr/>
        </p:nvSpPr>
        <p:spPr>
          <a:xfrm>
            <a:off x="9169400" y="3429000"/>
            <a:ext cx="254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复测确认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F5820484-67E3-5A29-F71D-BD17B7777C38}"/>
              </a:ext>
            </a:extLst>
          </p:cNvPr>
          <p:cNvSpPr/>
          <p:nvPr/>
        </p:nvSpPr>
        <p:spPr>
          <a:xfrm>
            <a:off x="362709" y="4746953"/>
            <a:ext cx="5689600" cy="1188481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48DD1E0E-C55E-0C9C-3968-FC6FD595772E}"/>
              </a:ext>
            </a:extLst>
          </p:cNvPr>
          <p:cNvSpPr/>
          <p:nvPr/>
        </p:nvSpPr>
        <p:spPr>
          <a:xfrm>
            <a:off x="6172200" y="4724401"/>
            <a:ext cx="5689600" cy="121103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A99D44B-A106-1F9C-3BEC-DEB3C5EECF15}"/>
              </a:ext>
            </a:extLst>
          </p:cNvPr>
          <p:cNvSpPr/>
          <p:nvPr/>
        </p:nvSpPr>
        <p:spPr>
          <a:xfrm>
            <a:off x="508000" y="4978400"/>
            <a:ext cx="50800" cy="228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1BA1079-FB7F-7E8A-C452-F7E30FA98C34}"/>
              </a:ext>
            </a:extLst>
          </p:cNvPr>
          <p:cNvSpPr txBox="1"/>
          <p:nvPr/>
        </p:nvSpPr>
        <p:spPr>
          <a:xfrm>
            <a:off x="635000" y="49022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 dirty="0">
                <a:solidFill>
                  <a:srgbClr val="0E6EB8"/>
                </a:solidFill>
                <a:latin typeface="Microsoft YaHei" panose="020B0503020204020204" pitchFamily="34" charset="-122"/>
              </a:rPr>
              <a:t>标准与参考</a:t>
            </a:r>
            <a:endParaRPr lang="zh-Hans-HK" altLang="en-US" sz="15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1A795DD-2846-1C3D-6022-491E42BD3C0C}"/>
              </a:ext>
            </a:extLst>
          </p:cNvPr>
          <p:cNvSpPr txBox="1"/>
          <p:nvPr/>
        </p:nvSpPr>
        <p:spPr>
          <a:xfrm>
            <a:off x="635000" y="5295900"/>
            <a:ext cx="5130800" cy="5170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- GB/T 25000.51-2016 </a:t>
            </a:r>
            <a:r>
              <a:rPr lang="zh-CN" altLang="en-US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中的信息安全性质量特性</a:t>
            </a:r>
          </a:p>
          <a:p>
            <a:r>
              <a:rPr lang="en-US" altLang="zh-CN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结合项目业务场景与验收要求确定安全核查范围</a:t>
            </a:r>
          </a:p>
          <a:p>
            <a:r>
              <a:rPr lang="en-US" altLang="zh-CN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重点关注身份控制、数据保护、日志追溯与整改复核</a:t>
            </a:r>
            <a:endParaRPr lang="zh-Hans-HK" altLang="en-US" sz="1120" dirty="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1E4F1DC-4705-CFD0-D8AB-1499E586FF93}"/>
              </a:ext>
            </a:extLst>
          </p:cNvPr>
          <p:cNvSpPr/>
          <p:nvPr/>
        </p:nvSpPr>
        <p:spPr>
          <a:xfrm>
            <a:off x="6350000" y="4978400"/>
            <a:ext cx="50800" cy="228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43D2B3D1-EDC4-9C95-098A-7B5E21C51018}"/>
              </a:ext>
            </a:extLst>
          </p:cNvPr>
          <p:cNvSpPr txBox="1"/>
          <p:nvPr/>
        </p:nvSpPr>
        <p:spPr>
          <a:xfrm>
            <a:off x="6477000" y="49022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 dirty="0">
                <a:solidFill>
                  <a:srgbClr val="0E6EB8"/>
                </a:solidFill>
                <a:latin typeface="Microsoft YaHei" panose="020B0503020204020204" pitchFamily="34" charset="-122"/>
              </a:rPr>
              <a:t>交付输出</a:t>
            </a:r>
            <a:endParaRPr lang="zh-Hans-HK" altLang="en-US" sz="15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0A37B75-D8EF-C88B-0833-956324896189}"/>
              </a:ext>
            </a:extLst>
          </p:cNvPr>
          <p:cNvSpPr txBox="1"/>
          <p:nvPr/>
        </p:nvSpPr>
        <p:spPr>
          <a:xfrm>
            <a:off x="6477000" y="5295900"/>
            <a:ext cx="5130800" cy="5170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安全专项检测报告</a:t>
            </a:r>
          </a:p>
          <a:p>
            <a:r>
              <a:rPr lang="en-US" altLang="zh-CN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问题清单与整改建议</a:t>
            </a:r>
          </a:p>
          <a:p>
            <a:r>
              <a:rPr lang="en-US" altLang="zh-CN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复核记录与支撑材料</a:t>
            </a:r>
            <a:endParaRPr lang="zh-Hans-HK" altLang="en-US" sz="1120" dirty="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BD9185B3-5C12-A489-E0B0-1148A4816160}"/>
              </a:ext>
            </a:extLst>
          </p:cNvPr>
          <p:cNvSpPr/>
          <p:nvPr/>
        </p:nvSpPr>
        <p:spPr>
          <a:xfrm>
            <a:off x="450616" y="1247456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59329368-D049-23BA-4B4E-20E5C335FC5C}"/>
              </a:ext>
            </a:extLst>
          </p:cNvPr>
          <p:cNvSpPr/>
          <p:nvPr/>
        </p:nvSpPr>
        <p:spPr>
          <a:xfrm>
            <a:off x="3832728" y="1246668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8E0A8EF2-C35E-8AC0-1193-FFF10E990109}"/>
              </a:ext>
            </a:extLst>
          </p:cNvPr>
          <p:cNvSpPr/>
          <p:nvPr/>
        </p:nvSpPr>
        <p:spPr>
          <a:xfrm>
            <a:off x="6999168" y="1261164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EF93136E-5089-17E9-E2A0-AA6C754A4B3D}"/>
              </a:ext>
            </a:extLst>
          </p:cNvPr>
          <p:cNvSpPr/>
          <p:nvPr/>
        </p:nvSpPr>
        <p:spPr>
          <a:xfrm>
            <a:off x="10151267" y="1261164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579B6DE9-8C8A-C2B1-96D1-33967940CA01}"/>
              </a:ext>
            </a:extLst>
          </p:cNvPr>
          <p:cNvSpPr/>
          <p:nvPr/>
        </p:nvSpPr>
        <p:spPr>
          <a:xfrm>
            <a:off x="594204" y="1352993"/>
            <a:ext cx="130535" cy="174047"/>
          </a:xfrm>
          <a:custGeom>
            <a:avLst/>
            <a:gdLst/>
            <a:ahLst/>
            <a:cxnLst/>
            <a:rect l="l" t="t" r="r" b="b"/>
            <a:pathLst>
              <a:path w="130535" h="174047">
                <a:moveTo>
                  <a:pt x="105856" y="10878"/>
                </a:moveTo>
                <a:lnTo>
                  <a:pt x="108779" y="10878"/>
                </a:lnTo>
                <a:cubicBezTo>
                  <a:pt x="120779" y="10878"/>
                  <a:pt x="130535" y="20634"/>
                  <a:pt x="130535" y="32634"/>
                </a:cubicBezTo>
                <a:lnTo>
                  <a:pt x="130535" y="152291"/>
                </a:lnTo>
                <a:cubicBezTo>
                  <a:pt x="130535" y="164291"/>
                  <a:pt x="120779" y="174047"/>
                  <a:pt x="108779" y="174047"/>
                </a:cubicBezTo>
                <a:lnTo>
                  <a:pt x="21756" y="174047"/>
                </a:lnTo>
                <a:cubicBezTo>
                  <a:pt x="9756" y="174047"/>
                  <a:pt x="0" y="164291"/>
                  <a:pt x="0" y="152291"/>
                </a:cubicBezTo>
                <a:lnTo>
                  <a:pt x="0" y="32634"/>
                </a:lnTo>
                <a:cubicBezTo>
                  <a:pt x="0" y="20634"/>
                  <a:pt x="9756" y="10878"/>
                  <a:pt x="21756" y="10878"/>
                </a:cubicBezTo>
                <a:lnTo>
                  <a:pt x="24679" y="10878"/>
                </a:lnTo>
                <a:cubicBezTo>
                  <a:pt x="28419" y="4385"/>
                  <a:pt x="35455" y="0"/>
                  <a:pt x="43512" y="0"/>
                </a:cubicBezTo>
                <a:lnTo>
                  <a:pt x="87024" y="0"/>
                </a:lnTo>
                <a:cubicBezTo>
                  <a:pt x="95080" y="0"/>
                  <a:pt x="102117" y="4385"/>
                  <a:pt x="105856" y="10878"/>
                </a:cubicBezTo>
                <a:close/>
                <a:moveTo>
                  <a:pt x="84304" y="38073"/>
                </a:moveTo>
                <a:cubicBezTo>
                  <a:pt x="88825" y="38073"/>
                  <a:pt x="92463" y="34435"/>
                  <a:pt x="92463" y="29914"/>
                </a:cubicBezTo>
                <a:cubicBezTo>
                  <a:pt x="92463" y="25393"/>
                  <a:pt x="88825" y="21756"/>
                  <a:pt x="84304" y="21756"/>
                </a:cubicBezTo>
                <a:lnTo>
                  <a:pt x="46231" y="21756"/>
                </a:lnTo>
                <a:cubicBezTo>
                  <a:pt x="41710" y="21756"/>
                  <a:pt x="38073" y="25393"/>
                  <a:pt x="38073" y="29914"/>
                </a:cubicBezTo>
                <a:cubicBezTo>
                  <a:pt x="38073" y="34435"/>
                  <a:pt x="41710" y="38073"/>
                  <a:pt x="46231" y="38073"/>
                </a:cubicBezTo>
                <a:lnTo>
                  <a:pt x="84304" y="38073"/>
                </a:lnTo>
                <a:close/>
                <a:moveTo>
                  <a:pt x="43512" y="87024"/>
                </a:moveTo>
                <a:cubicBezTo>
                  <a:pt x="43512" y="81020"/>
                  <a:pt x="38638" y="76146"/>
                  <a:pt x="32634" y="76146"/>
                </a:cubicBezTo>
                <a:cubicBezTo>
                  <a:pt x="26630" y="76146"/>
                  <a:pt x="21756" y="81020"/>
                  <a:pt x="21756" y="87024"/>
                </a:cubicBezTo>
                <a:cubicBezTo>
                  <a:pt x="21756" y="93027"/>
                  <a:pt x="26630" y="97901"/>
                  <a:pt x="32634" y="97901"/>
                </a:cubicBezTo>
                <a:cubicBezTo>
                  <a:pt x="38638" y="97901"/>
                  <a:pt x="43512" y="93027"/>
                  <a:pt x="43512" y="87024"/>
                </a:cubicBezTo>
                <a:close/>
                <a:moveTo>
                  <a:pt x="54390" y="87024"/>
                </a:moveTo>
                <a:cubicBezTo>
                  <a:pt x="54390" y="91545"/>
                  <a:pt x="58027" y="95182"/>
                  <a:pt x="62548" y="95182"/>
                </a:cubicBezTo>
                <a:lnTo>
                  <a:pt x="100621" y="95182"/>
                </a:lnTo>
                <a:cubicBezTo>
                  <a:pt x="105142" y="95182"/>
                  <a:pt x="108779" y="91545"/>
                  <a:pt x="108779" y="87024"/>
                </a:cubicBezTo>
                <a:cubicBezTo>
                  <a:pt x="108779" y="82502"/>
                  <a:pt x="105142" y="78865"/>
                  <a:pt x="100621" y="78865"/>
                </a:cubicBezTo>
                <a:lnTo>
                  <a:pt x="62548" y="78865"/>
                </a:lnTo>
                <a:cubicBezTo>
                  <a:pt x="58027" y="78865"/>
                  <a:pt x="54390" y="82502"/>
                  <a:pt x="54390" y="87024"/>
                </a:cubicBezTo>
                <a:close/>
                <a:moveTo>
                  <a:pt x="54390" y="130535"/>
                </a:moveTo>
                <a:cubicBezTo>
                  <a:pt x="54390" y="135056"/>
                  <a:pt x="58027" y="138694"/>
                  <a:pt x="62548" y="138694"/>
                </a:cubicBezTo>
                <a:lnTo>
                  <a:pt x="100621" y="138694"/>
                </a:lnTo>
                <a:cubicBezTo>
                  <a:pt x="105142" y="138694"/>
                  <a:pt x="108779" y="135056"/>
                  <a:pt x="108779" y="130535"/>
                </a:cubicBezTo>
                <a:cubicBezTo>
                  <a:pt x="108779" y="126014"/>
                  <a:pt x="105142" y="122377"/>
                  <a:pt x="100621" y="122377"/>
                </a:cubicBezTo>
                <a:lnTo>
                  <a:pt x="62548" y="122377"/>
                </a:lnTo>
                <a:cubicBezTo>
                  <a:pt x="58027" y="122377"/>
                  <a:pt x="54390" y="126014"/>
                  <a:pt x="54390" y="130535"/>
                </a:cubicBezTo>
                <a:close/>
                <a:moveTo>
                  <a:pt x="32634" y="141413"/>
                </a:moveTo>
                <a:cubicBezTo>
                  <a:pt x="38638" y="141413"/>
                  <a:pt x="43512" y="136539"/>
                  <a:pt x="43512" y="130535"/>
                </a:cubicBezTo>
                <a:cubicBezTo>
                  <a:pt x="43512" y="124532"/>
                  <a:pt x="38638" y="119657"/>
                  <a:pt x="32634" y="119657"/>
                </a:cubicBezTo>
                <a:cubicBezTo>
                  <a:pt x="26630" y="119657"/>
                  <a:pt x="21756" y="124532"/>
                  <a:pt x="21756" y="130535"/>
                </a:cubicBezTo>
                <a:cubicBezTo>
                  <a:pt x="21756" y="136539"/>
                  <a:pt x="26630" y="141413"/>
                  <a:pt x="32634" y="1414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CA63387-5AD0-3029-B740-9D86D6CFAAF5}"/>
              </a:ext>
            </a:extLst>
          </p:cNvPr>
          <p:cNvSpPr/>
          <p:nvPr/>
        </p:nvSpPr>
        <p:spPr>
          <a:xfrm>
            <a:off x="3962662" y="1352993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41413" y="70707"/>
                </a:moveTo>
                <a:cubicBezTo>
                  <a:pt x="141413" y="86310"/>
                  <a:pt x="136348" y="100723"/>
                  <a:pt x="127816" y="112417"/>
                </a:cubicBezTo>
                <a:lnTo>
                  <a:pt x="170852" y="155487"/>
                </a:lnTo>
                <a:cubicBezTo>
                  <a:pt x="175101" y="159736"/>
                  <a:pt x="175101" y="166637"/>
                  <a:pt x="170852" y="170886"/>
                </a:cubicBezTo>
                <a:cubicBezTo>
                  <a:pt x="166603" y="175135"/>
                  <a:pt x="159702" y="175135"/>
                  <a:pt x="155453" y="170886"/>
                </a:cubicBezTo>
                <a:lnTo>
                  <a:pt x="112417" y="127816"/>
                </a:lnTo>
                <a:cubicBezTo>
                  <a:pt x="100723" y="136348"/>
                  <a:pt x="86310" y="141413"/>
                  <a:pt x="70707" y="141413"/>
                </a:cubicBezTo>
                <a:cubicBezTo>
                  <a:pt x="31648" y="141413"/>
                  <a:pt x="0" y="109765"/>
                  <a:pt x="0" y="70707"/>
                </a:cubicBezTo>
                <a:cubicBezTo>
                  <a:pt x="0" y="31648"/>
                  <a:pt x="31648" y="0"/>
                  <a:pt x="70707" y="0"/>
                </a:cubicBezTo>
                <a:cubicBezTo>
                  <a:pt x="109765" y="0"/>
                  <a:pt x="141413" y="31648"/>
                  <a:pt x="141413" y="70707"/>
                </a:cubicBezTo>
                <a:close/>
                <a:moveTo>
                  <a:pt x="70707" y="119657"/>
                </a:moveTo>
                <a:cubicBezTo>
                  <a:pt x="97723" y="119657"/>
                  <a:pt x="119657" y="97723"/>
                  <a:pt x="119657" y="70707"/>
                </a:cubicBezTo>
                <a:cubicBezTo>
                  <a:pt x="119657" y="43690"/>
                  <a:pt x="97723" y="21756"/>
                  <a:pt x="70707" y="21756"/>
                </a:cubicBezTo>
                <a:cubicBezTo>
                  <a:pt x="43690" y="21756"/>
                  <a:pt x="21756" y="43690"/>
                  <a:pt x="21756" y="70707"/>
                </a:cubicBezTo>
                <a:cubicBezTo>
                  <a:pt x="21756" y="97723"/>
                  <a:pt x="43690" y="119657"/>
                  <a:pt x="70707" y="1196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D5CD4494-55BF-719D-92F9-5F9E4D5EBCF5}"/>
              </a:ext>
            </a:extLst>
          </p:cNvPr>
          <p:cNvSpPr/>
          <p:nvPr/>
        </p:nvSpPr>
        <p:spPr>
          <a:xfrm>
            <a:off x="10308865" y="1365038"/>
            <a:ext cx="130535" cy="174047"/>
          </a:xfrm>
          <a:custGeom>
            <a:avLst/>
            <a:gdLst/>
            <a:ahLst/>
            <a:cxnLst/>
            <a:rect l="l" t="t" r="r" b="b"/>
            <a:pathLst>
              <a:path w="130535" h="174047">
                <a:moveTo>
                  <a:pt x="0" y="21756"/>
                </a:moveTo>
                <a:cubicBezTo>
                  <a:pt x="0" y="9756"/>
                  <a:pt x="9756" y="0"/>
                  <a:pt x="21756" y="0"/>
                </a:cubicBezTo>
                <a:lnTo>
                  <a:pt x="72576" y="0"/>
                </a:lnTo>
                <a:cubicBezTo>
                  <a:pt x="78355" y="0"/>
                  <a:pt x="83896" y="2278"/>
                  <a:pt x="87975" y="6357"/>
                </a:cubicBezTo>
                <a:lnTo>
                  <a:pt x="124179" y="42594"/>
                </a:lnTo>
                <a:cubicBezTo>
                  <a:pt x="128258" y="46673"/>
                  <a:pt x="130535" y="52214"/>
                  <a:pt x="130535" y="57993"/>
                </a:cubicBezTo>
                <a:lnTo>
                  <a:pt x="130535" y="152291"/>
                </a:lnTo>
                <a:cubicBezTo>
                  <a:pt x="130535" y="164291"/>
                  <a:pt x="120779" y="174047"/>
                  <a:pt x="108779" y="174047"/>
                </a:cubicBezTo>
                <a:lnTo>
                  <a:pt x="21756" y="174047"/>
                </a:lnTo>
                <a:cubicBezTo>
                  <a:pt x="9756" y="174047"/>
                  <a:pt x="0" y="164291"/>
                  <a:pt x="0" y="152291"/>
                </a:cubicBezTo>
                <a:lnTo>
                  <a:pt x="0" y="21756"/>
                </a:lnTo>
                <a:close/>
                <a:moveTo>
                  <a:pt x="70707" y="19886"/>
                </a:moveTo>
                <a:lnTo>
                  <a:pt x="70707" y="51670"/>
                </a:lnTo>
                <a:cubicBezTo>
                  <a:pt x="70707" y="56191"/>
                  <a:pt x="74344" y="59829"/>
                  <a:pt x="78865" y="59829"/>
                </a:cubicBezTo>
                <a:lnTo>
                  <a:pt x="110649" y="59829"/>
                </a:lnTo>
                <a:lnTo>
                  <a:pt x="70707" y="19886"/>
                </a:lnTo>
                <a:close/>
                <a:moveTo>
                  <a:pt x="40792" y="87024"/>
                </a:moveTo>
                <a:cubicBezTo>
                  <a:pt x="36271" y="87024"/>
                  <a:pt x="32634" y="90661"/>
                  <a:pt x="32634" y="95182"/>
                </a:cubicBezTo>
                <a:cubicBezTo>
                  <a:pt x="32634" y="99703"/>
                  <a:pt x="36271" y="103340"/>
                  <a:pt x="40792" y="103340"/>
                </a:cubicBezTo>
                <a:lnTo>
                  <a:pt x="89743" y="103340"/>
                </a:lnTo>
                <a:cubicBezTo>
                  <a:pt x="94264" y="103340"/>
                  <a:pt x="97901" y="99703"/>
                  <a:pt x="97901" y="95182"/>
                </a:cubicBezTo>
                <a:cubicBezTo>
                  <a:pt x="97901" y="90661"/>
                  <a:pt x="94264" y="87024"/>
                  <a:pt x="89743" y="87024"/>
                </a:cubicBezTo>
                <a:lnTo>
                  <a:pt x="40792" y="87024"/>
                </a:lnTo>
                <a:close/>
                <a:moveTo>
                  <a:pt x="40792" y="119657"/>
                </a:moveTo>
                <a:cubicBezTo>
                  <a:pt x="36271" y="119657"/>
                  <a:pt x="32634" y="123295"/>
                  <a:pt x="32634" y="127816"/>
                </a:cubicBezTo>
                <a:cubicBezTo>
                  <a:pt x="32634" y="132337"/>
                  <a:pt x="36271" y="135974"/>
                  <a:pt x="40792" y="135974"/>
                </a:cubicBezTo>
                <a:lnTo>
                  <a:pt x="89743" y="135974"/>
                </a:lnTo>
                <a:cubicBezTo>
                  <a:pt x="94264" y="135974"/>
                  <a:pt x="97901" y="132337"/>
                  <a:pt x="97901" y="127816"/>
                </a:cubicBezTo>
                <a:cubicBezTo>
                  <a:pt x="97901" y="123295"/>
                  <a:pt x="94264" y="119657"/>
                  <a:pt x="89743" y="119657"/>
                </a:cubicBezTo>
                <a:lnTo>
                  <a:pt x="40792" y="1196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1DF4AE34-18B4-CF0E-361A-6F33820CECB8}"/>
              </a:ext>
            </a:extLst>
          </p:cNvPr>
          <p:cNvSpPr/>
          <p:nvPr/>
        </p:nvSpPr>
        <p:spPr>
          <a:xfrm>
            <a:off x="7121468" y="1365037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63203" y="65268"/>
                </a:moveTo>
                <a:lnTo>
                  <a:pt x="165889" y="65268"/>
                </a:lnTo>
                <a:cubicBezTo>
                  <a:pt x="170410" y="65268"/>
                  <a:pt x="174047" y="61630"/>
                  <a:pt x="174047" y="57109"/>
                </a:cubicBezTo>
                <a:lnTo>
                  <a:pt x="174047" y="8158"/>
                </a:lnTo>
                <a:cubicBezTo>
                  <a:pt x="174047" y="4861"/>
                  <a:pt x="172075" y="1870"/>
                  <a:pt x="169016" y="612"/>
                </a:cubicBezTo>
                <a:cubicBezTo>
                  <a:pt x="165957" y="-646"/>
                  <a:pt x="162455" y="68"/>
                  <a:pt x="160110" y="2380"/>
                </a:cubicBezTo>
                <a:lnTo>
                  <a:pt x="142535" y="19988"/>
                </a:lnTo>
                <a:cubicBezTo>
                  <a:pt x="127476" y="7513"/>
                  <a:pt x="108100" y="0"/>
                  <a:pt x="87024" y="0"/>
                </a:cubicBezTo>
                <a:cubicBezTo>
                  <a:pt x="43172" y="0"/>
                  <a:pt x="6901" y="32430"/>
                  <a:pt x="884" y="74616"/>
                </a:cubicBezTo>
                <a:cubicBezTo>
                  <a:pt x="34" y="80565"/>
                  <a:pt x="4147" y="86072"/>
                  <a:pt x="10096" y="86922"/>
                </a:cubicBezTo>
                <a:cubicBezTo>
                  <a:pt x="16045" y="87771"/>
                  <a:pt x="21552" y="83624"/>
                  <a:pt x="22402" y="77709"/>
                </a:cubicBezTo>
                <a:cubicBezTo>
                  <a:pt x="26923" y="46061"/>
                  <a:pt x="54152" y="21756"/>
                  <a:pt x="87024" y="21756"/>
                </a:cubicBezTo>
                <a:cubicBezTo>
                  <a:pt x="102117" y="21756"/>
                  <a:pt x="115986" y="26855"/>
                  <a:pt x="127034" y="35455"/>
                </a:cubicBezTo>
                <a:lnTo>
                  <a:pt x="111159" y="51330"/>
                </a:lnTo>
                <a:cubicBezTo>
                  <a:pt x="108813" y="53676"/>
                  <a:pt x="108134" y="57177"/>
                  <a:pt x="109391" y="60237"/>
                </a:cubicBezTo>
                <a:cubicBezTo>
                  <a:pt x="110649" y="63296"/>
                  <a:pt x="113641" y="65268"/>
                  <a:pt x="116938" y="65268"/>
                </a:cubicBezTo>
                <a:lnTo>
                  <a:pt x="163203" y="65268"/>
                </a:lnTo>
                <a:close/>
                <a:moveTo>
                  <a:pt x="173197" y="99431"/>
                </a:moveTo>
                <a:cubicBezTo>
                  <a:pt x="174047" y="93482"/>
                  <a:pt x="169900" y="87975"/>
                  <a:pt x="163985" y="87126"/>
                </a:cubicBezTo>
                <a:cubicBezTo>
                  <a:pt x="158070" y="86276"/>
                  <a:pt x="152529" y="90423"/>
                  <a:pt x="151679" y="96338"/>
                </a:cubicBezTo>
                <a:cubicBezTo>
                  <a:pt x="147158" y="127952"/>
                  <a:pt x="119929" y="152257"/>
                  <a:pt x="87058" y="152257"/>
                </a:cubicBezTo>
                <a:cubicBezTo>
                  <a:pt x="71964" y="152257"/>
                  <a:pt x="58095" y="147158"/>
                  <a:pt x="47047" y="138558"/>
                </a:cubicBezTo>
                <a:lnTo>
                  <a:pt x="62888" y="122717"/>
                </a:lnTo>
                <a:cubicBezTo>
                  <a:pt x="65234" y="120371"/>
                  <a:pt x="65914" y="116870"/>
                  <a:pt x="64656" y="113810"/>
                </a:cubicBezTo>
                <a:cubicBezTo>
                  <a:pt x="63398" y="110751"/>
                  <a:pt x="60407" y="108779"/>
                  <a:pt x="57109" y="108779"/>
                </a:cubicBezTo>
                <a:lnTo>
                  <a:pt x="8158" y="108779"/>
                </a:lnTo>
                <a:cubicBezTo>
                  <a:pt x="3637" y="108779"/>
                  <a:pt x="0" y="112417"/>
                  <a:pt x="0" y="116938"/>
                </a:cubicBezTo>
                <a:lnTo>
                  <a:pt x="0" y="165889"/>
                </a:lnTo>
                <a:cubicBezTo>
                  <a:pt x="0" y="169186"/>
                  <a:pt x="1972" y="172177"/>
                  <a:pt x="5031" y="173435"/>
                </a:cubicBezTo>
                <a:cubicBezTo>
                  <a:pt x="8090" y="174693"/>
                  <a:pt x="11592" y="173979"/>
                  <a:pt x="13937" y="171668"/>
                </a:cubicBezTo>
                <a:lnTo>
                  <a:pt x="31546" y="154059"/>
                </a:lnTo>
                <a:cubicBezTo>
                  <a:pt x="46571" y="166535"/>
                  <a:pt x="65948" y="174047"/>
                  <a:pt x="87024" y="174047"/>
                </a:cubicBezTo>
                <a:cubicBezTo>
                  <a:pt x="130875" y="174047"/>
                  <a:pt x="167146" y="141617"/>
                  <a:pt x="173163" y="994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Shape 107">
            <a:extLst>
              <a:ext uri="{FF2B5EF4-FFF2-40B4-BE49-F238E27FC236}">
                <a16:creationId xmlns:a16="http://schemas.microsoft.com/office/drawing/2014/main" id="{BC1AE519-CBA4-8643-D72D-4E6DD9C9C9D5}"/>
              </a:ext>
            </a:extLst>
          </p:cNvPr>
          <p:cNvSpPr/>
          <p:nvPr/>
        </p:nvSpPr>
        <p:spPr>
          <a:xfrm>
            <a:off x="381000" y="6057900"/>
            <a:ext cx="11430000" cy="723900"/>
          </a:xfrm>
          <a:custGeom>
            <a:avLst/>
            <a:gdLst/>
            <a:ahLst/>
            <a:cxnLst/>
            <a:rect l="l" t="t" r="r" b="b"/>
            <a:pathLst>
              <a:path w="11430000" h="7239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609603"/>
                </a:lnTo>
                <a:cubicBezTo>
                  <a:pt x="11430000" y="672728"/>
                  <a:pt x="11378828" y="723900"/>
                  <a:pt x="113157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100000">
                <a:srgbClr val="4A90D9"/>
              </a:gs>
            </a:gsLst>
            <a:lin ang="0" scaled="1"/>
          </a:gradFill>
          <a:ln/>
        </p:spPr>
      </p:sp>
      <p:sp>
        <p:nvSpPr>
          <p:cNvPr id="32" name="Shape 108">
            <a:extLst>
              <a:ext uri="{FF2B5EF4-FFF2-40B4-BE49-F238E27FC236}">
                <a16:creationId xmlns:a16="http://schemas.microsoft.com/office/drawing/2014/main" id="{59662B7A-29E0-C131-0383-A5E5067DDF17}"/>
              </a:ext>
            </a:extLst>
          </p:cNvPr>
          <p:cNvSpPr/>
          <p:nvPr/>
        </p:nvSpPr>
        <p:spPr>
          <a:xfrm>
            <a:off x="495300" y="6191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3" name="Shape 109">
            <a:extLst>
              <a:ext uri="{FF2B5EF4-FFF2-40B4-BE49-F238E27FC236}">
                <a16:creationId xmlns:a16="http://schemas.microsoft.com/office/drawing/2014/main" id="{733B4768-F354-AE4D-1122-06F4CB142185}"/>
              </a:ext>
            </a:extLst>
          </p:cNvPr>
          <p:cNvSpPr/>
          <p:nvPr/>
        </p:nvSpPr>
        <p:spPr>
          <a:xfrm>
            <a:off x="595313" y="63055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110">
            <a:extLst>
              <a:ext uri="{FF2B5EF4-FFF2-40B4-BE49-F238E27FC236}">
                <a16:creationId xmlns:a16="http://schemas.microsoft.com/office/drawing/2014/main" id="{86C63496-795F-97F1-81FF-78F5F0F7205C}"/>
              </a:ext>
            </a:extLst>
          </p:cNvPr>
          <p:cNvSpPr/>
          <p:nvPr/>
        </p:nvSpPr>
        <p:spPr>
          <a:xfrm>
            <a:off x="1066800" y="61722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专业工具</a:t>
            </a:r>
            <a:endParaRPr lang="en-US" sz="1600" dirty="0"/>
          </a:p>
        </p:txBody>
      </p:sp>
      <p:sp>
        <p:nvSpPr>
          <p:cNvPr id="35" name="Text 111">
            <a:extLst>
              <a:ext uri="{FF2B5EF4-FFF2-40B4-BE49-F238E27FC236}">
                <a16:creationId xmlns:a16="http://schemas.microsoft.com/office/drawing/2014/main" id="{28E226A9-B32D-FACE-D2FC-A1B8C0A2DA0D}"/>
              </a:ext>
            </a:extLst>
          </p:cNvPr>
          <p:cNvSpPr/>
          <p:nvPr/>
        </p:nvSpPr>
        <p:spPr>
          <a:xfrm>
            <a:off x="1066800" y="6438900"/>
            <a:ext cx="33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绿盟网络安全漏洞扫描系统</a:t>
            </a:r>
            <a:r>
              <a:rPr lang="en-US" altLang="zh-CN" sz="120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RSAS</a:t>
            </a:r>
            <a:endParaRPr lang="en-US" sz="1600" dirty="0"/>
          </a:p>
        </p:txBody>
      </p:sp>
      <p:sp>
        <p:nvSpPr>
          <p:cNvPr id="36" name="Shape 112">
            <a:extLst>
              <a:ext uri="{FF2B5EF4-FFF2-40B4-BE49-F238E27FC236}">
                <a16:creationId xmlns:a16="http://schemas.microsoft.com/office/drawing/2014/main" id="{C6F67A01-5003-F7E0-23DE-472FF408A7CA}"/>
              </a:ext>
            </a:extLst>
          </p:cNvPr>
          <p:cNvSpPr/>
          <p:nvPr/>
        </p:nvSpPr>
        <p:spPr>
          <a:xfrm>
            <a:off x="7495699" y="6343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113">
            <a:extLst>
              <a:ext uri="{FF2B5EF4-FFF2-40B4-BE49-F238E27FC236}">
                <a16:creationId xmlns:a16="http://schemas.microsoft.com/office/drawing/2014/main" id="{52FDD6E5-F348-2CF0-779A-6B15C495E4BB}"/>
              </a:ext>
            </a:extLst>
          </p:cNvPr>
          <p:cNvSpPr/>
          <p:nvPr/>
        </p:nvSpPr>
        <p:spPr>
          <a:xfrm>
            <a:off x="7743349" y="63055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漏洞识别全面</a:t>
            </a:r>
            <a:endParaRPr lang="en-US" sz="1600" dirty="0"/>
          </a:p>
        </p:txBody>
      </p:sp>
      <p:sp>
        <p:nvSpPr>
          <p:cNvPr id="38" name="Text 114">
            <a:extLst>
              <a:ext uri="{FF2B5EF4-FFF2-40B4-BE49-F238E27FC236}">
                <a16:creationId xmlns:a16="http://schemas.microsoft.com/office/drawing/2014/main" id="{4B8B8476-DA25-533B-D551-FAB2EE45878C}"/>
              </a:ext>
            </a:extLst>
          </p:cNvPr>
          <p:cNvSpPr/>
          <p:nvPr/>
        </p:nvSpPr>
        <p:spPr>
          <a:xfrm>
            <a:off x="8810149" y="6305550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39" name="Shape 115">
            <a:extLst>
              <a:ext uri="{FF2B5EF4-FFF2-40B4-BE49-F238E27FC236}">
                <a16:creationId xmlns:a16="http://schemas.microsoft.com/office/drawing/2014/main" id="{A338B457-1163-FD4F-0D85-87C4FA51F1B5}"/>
              </a:ext>
            </a:extLst>
          </p:cNvPr>
          <p:cNvSpPr/>
          <p:nvPr/>
        </p:nvSpPr>
        <p:spPr>
          <a:xfrm>
            <a:off x="9015175" y="6343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116">
            <a:extLst>
              <a:ext uri="{FF2B5EF4-FFF2-40B4-BE49-F238E27FC236}">
                <a16:creationId xmlns:a16="http://schemas.microsoft.com/office/drawing/2014/main" id="{32D5DAAE-D54A-6251-810A-19F716F4DF91}"/>
              </a:ext>
            </a:extLst>
          </p:cNvPr>
          <p:cNvSpPr/>
          <p:nvPr/>
        </p:nvSpPr>
        <p:spPr>
          <a:xfrm>
            <a:off x="9262825" y="63055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风险定位清晰</a:t>
            </a:r>
            <a:endParaRPr lang="en-US" sz="1600" dirty="0"/>
          </a:p>
        </p:txBody>
      </p:sp>
      <p:sp>
        <p:nvSpPr>
          <p:cNvPr id="41" name="Text 117">
            <a:extLst>
              <a:ext uri="{FF2B5EF4-FFF2-40B4-BE49-F238E27FC236}">
                <a16:creationId xmlns:a16="http://schemas.microsoft.com/office/drawing/2014/main" id="{95E00261-0B16-D761-294E-66055D20E86F}"/>
              </a:ext>
            </a:extLst>
          </p:cNvPr>
          <p:cNvSpPr/>
          <p:nvPr/>
        </p:nvSpPr>
        <p:spPr>
          <a:xfrm>
            <a:off x="10329624" y="6305550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42" name="Shape 118">
            <a:extLst>
              <a:ext uri="{FF2B5EF4-FFF2-40B4-BE49-F238E27FC236}">
                <a16:creationId xmlns:a16="http://schemas.microsoft.com/office/drawing/2014/main" id="{4931A923-6659-F303-375A-896B62DD691A}"/>
              </a:ext>
            </a:extLst>
          </p:cNvPr>
          <p:cNvSpPr/>
          <p:nvPr/>
        </p:nvSpPr>
        <p:spPr>
          <a:xfrm>
            <a:off x="10534650" y="6343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119">
            <a:extLst>
              <a:ext uri="{FF2B5EF4-FFF2-40B4-BE49-F238E27FC236}">
                <a16:creationId xmlns:a16="http://schemas.microsoft.com/office/drawing/2014/main" id="{1930803F-EC53-A55C-4294-FB49B64E6626}"/>
              </a:ext>
            </a:extLst>
          </p:cNvPr>
          <p:cNvSpPr/>
          <p:nvPr/>
        </p:nvSpPr>
        <p:spPr>
          <a:xfrm>
            <a:off x="10782300" y="63055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整改复核支撑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4241977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422203"/>
            <a:ext cx="69619" cy="417713"/>
          </a:xfrm>
          <a:custGeom>
            <a:avLst/>
            <a:gdLst/>
            <a:ahLst/>
            <a:cxnLst/>
            <a:rect l="l" t="t" r="r" b="b"/>
            <a:pathLst>
              <a:path w="69619" h="417713">
                <a:moveTo>
                  <a:pt x="34809" y="0"/>
                </a:moveTo>
                <a:lnTo>
                  <a:pt x="34809" y="0"/>
                </a:lnTo>
                <a:cubicBezTo>
                  <a:pt x="54021" y="0"/>
                  <a:pt x="69619" y="15598"/>
                  <a:pt x="69619" y="34809"/>
                </a:cubicBezTo>
                <a:lnTo>
                  <a:pt x="69619" y="382904"/>
                </a:lnTo>
                <a:cubicBezTo>
                  <a:pt x="69619" y="402115"/>
                  <a:pt x="54021" y="417713"/>
                  <a:pt x="34809" y="417713"/>
                </a:cubicBezTo>
                <a:lnTo>
                  <a:pt x="34809" y="417713"/>
                </a:lnTo>
                <a:cubicBezTo>
                  <a:pt x="15598" y="417713"/>
                  <a:pt x="0" y="402115"/>
                  <a:pt x="0" y="382904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源代码审计检测服务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6951" y="922450"/>
            <a:ext cx="1113901" cy="34809"/>
          </a:xfrm>
          <a:custGeom>
            <a:avLst/>
            <a:gdLst/>
            <a:ahLst/>
            <a:cxnLst/>
            <a:rect l="l" t="t" r="r" b="b"/>
            <a:pathLst>
              <a:path w="1113901" h="34809">
                <a:moveTo>
                  <a:pt x="17405" y="0"/>
                </a:moveTo>
                <a:lnTo>
                  <a:pt x="1096497" y="0"/>
                </a:lnTo>
                <a:cubicBezTo>
                  <a:pt x="1106109" y="0"/>
                  <a:pt x="1113901" y="7792"/>
                  <a:pt x="1113901" y="17405"/>
                </a:cubicBezTo>
                <a:lnTo>
                  <a:pt x="1113901" y="17405"/>
                </a:lnTo>
                <a:cubicBezTo>
                  <a:pt x="1113901" y="27017"/>
                  <a:pt x="1106109" y="34809"/>
                  <a:pt x="1096497" y="34809"/>
                </a:cubicBezTo>
                <a:lnTo>
                  <a:pt x="17405" y="34809"/>
                </a:lnTo>
                <a:cubicBezTo>
                  <a:pt x="7799" y="34809"/>
                  <a:pt x="0" y="27011"/>
                  <a:pt x="0" y="17405"/>
                </a:cubicBezTo>
                <a:lnTo>
                  <a:pt x="0" y="17405"/>
                </a:lnTo>
                <a:cubicBezTo>
                  <a:pt x="0" y="7799"/>
                  <a:pt x="7799" y="0"/>
                  <a:pt x="17405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1783983" y="863273"/>
            <a:ext cx="156642" cy="139238"/>
          </a:xfrm>
          <a:custGeom>
            <a:avLst/>
            <a:gdLst/>
            <a:ahLst/>
            <a:cxnLst/>
            <a:rect l="l" t="t" r="r" b="b"/>
            <a:pathLst>
              <a:path w="156642" h="139238">
                <a:moveTo>
                  <a:pt x="98119" y="326"/>
                </a:moveTo>
                <a:cubicBezTo>
                  <a:pt x="93496" y="-1006"/>
                  <a:pt x="88682" y="1686"/>
                  <a:pt x="87350" y="6309"/>
                </a:cubicBezTo>
                <a:lnTo>
                  <a:pt x="52540" y="128142"/>
                </a:lnTo>
                <a:cubicBezTo>
                  <a:pt x="51208" y="132765"/>
                  <a:pt x="53900" y="137579"/>
                  <a:pt x="58523" y="138911"/>
                </a:cubicBezTo>
                <a:cubicBezTo>
                  <a:pt x="63146" y="140244"/>
                  <a:pt x="67960" y="137552"/>
                  <a:pt x="69293" y="132928"/>
                </a:cubicBezTo>
                <a:lnTo>
                  <a:pt x="104102" y="11096"/>
                </a:lnTo>
                <a:cubicBezTo>
                  <a:pt x="105434" y="6472"/>
                  <a:pt x="102742" y="1659"/>
                  <a:pt x="98119" y="326"/>
                </a:cubicBezTo>
                <a:close/>
                <a:moveTo>
                  <a:pt x="115687" y="37339"/>
                </a:moveTo>
                <a:cubicBezTo>
                  <a:pt x="112288" y="40738"/>
                  <a:pt x="112288" y="46258"/>
                  <a:pt x="115687" y="49658"/>
                </a:cubicBezTo>
                <a:lnTo>
                  <a:pt x="135648" y="69619"/>
                </a:lnTo>
                <a:lnTo>
                  <a:pt x="115687" y="89580"/>
                </a:lnTo>
                <a:cubicBezTo>
                  <a:pt x="112288" y="92979"/>
                  <a:pt x="112288" y="98500"/>
                  <a:pt x="115687" y="101899"/>
                </a:cubicBezTo>
                <a:cubicBezTo>
                  <a:pt x="119086" y="105299"/>
                  <a:pt x="124607" y="105299"/>
                  <a:pt x="128006" y="101899"/>
                </a:cubicBezTo>
                <a:lnTo>
                  <a:pt x="154113" y="75792"/>
                </a:lnTo>
                <a:cubicBezTo>
                  <a:pt x="157513" y="72393"/>
                  <a:pt x="157513" y="66872"/>
                  <a:pt x="154113" y="63473"/>
                </a:cubicBezTo>
                <a:lnTo>
                  <a:pt x="128006" y="37366"/>
                </a:lnTo>
                <a:cubicBezTo>
                  <a:pt x="124607" y="33966"/>
                  <a:pt x="119086" y="33966"/>
                  <a:pt x="115687" y="37366"/>
                </a:cubicBezTo>
                <a:close/>
                <a:moveTo>
                  <a:pt x="40983" y="37339"/>
                </a:moveTo>
                <a:cubicBezTo>
                  <a:pt x="37583" y="33939"/>
                  <a:pt x="32063" y="33939"/>
                  <a:pt x="28663" y="37339"/>
                </a:cubicBezTo>
                <a:lnTo>
                  <a:pt x="2556" y="63446"/>
                </a:lnTo>
                <a:cubicBezTo>
                  <a:pt x="-843" y="66845"/>
                  <a:pt x="-843" y="72366"/>
                  <a:pt x="2556" y="75765"/>
                </a:cubicBezTo>
                <a:lnTo>
                  <a:pt x="28663" y="101872"/>
                </a:lnTo>
                <a:cubicBezTo>
                  <a:pt x="32063" y="105271"/>
                  <a:pt x="37583" y="105271"/>
                  <a:pt x="40983" y="101872"/>
                </a:cubicBezTo>
                <a:cubicBezTo>
                  <a:pt x="44382" y="98473"/>
                  <a:pt x="44382" y="92952"/>
                  <a:pt x="40983" y="89553"/>
                </a:cubicBezTo>
                <a:lnTo>
                  <a:pt x="21022" y="69619"/>
                </a:lnTo>
                <a:lnTo>
                  <a:pt x="40955" y="49658"/>
                </a:lnTo>
                <a:cubicBezTo>
                  <a:pt x="44355" y="46258"/>
                  <a:pt x="44355" y="40738"/>
                  <a:pt x="40955" y="37339"/>
                </a:cubicBezTo>
                <a:close/>
              </a:path>
            </a:pathLst>
          </a:custGeom>
          <a:solidFill>
            <a:srgbClr val="2C3E50">
              <a:alpha val="7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993900" y="824672"/>
            <a:ext cx="31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标准依据：</a:t>
            </a:r>
            <a:r>
              <a:rPr lang="en-US" altLang="zh-CN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GB/T 39412-2020</a:t>
            </a:r>
            <a:endParaRPr lang="en-US" sz="1150" dirty="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8094" y="1113901"/>
            <a:ext cx="11495812" cy="591760"/>
          </a:xfrm>
          <a:custGeom>
            <a:avLst/>
            <a:gdLst/>
            <a:ahLst/>
            <a:cxnLst/>
            <a:rect l="l" t="t" r="r" b="b"/>
            <a:pathLst>
              <a:path w="11495812" h="591760">
                <a:moveTo>
                  <a:pt x="104428" y="0"/>
                </a:moveTo>
                <a:lnTo>
                  <a:pt x="11391384" y="0"/>
                </a:lnTo>
                <a:cubicBezTo>
                  <a:pt x="11449058" y="0"/>
                  <a:pt x="11495812" y="46754"/>
                  <a:pt x="11495812" y="104428"/>
                </a:cubicBezTo>
                <a:lnTo>
                  <a:pt x="11495812" y="487332"/>
                </a:lnTo>
                <a:cubicBezTo>
                  <a:pt x="11495812" y="545006"/>
                  <a:pt x="11449058" y="591760"/>
                  <a:pt x="11391384" y="591760"/>
                </a:cubicBezTo>
                <a:lnTo>
                  <a:pt x="104428" y="591760"/>
                </a:lnTo>
                <a:cubicBezTo>
                  <a:pt x="46754" y="591760"/>
                  <a:pt x="0" y="545006"/>
                  <a:pt x="0" y="487332"/>
                </a:cubicBezTo>
                <a:lnTo>
                  <a:pt x="0" y="104428"/>
                </a:lnTo>
                <a:cubicBezTo>
                  <a:pt x="0" y="46754"/>
                  <a:pt x="46754" y="0"/>
                  <a:pt x="1044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214" dist="3480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7713" y="1200925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9" name="Shape 7"/>
          <p:cNvSpPr/>
          <p:nvPr/>
        </p:nvSpPr>
        <p:spPr>
          <a:xfrm>
            <a:off x="561302" y="1322758"/>
            <a:ext cx="130535" cy="174047"/>
          </a:xfrm>
          <a:custGeom>
            <a:avLst/>
            <a:gdLst/>
            <a:ahLst/>
            <a:cxnLst/>
            <a:rect l="l" t="t" r="r" b="b"/>
            <a:pathLst>
              <a:path w="130535" h="174047">
                <a:moveTo>
                  <a:pt x="105856" y="10878"/>
                </a:moveTo>
                <a:lnTo>
                  <a:pt x="108779" y="10878"/>
                </a:lnTo>
                <a:cubicBezTo>
                  <a:pt x="120779" y="10878"/>
                  <a:pt x="130535" y="20634"/>
                  <a:pt x="130535" y="32634"/>
                </a:cubicBezTo>
                <a:lnTo>
                  <a:pt x="130535" y="152291"/>
                </a:lnTo>
                <a:cubicBezTo>
                  <a:pt x="130535" y="164291"/>
                  <a:pt x="120779" y="174047"/>
                  <a:pt x="108779" y="174047"/>
                </a:cubicBezTo>
                <a:lnTo>
                  <a:pt x="21756" y="174047"/>
                </a:lnTo>
                <a:cubicBezTo>
                  <a:pt x="9756" y="174047"/>
                  <a:pt x="0" y="164291"/>
                  <a:pt x="0" y="152291"/>
                </a:cubicBezTo>
                <a:lnTo>
                  <a:pt x="0" y="32634"/>
                </a:lnTo>
                <a:cubicBezTo>
                  <a:pt x="0" y="20634"/>
                  <a:pt x="9756" y="10878"/>
                  <a:pt x="21756" y="10878"/>
                </a:cubicBezTo>
                <a:lnTo>
                  <a:pt x="24679" y="10878"/>
                </a:lnTo>
                <a:cubicBezTo>
                  <a:pt x="28419" y="4385"/>
                  <a:pt x="35455" y="0"/>
                  <a:pt x="43512" y="0"/>
                </a:cubicBezTo>
                <a:lnTo>
                  <a:pt x="87024" y="0"/>
                </a:lnTo>
                <a:cubicBezTo>
                  <a:pt x="95080" y="0"/>
                  <a:pt x="102117" y="4385"/>
                  <a:pt x="105856" y="10878"/>
                </a:cubicBezTo>
                <a:close/>
                <a:moveTo>
                  <a:pt x="84304" y="38073"/>
                </a:moveTo>
                <a:cubicBezTo>
                  <a:pt x="88825" y="38073"/>
                  <a:pt x="92463" y="34435"/>
                  <a:pt x="92463" y="29914"/>
                </a:cubicBezTo>
                <a:cubicBezTo>
                  <a:pt x="92463" y="25393"/>
                  <a:pt x="88825" y="21756"/>
                  <a:pt x="84304" y="21756"/>
                </a:cubicBezTo>
                <a:lnTo>
                  <a:pt x="46231" y="21756"/>
                </a:lnTo>
                <a:cubicBezTo>
                  <a:pt x="41710" y="21756"/>
                  <a:pt x="38073" y="25393"/>
                  <a:pt x="38073" y="29914"/>
                </a:cubicBezTo>
                <a:cubicBezTo>
                  <a:pt x="38073" y="34435"/>
                  <a:pt x="41710" y="38073"/>
                  <a:pt x="46231" y="38073"/>
                </a:cubicBezTo>
                <a:lnTo>
                  <a:pt x="84304" y="38073"/>
                </a:lnTo>
                <a:close/>
                <a:moveTo>
                  <a:pt x="43512" y="87024"/>
                </a:moveTo>
                <a:cubicBezTo>
                  <a:pt x="43512" y="81020"/>
                  <a:pt x="38638" y="76146"/>
                  <a:pt x="32634" y="76146"/>
                </a:cubicBezTo>
                <a:cubicBezTo>
                  <a:pt x="26630" y="76146"/>
                  <a:pt x="21756" y="81020"/>
                  <a:pt x="21756" y="87024"/>
                </a:cubicBezTo>
                <a:cubicBezTo>
                  <a:pt x="21756" y="93027"/>
                  <a:pt x="26630" y="97901"/>
                  <a:pt x="32634" y="97901"/>
                </a:cubicBezTo>
                <a:cubicBezTo>
                  <a:pt x="38638" y="97901"/>
                  <a:pt x="43512" y="93027"/>
                  <a:pt x="43512" y="87024"/>
                </a:cubicBezTo>
                <a:close/>
                <a:moveTo>
                  <a:pt x="54390" y="87024"/>
                </a:moveTo>
                <a:cubicBezTo>
                  <a:pt x="54390" y="91545"/>
                  <a:pt x="58027" y="95182"/>
                  <a:pt x="62548" y="95182"/>
                </a:cubicBezTo>
                <a:lnTo>
                  <a:pt x="100621" y="95182"/>
                </a:lnTo>
                <a:cubicBezTo>
                  <a:pt x="105142" y="95182"/>
                  <a:pt x="108779" y="91545"/>
                  <a:pt x="108779" y="87024"/>
                </a:cubicBezTo>
                <a:cubicBezTo>
                  <a:pt x="108779" y="82502"/>
                  <a:pt x="105142" y="78865"/>
                  <a:pt x="100621" y="78865"/>
                </a:cubicBezTo>
                <a:lnTo>
                  <a:pt x="62548" y="78865"/>
                </a:lnTo>
                <a:cubicBezTo>
                  <a:pt x="58027" y="78865"/>
                  <a:pt x="54390" y="82502"/>
                  <a:pt x="54390" y="87024"/>
                </a:cubicBezTo>
                <a:close/>
                <a:moveTo>
                  <a:pt x="54390" y="130535"/>
                </a:moveTo>
                <a:cubicBezTo>
                  <a:pt x="54390" y="135056"/>
                  <a:pt x="58027" y="138694"/>
                  <a:pt x="62548" y="138694"/>
                </a:cubicBezTo>
                <a:lnTo>
                  <a:pt x="100621" y="138694"/>
                </a:lnTo>
                <a:cubicBezTo>
                  <a:pt x="105142" y="138694"/>
                  <a:pt x="108779" y="135056"/>
                  <a:pt x="108779" y="130535"/>
                </a:cubicBezTo>
                <a:cubicBezTo>
                  <a:pt x="108779" y="126014"/>
                  <a:pt x="105142" y="122377"/>
                  <a:pt x="100621" y="122377"/>
                </a:cubicBezTo>
                <a:lnTo>
                  <a:pt x="62548" y="122377"/>
                </a:lnTo>
                <a:cubicBezTo>
                  <a:pt x="58027" y="122377"/>
                  <a:pt x="54390" y="126014"/>
                  <a:pt x="54390" y="130535"/>
                </a:cubicBezTo>
                <a:close/>
                <a:moveTo>
                  <a:pt x="32634" y="141413"/>
                </a:moveTo>
                <a:cubicBezTo>
                  <a:pt x="38638" y="141413"/>
                  <a:pt x="43512" y="136539"/>
                  <a:pt x="43512" y="130535"/>
                </a:cubicBezTo>
                <a:cubicBezTo>
                  <a:pt x="43512" y="124532"/>
                  <a:pt x="38638" y="119657"/>
                  <a:pt x="32634" y="119657"/>
                </a:cubicBezTo>
                <a:cubicBezTo>
                  <a:pt x="26630" y="119657"/>
                  <a:pt x="21756" y="124532"/>
                  <a:pt x="21756" y="130535"/>
                </a:cubicBezTo>
                <a:cubicBezTo>
                  <a:pt x="21756" y="136539"/>
                  <a:pt x="26630" y="141413"/>
                  <a:pt x="32634" y="1414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05045" y="1183520"/>
            <a:ext cx="133146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审计准备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5045" y="1427186"/>
            <a:ext cx="132275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代码收集与环境搭建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78848" y="1305353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205022" y="113647"/>
                </a:moveTo>
                <a:cubicBezTo>
                  <a:pt x="210121" y="108548"/>
                  <a:pt x="210121" y="100267"/>
                  <a:pt x="205022" y="95168"/>
                </a:cubicBezTo>
                <a:lnTo>
                  <a:pt x="139754" y="29901"/>
                </a:lnTo>
                <a:cubicBezTo>
                  <a:pt x="134655" y="24802"/>
                  <a:pt x="126375" y="24802"/>
                  <a:pt x="121275" y="29901"/>
                </a:cubicBezTo>
                <a:cubicBezTo>
                  <a:pt x="116176" y="35000"/>
                  <a:pt x="116176" y="43281"/>
                  <a:pt x="121275" y="48380"/>
                </a:cubicBezTo>
                <a:lnTo>
                  <a:pt x="164271" y="91375"/>
                </a:lnTo>
                <a:lnTo>
                  <a:pt x="13054" y="91375"/>
                </a:lnTo>
                <a:cubicBezTo>
                  <a:pt x="5833" y="91375"/>
                  <a:pt x="0" y="97208"/>
                  <a:pt x="0" y="104428"/>
                </a:cubicBezTo>
                <a:cubicBezTo>
                  <a:pt x="0" y="111649"/>
                  <a:pt x="5833" y="117482"/>
                  <a:pt x="13054" y="117482"/>
                </a:cubicBezTo>
                <a:lnTo>
                  <a:pt x="164271" y="117482"/>
                </a:lnTo>
                <a:lnTo>
                  <a:pt x="121275" y="160477"/>
                </a:lnTo>
                <a:cubicBezTo>
                  <a:pt x="116176" y="165576"/>
                  <a:pt x="116176" y="173857"/>
                  <a:pt x="121275" y="178956"/>
                </a:cubicBezTo>
                <a:cubicBezTo>
                  <a:pt x="126375" y="184055"/>
                  <a:pt x="134655" y="184055"/>
                  <a:pt x="139754" y="178956"/>
                </a:cubicBezTo>
                <a:lnTo>
                  <a:pt x="205022" y="113688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808368" y="1200925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0201" y="1322758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41413" y="70707"/>
                </a:moveTo>
                <a:cubicBezTo>
                  <a:pt x="141413" y="86310"/>
                  <a:pt x="136348" y="100723"/>
                  <a:pt x="127816" y="112417"/>
                </a:cubicBezTo>
                <a:lnTo>
                  <a:pt x="170852" y="155487"/>
                </a:lnTo>
                <a:cubicBezTo>
                  <a:pt x="175101" y="159736"/>
                  <a:pt x="175101" y="166637"/>
                  <a:pt x="170852" y="170886"/>
                </a:cubicBezTo>
                <a:cubicBezTo>
                  <a:pt x="166603" y="175135"/>
                  <a:pt x="159702" y="175135"/>
                  <a:pt x="155453" y="170886"/>
                </a:cubicBezTo>
                <a:lnTo>
                  <a:pt x="112417" y="127816"/>
                </a:lnTo>
                <a:cubicBezTo>
                  <a:pt x="100723" y="136348"/>
                  <a:pt x="86310" y="141413"/>
                  <a:pt x="70707" y="141413"/>
                </a:cubicBezTo>
                <a:cubicBezTo>
                  <a:pt x="31648" y="141413"/>
                  <a:pt x="0" y="109765"/>
                  <a:pt x="0" y="70707"/>
                </a:cubicBezTo>
                <a:cubicBezTo>
                  <a:pt x="0" y="31648"/>
                  <a:pt x="31648" y="0"/>
                  <a:pt x="70707" y="0"/>
                </a:cubicBezTo>
                <a:cubicBezTo>
                  <a:pt x="109765" y="0"/>
                  <a:pt x="141413" y="31648"/>
                  <a:pt x="141413" y="70707"/>
                </a:cubicBezTo>
                <a:close/>
                <a:moveTo>
                  <a:pt x="70707" y="119657"/>
                </a:moveTo>
                <a:cubicBezTo>
                  <a:pt x="97723" y="119657"/>
                  <a:pt x="119657" y="97723"/>
                  <a:pt x="119657" y="70707"/>
                </a:cubicBezTo>
                <a:cubicBezTo>
                  <a:pt x="119657" y="43690"/>
                  <a:pt x="97723" y="21756"/>
                  <a:pt x="70707" y="21756"/>
                </a:cubicBezTo>
                <a:cubicBezTo>
                  <a:pt x="43690" y="21756"/>
                  <a:pt x="21756" y="43690"/>
                  <a:pt x="21756" y="70707"/>
                </a:cubicBezTo>
                <a:cubicBezTo>
                  <a:pt x="21756" y="97723"/>
                  <a:pt x="43690" y="119657"/>
                  <a:pt x="70707" y="1196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95700" y="1183520"/>
            <a:ext cx="105298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审计实施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5700" y="1427186"/>
            <a:ext cx="104428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多维度代码分析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91137" y="1305353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205022" y="113647"/>
                </a:moveTo>
                <a:cubicBezTo>
                  <a:pt x="210121" y="108548"/>
                  <a:pt x="210121" y="100267"/>
                  <a:pt x="205022" y="95168"/>
                </a:cubicBezTo>
                <a:lnTo>
                  <a:pt x="139754" y="29901"/>
                </a:lnTo>
                <a:cubicBezTo>
                  <a:pt x="134655" y="24802"/>
                  <a:pt x="126375" y="24802"/>
                  <a:pt x="121275" y="29901"/>
                </a:cubicBezTo>
                <a:cubicBezTo>
                  <a:pt x="116176" y="35000"/>
                  <a:pt x="116176" y="43281"/>
                  <a:pt x="121275" y="48380"/>
                </a:cubicBezTo>
                <a:lnTo>
                  <a:pt x="164271" y="91375"/>
                </a:lnTo>
                <a:lnTo>
                  <a:pt x="13054" y="91375"/>
                </a:lnTo>
                <a:cubicBezTo>
                  <a:pt x="5833" y="91375"/>
                  <a:pt x="0" y="97208"/>
                  <a:pt x="0" y="104428"/>
                </a:cubicBezTo>
                <a:cubicBezTo>
                  <a:pt x="0" y="111649"/>
                  <a:pt x="5833" y="117482"/>
                  <a:pt x="13054" y="117482"/>
                </a:cubicBezTo>
                <a:lnTo>
                  <a:pt x="164271" y="117482"/>
                </a:lnTo>
                <a:lnTo>
                  <a:pt x="121275" y="160477"/>
                </a:lnTo>
                <a:cubicBezTo>
                  <a:pt x="116176" y="165576"/>
                  <a:pt x="116176" y="173857"/>
                  <a:pt x="121275" y="178956"/>
                </a:cubicBezTo>
                <a:cubicBezTo>
                  <a:pt x="126375" y="184055"/>
                  <a:pt x="134655" y="184055"/>
                  <a:pt x="139754" y="178956"/>
                </a:cubicBezTo>
                <a:lnTo>
                  <a:pt x="205022" y="113688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18" name="Shape 16"/>
          <p:cNvSpPr/>
          <p:nvPr/>
        </p:nvSpPr>
        <p:spPr>
          <a:xfrm>
            <a:off x="6920657" y="1200925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9" name="Shape 17"/>
          <p:cNvSpPr/>
          <p:nvPr/>
        </p:nvSpPr>
        <p:spPr>
          <a:xfrm>
            <a:off x="7064246" y="1322758"/>
            <a:ext cx="130535" cy="174047"/>
          </a:xfrm>
          <a:custGeom>
            <a:avLst/>
            <a:gdLst/>
            <a:ahLst/>
            <a:cxnLst/>
            <a:rect l="l" t="t" r="r" b="b"/>
            <a:pathLst>
              <a:path w="130535" h="174047">
                <a:moveTo>
                  <a:pt x="0" y="21756"/>
                </a:moveTo>
                <a:cubicBezTo>
                  <a:pt x="0" y="9756"/>
                  <a:pt x="9756" y="0"/>
                  <a:pt x="21756" y="0"/>
                </a:cubicBezTo>
                <a:lnTo>
                  <a:pt x="72576" y="0"/>
                </a:lnTo>
                <a:cubicBezTo>
                  <a:pt x="78355" y="0"/>
                  <a:pt x="83896" y="2278"/>
                  <a:pt x="87975" y="6357"/>
                </a:cubicBezTo>
                <a:lnTo>
                  <a:pt x="124179" y="42594"/>
                </a:lnTo>
                <a:cubicBezTo>
                  <a:pt x="128258" y="46673"/>
                  <a:pt x="130535" y="52214"/>
                  <a:pt x="130535" y="57993"/>
                </a:cubicBezTo>
                <a:lnTo>
                  <a:pt x="130535" y="152291"/>
                </a:lnTo>
                <a:cubicBezTo>
                  <a:pt x="130535" y="164291"/>
                  <a:pt x="120779" y="174047"/>
                  <a:pt x="108779" y="174047"/>
                </a:cubicBezTo>
                <a:lnTo>
                  <a:pt x="21756" y="174047"/>
                </a:lnTo>
                <a:cubicBezTo>
                  <a:pt x="9756" y="174047"/>
                  <a:pt x="0" y="164291"/>
                  <a:pt x="0" y="152291"/>
                </a:cubicBezTo>
                <a:lnTo>
                  <a:pt x="0" y="21756"/>
                </a:lnTo>
                <a:close/>
                <a:moveTo>
                  <a:pt x="70707" y="19886"/>
                </a:moveTo>
                <a:lnTo>
                  <a:pt x="70707" y="51670"/>
                </a:lnTo>
                <a:cubicBezTo>
                  <a:pt x="70707" y="56191"/>
                  <a:pt x="74344" y="59829"/>
                  <a:pt x="78865" y="59829"/>
                </a:cubicBezTo>
                <a:lnTo>
                  <a:pt x="110649" y="59829"/>
                </a:lnTo>
                <a:lnTo>
                  <a:pt x="70707" y="19886"/>
                </a:lnTo>
                <a:close/>
                <a:moveTo>
                  <a:pt x="40792" y="87024"/>
                </a:moveTo>
                <a:cubicBezTo>
                  <a:pt x="36271" y="87024"/>
                  <a:pt x="32634" y="90661"/>
                  <a:pt x="32634" y="95182"/>
                </a:cubicBezTo>
                <a:cubicBezTo>
                  <a:pt x="32634" y="99703"/>
                  <a:pt x="36271" y="103340"/>
                  <a:pt x="40792" y="103340"/>
                </a:cubicBezTo>
                <a:lnTo>
                  <a:pt x="89743" y="103340"/>
                </a:lnTo>
                <a:cubicBezTo>
                  <a:pt x="94264" y="103340"/>
                  <a:pt x="97901" y="99703"/>
                  <a:pt x="97901" y="95182"/>
                </a:cubicBezTo>
                <a:cubicBezTo>
                  <a:pt x="97901" y="90661"/>
                  <a:pt x="94264" y="87024"/>
                  <a:pt x="89743" y="87024"/>
                </a:cubicBezTo>
                <a:lnTo>
                  <a:pt x="40792" y="87024"/>
                </a:lnTo>
                <a:close/>
                <a:moveTo>
                  <a:pt x="40792" y="119657"/>
                </a:moveTo>
                <a:cubicBezTo>
                  <a:pt x="36271" y="119657"/>
                  <a:pt x="32634" y="123295"/>
                  <a:pt x="32634" y="127816"/>
                </a:cubicBezTo>
                <a:cubicBezTo>
                  <a:pt x="32634" y="132337"/>
                  <a:pt x="36271" y="135974"/>
                  <a:pt x="40792" y="135974"/>
                </a:cubicBezTo>
                <a:lnTo>
                  <a:pt x="89743" y="135974"/>
                </a:lnTo>
                <a:cubicBezTo>
                  <a:pt x="94264" y="135974"/>
                  <a:pt x="97901" y="132337"/>
                  <a:pt x="97901" y="127816"/>
                </a:cubicBezTo>
                <a:cubicBezTo>
                  <a:pt x="97901" y="123295"/>
                  <a:pt x="94264" y="119657"/>
                  <a:pt x="89743" y="119657"/>
                </a:cubicBezTo>
                <a:lnTo>
                  <a:pt x="40792" y="1196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07989" y="1183520"/>
            <a:ext cx="133146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审计报告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7989" y="1427186"/>
            <a:ext cx="132275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缺陷汇总与风险评估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81793" y="1305353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205022" y="113647"/>
                </a:moveTo>
                <a:cubicBezTo>
                  <a:pt x="210121" y="108548"/>
                  <a:pt x="210121" y="100267"/>
                  <a:pt x="205022" y="95168"/>
                </a:cubicBezTo>
                <a:lnTo>
                  <a:pt x="139754" y="29901"/>
                </a:lnTo>
                <a:cubicBezTo>
                  <a:pt x="134655" y="24802"/>
                  <a:pt x="126375" y="24802"/>
                  <a:pt x="121275" y="29901"/>
                </a:cubicBezTo>
                <a:cubicBezTo>
                  <a:pt x="116176" y="35000"/>
                  <a:pt x="116176" y="43281"/>
                  <a:pt x="121275" y="48380"/>
                </a:cubicBezTo>
                <a:lnTo>
                  <a:pt x="164271" y="91375"/>
                </a:lnTo>
                <a:lnTo>
                  <a:pt x="13054" y="91375"/>
                </a:lnTo>
                <a:cubicBezTo>
                  <a:pt x="5833" y="91375"/>
                  <a:pt x="0" y="97208"/>
                  <a:pt x="0" y="104428"/>
                </a:cubicBezTo>
                <a:cubicBezTo>
                  <a:pt x="0" y="111649"/>
                  <a:pt x="5833" y="117482"/>
                  <a:pt x="13054" y="117482"/>
                </a:cubicBezTo>
                <a:lnTo>
                  <a:pt x="164271" y="117482"/>
                </a:lnTo>
                <a:lnTo>
                  <a:pt x="121275" y="160477"/>
                </a:lnTo>
                <a:cubicBezTo>
                  <a:pt x="116176" y="165576"/>
                  <a:pt x="116176" y="173857"/>
                  <a:pt x="121275" y="178956"/>
                </a:cubicBezTo>
                <a:cubicBezTo>
                  <a:pt x="126375" y="184055"/>
                  <a:pt x="134655" y="184055"/>
                  <a:pt x="139754" y="178956"/>
                </a:cubicBezTo>
                <a:lnTo>
                  <a:pt x="205022" y="113688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11313" y="1200925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69620" y="0"/>
                </a:moveTo>
                <a:lnTo>
                  <a:pt x="348093" y="0"/>
                </a:lnTo>
                <a:cubicBezTo>
                  <a:pt x="386517" y="0"/>
                  <a:pt x="417713" y="31196"/>
                  <a:pt x="417713" y="69620"/>
                </a:cubicBezTo>
                <a:lnTo>
                  <a:pt x="417713" y="348093"/>
                </a:lnTo>
                <a:cubicBezTo>
                  <a:pt x="417713" y="386543"/>
                  <a:pt x="386543" y="417713"/>
                  <a:pt x="348093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33146" y="1322758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63203" y="65268"/>
                </a:moveTo>
                <a:lnTo>
                  <a:pt x="165889" y="65268"/>
                </a:lnTo>
                <a:cubicBezTo>
                  <a:pt x="170410" y="65268"/>
                  <a:pt x="174047" y="61630"/>
                  <a:pt x="174047" y="57109"/>
                </a:cubicBezTo>
                <a:lnTo>
                  <a:pt x="174047" y="8158"/>
                </a:lnTo>
                <a:cubicBezTo>
                  <a:pt x="174047" y="4861"/>
                  <a:pt x="172075" y="1870"/>
                  <a:pt x="169016" y="612"/>
                </a:cubicBezTo>
                <a:cubicBezTo>
                  <a:pt x="165957" y="-646"/>
                  <a:pt x="162455" y="68"/>
                  <a:pt x="160110" y="2380"/>
                </a:cubicBezTo>
                <a:lnTo>
                  <a:pt x="142535" y="19988"/>
                </a:lnTo>
                <a:cubicBezTo>
                  <a:pt x="127476" y="7513"/>
                  <a:pt x="108100" y="0"/>
                  <a:pt x="87024" y="0"/>
                </a:cubicBezTo>
                <a:cubicBezTo>
                  <a:pt x="43172" y="0"/>
                  <a:pt x="6901" y="32430"/>
                  <a:pt x="884" y="74616"/>
                </a:cubicBezTo>
                <a:cubicBezTo>
                  <a:pt x="34" y="80565"/>
                  <a:pt x="4147" y="86072"/>
                  <a:pt x="10096" y="86922"/>
                </a:cubicBezTo>
                <a:cubicBezTo>
                  <a:pt x="16045" y="87771"/>
                  <a:pt x="21552" y="83624"/>
                  <a:pt x="22402" y="77709"/>
                </a:cubicBezTo>
                <a:cubicBezTo>
                  <a:pt x="26923" y="46061"/>
                  <a:pt x="54152" y="21756"/>
                  <a:pt x="87024" y="21756"/>
                </a:cubicBezTo>
                <a:cubicBezTo>
                  <a:pt x="102117" y="21756"/>
                  <a:pt x="115986" y="26855"/>
                  <a:pt x="127034" y="35455"/>
                </a:cubicBezTo>
                <a:lnTo>
                  <a:pt x="111159" y="51330"/>
                </a:lnTo>
                <a:cubicBezTo>
                  <a:pt x="108813" y="53676"/>
                  <a:pt x="108134" y="57177"/>
                  <a:pt x="109391" y="60237"/>
                </a:cubicBezTo>
                <a:cubicBezTo>
                  <a:pt x="110649" y="63296"/>
                  <a:pt x="113641" y="65268"/>
                  <a:pt x="116938" y="65268"/>
                </a:cubicBezTo>
                <a:lnTo>
                  <a:pt x="163203" y="65268"/>
                </a:lnTo>
                <a:close/>
                <a:moveTo>
                  <a:pt x="173197" y="99431"/>
                </a:moveTo>
                <a:cubicBezTo>
                  <a:pt x="174047" y="93482"/>
                  <a:pt x="169900" y="87975"/>
                  <a:pt x="163985" y="87126"/>
                </a:cubicBezTo>
                <a:cubicBezTo>
                  <a:pt x="158070" y="86276"/>
                  <a:pt x="152529" y="90423"/>
                  <a:pt x="151679" y="96338"/>
                </a:cubicBezTo>
                <a:cubicBezTo>
                  <a:pt x="147158" y="127952"/>
                  <a:pt x="119929" y="152257"/>
                  <a:pt x="87058" y="152257"/>
                </a:cubicBezTo>
                <a:cubicBezTo>
                  <a:pt x="71964" y="152257"/>
                  <a:pt x="58095" y="147158"/>
                  <a:pt x="47047" y="138558"/>
                </a:cubicBezTo>
                <a:lnTo>
                  <a:pt x="62888" y="122717"/>
                </a:lnTo>
                <a:cubicBezTo>
                  <a:pt x="65234" y="120371"/>
                  <a:pt x="65914" y="116870"/>
                  <a:pt x="64656" y="113810"/>
                </a:cubicBezTo>
                <a:cubicBezTo>
                  <a:pt x="63398" y="110751"/>
                  <a:pt x="60407" y="108779"/>
                  <a:pt x="57109" y="108779"/>
                </a:cubicBezTo>
                <a:lnTo>
                  <a:pt x="8158" y="108779"/>
                </a:lnTo>
                <a:cubicBezTo>
                  <a:pt x="3637" y="108779"/>
                  <a:pt x="0" y="112417"/>
                  <a:pt x="0" y="116938"/>
                </a:cubicBezTo>
                <a:lnTo>
                  <a:pt x="0" y="165889"/>
                </a:lnTo>
                <a:cubicBezTo>
                  <a:pt x="0" y="169186"/>
                  <a:pt x="1972" y="172177"/>
                  <a:pt x="5031" y="173435"/>
                </a:cubicBezTo>
                <a:cubicBezTo>
                  <a:pt x="8090" y="174693"/>
                  <a:pt x="11592" y="173979"/>
                  <a:pt x="13937" y="171668"/>
                </a:cubicBezTo>
                <a:lnTo>
                  <a:pt x="31546" y="154059"/>
                </a:lnTo>
                <a:cubicBezTo>
                  <a:pt x="46571" y="166535"/>
                  <a:pt x="65948" y="174047"/>
                  <a:pt x="87024" y="174047"/>
                </a:cubicBezTo>
                <a:cubicBezTo>
                  <a:pt x="130875" y="174047"/>
                  <a:pt x="167146" y="141617"/>
                  <a:pt x="173163" y="994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8645" y="1183520"/>
            <a:ext cx="105298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改进跟踪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98645" y="1427186"/>
            <a:ext cx="104428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整改验证与复测</a:t>
            </a:r>
            <a:endParaRPr lang="en-US" sz="1600" dirty="0"/>
          </a:p>
        </p:txBody>
      </p:sp>
      <p:sp>
        <p:nvSpPr>
          <p:cNvPr id="68" name="CustomNav1">
            <a:extLst>
              <a:ext uri="{FF2B5EF4-FFF2-40B4-BE49-F238E27FC236}">
                <a16:creationId xmlns:a16="http://schemas.microsoft.com/office/drawing/2014/main" id="{FA0474E1-41DC-7F7C-09F4-E6743D152625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CustomNav2">
            <a:extLst>
              <a:ext uri="{FF2B5EF4-FFF2-40B4-BE49-F238E27FC236}">
                <a16:creationId xmlns:a16="http://schemas.microsoft.com/office/drawing/2014/main" id="{B026A236-3175-A3DA-624C-3BB62E5D9B8E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CustomNav3">
            <a:extLst>
              <a:ext uri="{FF2B5EF4-FFF2-40B4-BE49-F238E27FC236}">
                <a16:creationId xmlns:a16="http://schemas.microsoft.com/office/drawing/2014/main" id="{4B53DA47-A906-DA1F-C795-B364D6F28601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CustomNav4">
            <a:extLst>
              <a:ext uri="{FF2B5EF4-FFF2-40B4-BE49-F238E27FC236}">
                <a16:creationId xmlns:a16="http://schemas.microsoft.com/office/drawing/2014/main" id="{4CB48B8A-BF47-9DA7-7EC8-38D932AD3363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2" name="CustomNav5">
            <a:extLst>
              <a:ext uri="{FF2B5EF4-FFF2-40B4-BE49-F238E27FC236}">
                <a16:creationId xmlns:a16="http://schemas.microsoft.com/office/drawing/2014/main" id="{F6773F56-C5B7-CF27-3063-F546585ACBA6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B4ED3E5F-0691-04CF-530A-92DF7FDDAEEB}"/>
              </a:ext>
            </a:extLst>
          </p:cNvPr>
          <p:cNvSpPr/>
          <p:nvPr/>
        </p:nvSpPr>
        <p:spPr>
          <a:xfrm>
            <a:off x="342900" y="1778000"/>
            <a:ext cx="2616200" cy="264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289D321-495A-3125-18B8-C58E01ED25E4}"/>
              </a:ext>
            </a:extLst>
          </p:cNvPr>
          <p:cNvSpPr/>
          <p:nvPr/>
        </p:nvSpPr>
        <p:spPr>
          <a:xfrm>
            <a:off x="342900" y="1778000"/>
            <a:ext cx="2616200" cy="5080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5BA8470-4E00-6A5F-D3D7-1AF64DCE93CE}"/>
              </a:ext>
            </a:extLst>
          </p:cNvPr>
          <p:cNvSpPr txBox="1"/>
          <p:nvPr/>
        </p:nvSpPr>
        <p:spPr>
          <a:xfrm>
            <a:off x="495300" y="1854200"/>
            <a:ext cx="2311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安全功能缺陷审计</a:t>
            </a:r>
            <a:endParaRPr lang="zh-Hans-HK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FD5B191-0EE7-BB4F-FC2D-C3343A0913E4}"/>
              </a:ext>
            </a:extLst>
          </p:cNvPr>
          <p:cNvSpPr txBox="1"/>
          <p:nvPr/>
        </p:nvSpPr>
        <p:spPr>
          <a:xfrm>
            <a:off x="495300" y="24130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身份鉴别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F014F65-408C-B33C-45A3-EEF3851B1453}"/>
              </a:ext>
            </a:extLst>
          </p:cNvPr>
          <p:cNvSpPr txBox="1"/>
          <p:nvPr/>
        </p:nvSpPr>
        <p:spPr>
          <a:xfrm>
            <a:off x="495300" y="27051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访问控制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2785E88-48E1-4CCF-86E8-C51CEB8D583E}"/>
              </a:ext>
            </a:extLst>
          </p:cNvPr>
          <p:cNvSpPr txBox="1"/>
          <p:nvPr/>
        </p:nvSpPr>
        <p:spPr>
          <a:xfrm>
            <a:off x="495300" y="29972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数据保护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DC83592-0A6B-1348-0290-5C3B43A79C9F}"/>
              </a:ext>
            </a:extLst>
          </p:cNvPr>
          <p:cNvSpPr txBox="1"/>
          <p:nvPr/>
        </p:nvSpPr>
        <p:spPr>
          <a:xfrm>
            <a:off x="495300" y="32893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日志审计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A559C8F1-053B-7B1D-3A2E-AB1E7B74E98B}"/>
              </a:ext>
            </a:extLst>
          </p:cNvPr>
          <p:cNvSpPr/>
          <p:nvPr/>
        </p:nvSpPr>
        <p:spPr>
          <a:xfrm>
            <a:off x="3238500" y="1778000"/>
            <a:ext cx="2616200" cy="264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EDC0E6E-99E5-1499-E794-6E10B0AF7B82}"/>
              </a:ext>
            </a:extLst>
          </p:cNvPr>
          <p:cNvSpPr/>
          <p:nvPr/>
        </p:nvSpPr>
        <p:spPr>
          <a:xfrm>
            <a:off x="3238500" y="1778000"/>
            <a:ext cx="2616200" cy="5080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C81A41E-FC45-8934-A566-270E2F84E553}"/>
              </a:ext>
            </a:extLst>
          </p:cNvPr>
          <p:cNvSpPr txBox="1"/>
          <p:nvPr/>
        </p:nvSpPr>
        <p:spPr>
          <a:xfrm>
            <a:off x="3390900" y="1854200"/>
            <a:ext cx="2311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代码实现安全审计</a:t>
            </a:r>
            <a:endParaRPr lang="zh-Hans-HK" altLang="en-US" sz="1400" b="1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CC45C3B-C1AC-6A41-E791-29F8E0B5F16D}"/>
              </a:ext>
            </a:extLst>
          </p:cNvPr>
          <p:cNvSpPr txBox="1"/>
          <p:nvPr/>
        </p:nvSpPr>
        <p:spPr>
          <a:xfrm>
            <a:off x="3390900" y="24130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输入校验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17D9B9A-25C6-B512-CFC1-AA46219B755B}"/>
              </a:ext>
            </a:extLst>
          </p:cNvPr>
          <p:cNvSpPr txBox="1"/>
          <p:nvPr/>
        </p:nvSpPr>
        <p:spPr>
          <a:xfrm>
            <a:off x="3390900" y="27051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异常处理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E8BDABA-4D5D-5547-74A3-C3955BC4EA4D}"/>
              </a:ext>
            </a:extLst>
          </p:cNvPr>
          <p:cNvSpPr txBox="1"/>
          <p:nvPr/>
        </p:nvSpPr>
        <p:spPr>
          <a:xfrm>
            <a:off x="3390900" y="29972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接口调用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C681BE0-303D-B261-6973-B6397EE918C3}"/>
              </a:ext>
            </a:extLst>
          </p:cNvPr>
          <p:cNvSpPr txBox="1"/>
          <p:nvPr/>
        </p:nvSpPr>
        <p:spPr>
          <a:xfrm>
            <a:off x="3390900" y="32893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安全编码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854CB109-8815-9D99-3A37-98F1EAA7F3E7}"/>
              </a:ext>
            </a:extLst>
          </p:cNvPr>
          <p:cNvSpPr/>
          <p:nvPr/>
        </p:nvSpPr>
        <p:spPr>
          <a:xfrm>
            <a:off x="6134100" y="1778000"/>
            <a:ext cx="2616200" cy="264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D8307-518E-2CFF-0D20-B7441ACCFBD4}"/>
              </a:ext>
            </a:extLst>
          </p:cNvPr>
          <p:cNvSpPr/>
          <p:nvPr/>
        </p:nvSpPr>
        <p:spPr>
          <a:xfrm>
            <a:off x="6134100" y="1778000"/>
            <a:ext cx="2616200" cy="5080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D81770F-1988-983D-50C4-2C09EF1084FD}"/>
              </a:ext>
            </a:extLst>
          </p:cNvPr>
          <p:cNvSpPr txBox="1"/>
          <p:nvPr/>
        </p:nvSpPr>
        <p:spPr>
          <a:xfrm>
            <a:off x="6286500" y="1854200"/>
            <a:ext cx="2311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</a:rPr>
              <a:t>资源使用安全审计</a:t>
            </a:r>
            <a:endParaRPr lang="zh-Hans-HK" altLang="en-US" sz="1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AC85F4C-758F-DAE9-E5D4-3A637EC80F3D}"/>
              </a:ext>
            </a:extLst>
          </p:cNvPr>
          <p:cNvSpPr txBox="1"/>
          <p:nvPr/>
        </p:nvSpPr>
        <p:spPr>
          <a:xfrm>
            <a:off x="6286500" y="24130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内存与对象使用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B386129-3987-B32D-1320-027096A1CD0B}"/>
              </a:ext>
            </a:extLst>
          </p:cNvPr>
          <p:cNvSpPr txBox="1"/>
          <p:nvPr/>
        </p:nvSpPr>
        <p:spPr>
          <a:xfrm>
            <a:off x="6286500" y="27051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文件与数据库访问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53FFBED-BD14-E6D5-C1FB-A34FB4EAC3F1}"/>
              </a:ext>
            </a:extLst>
          </p:cNvPr>
          <p:cNvSpPr txBox="1"/>
          <p:nvPr/>
        </p:nvSpPr>
        <p:spPr>
          <a:xfrm>
            <a:off x="6286500" y="29972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网络资源调用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3BF8CBC-C751-41E6-4944-F273F6D79A55}"/>
              </a:ext>
            </a:extLst>
          </p:cNvPr>
          <p:cNvSpPr txBox="1"/>
          <p:nvPr/>
        </p:nvSpPr>
        <p:spPr>
          <a:xfrm>
            <a:off x="6286500" y="3289300"/>
            <a:ext cx="231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权限边界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CE05DA3A-35CA-E7F8-734C-F2B854A7EC95}"/>
              </a:ext>
            </a:extLst>
          </p:cNvPr>
          <p:cNvSpPr/>
          <p:nvPr/>
        </p:nvSpPr>
        <p:spPr>
          <a:xfrm>
            <a:off x="9029700" y="1778000"/>
            <a:ext cx="2806700" cy="2641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1D7FDCE-AFDD-242C-39C0-2A0B62464BBE}"/>
              </a:ext>
            </a:extLst>
          </p:cNvPr>
          <p:cNvSpPr/>
          <p:nvPr/>
        </p:nvSpPr>
        <p:spPr>
          <a:xfrm>
            <a:off x="9029700" y="1778000"/>
            <a:ext cx="2806700" cy="5080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2C6B5AA-38B1-EB1F-09B4-5CD4B733A3E5}"/>
              </a:ext>
            </a:extLst>
          </p:cNvPr>
          <p:cNvSpPr txBox="1"/>
          <p:nvPr/>
        </p:nvSpPr>
        <p:spPr>
          <a:xfrm>
            <a:off x="9182100" y="1854200"/>
            <a:ext cx="25019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 dirty="0">
                <a:solidFill>
                  <a:srgbClr val="FFFFFF"/>
                </a:solidFill>
                <a:latin typeface="Microsoft YaHei" panose="020B0503020204020204" pitchFamily="34" charset="-122"/>
              </a:rPr>
              <a:t>环境使用安全审计</a:t>
            </a:r>
            <a:endParaRPr lang="zh-Hans-HK" altLang="en-US" sz="1400" b="1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B222338-8C0A-D4C5-C88A-DAF4FB22FC69}"/>
              </a:ext>
            </a:extLst>
          </p:cNvPr>
          <p:cNvSpPr txBox="1"/>
          <p:nvPr/>
        </p:nvSpPr>
        <p:spPr>
          <a:xfrm>
            <a:off x="9182100" y="2413000"/>
            <a:ext cx="25019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配置与口令管理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BF96A0A-9931-A23C-9192-935272C5B611}"/>
              </a:ext>
            </a:extLst>
          </p:cNvPr>
          <p:cNvSpPr txBox="1"/>
          <p:nvPr/>
        </p:nvSpPr>
        <p:spPr>
          <a:xfrm>
            <a:off x="9182100" y="2705100"/>
            <a:ext cx="25019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调试信息暴露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E8131DC2-E402-4C40-289E-3349C4E4FE82}"/>
              </a:ext>
            </a:extLst>
          </p:cNvPr>
          <p:cNvSpPr txBox="1"/>
          <p:nvPr/>
        </p:nvSpPr>
        <p:spPr>
          <a:xfrm>
            <a:off x="9182100" y="2997200"/>
            <a:ext cx="25019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第三方组件依赖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49E1F46-1060-A76B-B85C-2CC2C740B3AF}"/>
              </a:ext>
            </a:extLst>
          </p:cNvPr>
          <p:cNvSpPr txBox="1"/>
          <p:nvPr/>
        </p:nvSpPr>
        <p:spPr>
          <a:xfrm>
            <a:off x="9182100" y="3289300"/>
            <a:ext cx="25019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部署暴露面检查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0D5A9BA4-900E-EE30-1756-95A3327D6D50}"/>
              </a:ext>
            </a:extLst>
          </p:cNvPr>
          <p:cNvSpPr/>
          <p:nvPr/>
        </p:nvSpPr>
        <p:spPr>
          <a:xfrm>
            <a:off x="342900" y="4521200"/>
            <a:ext cx="5676900" cy="1449677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98F297AC-9A5F-C787-170C-C5FC1335DF10}"/>
              </a:ext>
            </a:extLst>
          </p:cNvPr>
          <p:cNvSpPr/>
          <p:nvPr/>
        </p:nvSpPr>
        <p:spPr>
          <a:xfrm>
            <a:off x="6172200" y="4521200"/>
            <a:ext cx="5664200" cy="1449677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9AB7C04-5F16-0BFC-948F-F99A42EAEB9F}"/>
              </a:ext>
            </a:extLst>
          </p:cNvPr>
          <p:cNvSpPr/>
          <p:nvPr/>
        </p:nvSpPr>
        <p:spPr>
          <a:xfrm>
            <a:off x="520700" y="4775200"/>
            <a:ext cx="50800" cy="228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3969D3F-29F7-6E15-92A8-71C61C1BD65B}"/>
              </a:ext>
            </a:extLst>
          </p:cNvPr>
          <p:cNvSpPr txBox="1"/>
          <p:nvPr/>
        </p:nvSpPr>
        <p:spPr>
          <a:xfrm>
            <a:off x="647700" y="46990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 dirty="0">
                <a:solidFill>
                  <a:srgbClr val="0E6EB8"/>
                </a:solidFill>
                <a:latin typeface="Microsoft YaHei" panose="020B0503020204020204" pitchFamily="34" charset="-122"/>
              </a:rPr>
              <a:t>标准与参考</a:t>
            </a:r>
            <a:endParaRPr lang="zh-Hans-HK" altLang="en-US" sz="15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D4E0260A-B9E8-376D-2449-8E0C32B38437}"/>
              </a:ext>
            </a:extLst>
          </p:cNvPr>
          <p:cNvSpPr txBox="1"/>
          <p:nvPr/>
        </p:nvSpPr>
        <p:spPr>
          <a:xfrm>
            <a:off x="647700" y="5092700"/>
            <a:ext cx="5105400" cy="5170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20">
                <a:solidFill>
                  <a:srgbClr val="505050"/>
                </a:solidFill>
                <a:latin typeface="Microsoft YaHei" panose="020B0503020204020204" pitchFamily="34" charset="-122"/>
              </a:rPr>
              <a:t>- GB/T 39412-2020 </a:t>
            </a:r>
            <a:r>
              <a:rPr lang="zh-CN" altLang="en-US" sz="1120">
                <a:solidFill>
                  <a:srgbClr val="505050"/>
                </a:solidFill>
                <a:latin typeface="Microsoft YaHei" panose="020B0503020204020204" pitchFamily="34" charset="-122"/>
              </a:rPr>
              <a:t>信息安全技术 代码安全审计规范</a:t>
            </a:r>
          </a:p>
          <a:p>
            <a:r>
              <a:rPr lang="en-US" altLang="zh-CN" sz="1120">
                <a:solidFill>
                  <a:srgbClr val="505050"/>
                </a:solidFill>
                <a:latin typeface="Microsoft YaHei" panose="020B0503020204020204" pitchFamily="34" charset="-122"/>
              </a:rPr>
              <a:t>- CWE </a:t>
            </a:r>
            <a:r>
              <a:rPr lang="zh-CN" altLang="en-US" sz="1120">
                <a:solidFill>
                  <a:srgbClr val="505050"/>
                </a:solidFill>
                <a:latin typeface="Microsoft YaHei" panose="020B0503020204020204" pitchFamily="34" charset="-122"/>
              </a:rPr>
              <a:t>通用缺陷分类</a:t>
            </a:r>
          </a:p>
          <a:p>
            <a:r>
              <a:rPr lang="en-US" altLang="zh-CN" sz="112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20">
                <a:solidFill>
                  <a:srgbClr val="505050"/>
                </a:solidFill>
                <a:latin typeface="Microsoft YaHei" panose="020B0503020204020204" pitchFamily="34" charset="-122"/>
              </a:rPr>
              <a:t>项目编码规范与安全开发要求</a:t>
            </a:r>
            <a:endParaRPr lang="zh-Hans-HK" altLang="en-US" sz="112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71359D4-DD99-1DE2-B9A2-C25DCDC4EDBD}"/>
              </a:ext>
            </a:extLst>
          </p:cNvPr>
          <p:cNvSpPr/>
          <p:nvPr/>
        </p:nvSpPr>
        <p:spPr>
          <a:xfrm>
            <a:off x="6350000" y="4775200"/>
            <a:ext cx="50800" cy="228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4F480BE3-AC08-AF45-376D-85DBA2863909}"/>
              </a:ext>
            </a:extLst>
          </p:cNvPr>
          <p:cNvSpPr txBox="1"/>
          <p:nvPr/>
        </p:nvSpPr>
        <p:spPr>
          <a:xfrm>
            <a:off x="6477000" y="46990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 dirty="0">
                <a:solidFill>
                  <a:srgbClr val="0E6EB8"/>
                </a:solidFill>
                <a:latin typeface="Microsoft YaHei" panose="020B0503020204020204" pitchFamily="34" charset="-122"/>
              </a:rPr>
              <a:t>交付输出</a:t>
            </a:r>
            <a:endParaRPr lang="zh-Hans-HK" altLang="en-US" sz="15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5E1D648-EF58-33BF-8909-C3172C49668C}"/>
              </a:ext>
            </a:extLst>
          </p:cNvPr>
          <p:cNvSpPr txBox="1"/>
          <p:nvPr/>
        </p:nvSpPr>
        <p:spPr>
          <a:xfrm>
            <a:off x="6477000" y="5092700"/>
            <a:ext cx="5105400" cy="5170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源代码审计报告</a:t>
            </a:r>
          </a:p>
          <a:p>
            <a:r>
              <a:rPr lang="en-US" altLang="zh-CN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问题清单与整改建议</a:t>
            </a:r>
          </a:p>
          <a:p>
            <a:r>
              <a:rPr lang="en-US" altLang="zh-CN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120" dirty="0">
                <a:solidFill>
                  <a:srgbClr val="505050"/>
                </a:solidFill>
                <a:latin typeface="Microsoft YaHei" panose="020B0503020204020204" pitchFamily="34" charset="-122"/>
              </a:rPr>
              <a:t>复核记录与支撑材料</a:t>
            </a:r>
            <a:endParaRPr lang="zh-Hans-HK" altLang="en-US" sz="1120" dirty="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Shape 107">
            <a:extLst>
              <a:ext uri="{FF2B5EF4-FFF2-40B4-BE49-F238E27FC236}">
                <a16:creationId xmlns:a16="http://schemas.microsoft.com/office/drawing/2014/main" id="{920E371E-0449-64F6-879C-40492442857D}"/>
              </a:ext>
            </a:extLst>
          </p:cNvPr>
          <p:cNvSpPr/>
          <p:nvPr/>
        </p:nvSpPr>
        <p:spPr>
          <a:xfrm>
            <a:off x="381000" y="6057900"/>
            <a:ext cx="11430000" cy="723900"/>
          </a:xfrm>
          <a:custGeom>
            <a:avLst/>
            <a:gdLst/>
            <a:ahLst/>
            <a:cxnLst/>
            <a:rect l="l" t="t" r="r" b="b"/>
            <a:pathLst>
              <a:path w="11430000" h="7239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609603"/>
                </a:lnTo>
                <a:cubicBezTo>
                  <a:pt x="11430000" y="672728"/>
                  <a:pt x="11378828" y="723900"/>
                  <a:pt x="113157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100000">
                <a:srgbClr val="4A90D9"/>
              </a:gs>
            </a:gsLst>
            <a:lin ang="0" scaled="1"/>
          </a:gradFill>
          <a:ln/>
        </p:spPr>
      </p:sp>
      <p:sp>
        <p:nvSpPr>
          <p:cNvPr id="28" name="Shape 108">
            <a:extLst>
              <a:ext uri="{FF2B5EF4-FFF2-40B4-BE49-F238E27FC236}">
                <a16:creationId xmlns:a16="http://schemas.microsoft.com/office/drawing/2014/main" id="{E57FCD62-136E-6605-D232-F7EFA34EAC50}"/>
              </a:ext>
            </a:extLst>
          </p:cNvPr>
          <p:cNvSpPr/>
          <p:nvPr/>
        </p:nvSpPr>
        <p:spPr>
          <a:xfrm>
            <a:off x="495300" y="6191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Shape 109">
            <a:extLst>
              <a:ext uri="{FF2B5EF4-FFF2-40B4-BE49-F238E27FC236}">
                <a16:creationId xmlns:a16="http://schemas.microsoft.com/office/drawing/2014/main" id="{18F6B369-74B4-218C-5A20-7502DB294526}"/>
              </a:ext>
            </a:extLst>
          </p:cNvPr>
          <p:cNvSpPr/>
          <p:nvPr/>
        </p:nvSpPr>
        <p:spPr>
          <a:xfrm>
            <a:off x="595313" y="63055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110">
            <a:extLst>
              <a:ext uri="{FF2B5EF4-FFF2-40B4-BE49-F238E27FC236}">
                <a16:creationId xmlns:a16="http://schemas.microsoft.com/office/drawing/2014/main" id="{742C6DF9-4A50-E31B-3E66-43856E94F5B2}"/>
              </a:ext>
            </a:extLst>
          </p:cNvPr>
          <p:cNvSpPr/>
          <p:nvPr/>
        </p:nvSpPr>
        <p:spPr>
          <a:xfrm>
            <a:off x="1066800" y="61722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专业工具</a:t>
            </a:r>
            <a:endParaRPr lang="en-US" sz="1600" dirty="0"/>
          </a:p>
        </p:txBody>
      </p:sp>
      <p:sp>
        <p:nvSpPr>
          <p:cNvPr id="31" name="Text 111">
            <a:extLst>
              <a:ext uri="{FF2B5EF4-FFF2-40B4-BE49-F238E27FC236}">
                <a16:creationId xmlns:a16="http://schemas.microsoft.com/office/drawing/2014/main" id="{452E462F-584C-C5AF-68BC-7F1DF0401EED}"/>
              </a:ext>
            </a:extLst>
          </p:cNvPr>
          <p:cNvSpPr/>
          <p:nvPr/>
        </p:nvSpPr>
        <p:spPr>
          <a:xfrm>
            <a:off x="1066800" y="6438900"/>
            <a:ext cx="330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绿盟安全开发与分析系统</a:t>
            </a:r>
            <a:r>
              <a:rPr lang="en-US" altLang="zh-CN" sz="120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SDA</a:t>
            </a:r>
            <a:endParaRPr lang="en-US" sz="1600" dirty="0"/>
          </a:p>
        </p:txBody>
      </p:sp>
      <p:sp>
        <p:nvSpPr>
          <p:cNvPr id="32" name="Shape 112">
            <a:extLst>
              <a:ext uri="{FF2B5EF4-FFF2-40B4-BE49-F238E27FC236}">
                <a16:creationId xmlns:a16="http://schemas.microsoft.com/office/drawing/2014/main" id="{00E4047C-8855-1531-F0A7-02FF33D03C01}"/>
              </a:ext>
            </a:extLst>
          </p:cNvPr>
          <p:cNvSpPr/>
          <p:nvPr/>
        </p:nvSpPr>
        <p:spPr>
          <a:xfrm>
            <a:off x="7495699" y="6343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113">
            <a:extLst>
              <a:ext uri="{FF2B5EF4-FFF2-40B4-BE49-F238E27FC236}">
                <a16:creationId xmlns:a16="http://schemas.microsoft.com/office/drawing/2014/main" id="{AFF571F1-F033-E8C9-46F1-78C6008764A1}"/>
              </a:ext>
            </a:extLst>
          </p:cNvPr>
          <p:cNvSpPr/>
          <p:nvPr/>
        </p:nvSpPr>
        <p:spPr>
          <a:xfrm>
            <a:off x="7743349" y="63055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静态分析支撑</a:t>
            </a:r>
            <a:endParaRPr lang="en-US" sz="1600" dirty="0"/>
          </a:p>
        </p:txBody>
      </p:sp>
      <p:sp>
        <p:nvSpPr>
          <p:cNvPr id="34" name="Text 114">
            <a:extLst>
              <a:ext uri="{FF2B5EF4-FFF2-40B4-BE49-F238E27FC236}">
                <a16:creationId xmlns:a16="http://schemas.microsoft.com/office/drawing/2014/main" id="{343919A9-747F-8F77-21C1-334DDCABF601}"/>
              </a:ext>
            </a:extLst>
          </p:cNvPr>
          <p:cNvSpPr/>
          <p:nvPr/>
        </p:nvSpPr>
        <p:spPr>
          <a:xfrm>
            <a:off x="8810149" y="6305550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35" name="Shape 115">
            <a:extLst>
              <a:ext uri="{FF2B5EF4-FFF2-40B4-BE49-F238E27FC236}">
                <a16:creationId xmlns:a16="http://schemas.microsoft.com/office/drawing/2014/main" id="{19D3573C-E476-64BB-EDA8-AEE6658F0E22}"/>
              </a:ext>
            </a:extLst>
          </p:cNvPr>
          <p:cNvSpPr/>
          <p:nvPr/>
        </p:nvSpPr>
        <p:spPr>
          <a:xfrm>
            <a:off x="9015175" y="6343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116">
            <a:extLst>
              <a:ext uri="{FF2B5EF4-FFF2-40B4-BE49-F238E27FC236}">
                <a16:creationId xmlns:a16="http://schemas.microsoft.com/office/drawing/2014/main" id="{C5EAAF5D-709F-E560-CF5E-55B2A7D9570C}"/>
              </a:ext>
            </a:extLst>
          </p:cNvPr>
          <p:cNvSpPr/>
          <p:nvPr/>
        </p:nvSpPr>
        <p:spPr>
          <a:xfrm>
            <a:off x="9262825" y="63055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缺陷定位高效</a:t>
            </a:r>
            <a:endParaRPr lang="en-US" sz="1600" dirty="0"/>
          </a:p>
        </p:txBody>
      </p:sp>
      <p:sp>
        <p:nvSpPr>
          <p:cNvPr id="37" name="Text 117">
            <a:extLst>
              <a:ext uri="{FF2B5EF4-FFF2-40B4-BE49-F238E27FC236}">
                <a16:creationId xmlns:a16="http://schemas.microsoft.com/office/drawing/2014/main" id="{47F91984-15A8-E4C9-07A8-AB4A359385C3}"/>
              </a:ext>
            </a:extLst>
          </p:cNvPr>
          <p:cNvSpPr/>
          <p:nvPr/>
        </p:nvSpPr>
        <p:spPr>
          <a:xfrm>
            <a:off x="10329624" y="6305550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</a:t>
            </a:r>
            <a:endParaRPr lang="en-US" sz="1600" dirty="0"/>
          </a:p>
        </p:txBody>
      </p:sp>
      <p:sp>
        <p:nvSpPr>
          <p:cNvPr id="38" name="Shape 118">
            <a:extLst>
              <a:ext uri="{FF2B5EF4-FFF2-40B4-BE49-F238E27FC236}">
                <a16:creationId xmlns:a16="http://schemas.microsoft.com/office/drawing/2014/main" id="{614BD059-B10E-2C33-8FB4-A87775E9E05D}"/>
              </a:ext>
            </a:extLst>
          </p:cNvPr>
          <p:cNvSpPr/>
          <p:nvPr/>
        </p:nvSpPr>
        <p:spPr>
          <a:xfrm>
            <a:off x="10534650" y="6343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119">
            <a:extLst>
              <a:ext uri="{FF2B5EF4-FFF2-40B4-BE49-F238E27FC236}">
                <a16:creationId xmlns:a16="http://schemas.microsoft.com/office/drawing/2014/main" id="{5BFB3C72-0D99-7C39-BC4E-D0BE699CD685}"/>
              </a:ext>
            </a:extLst>
          </p:cNvPr>
          <p:cNvSpPr/>
          <p:nvPr/>
        </p:nvSpPr>
        <p:spPr>
          <a:xfrm>
            <a:off x="10782300" y="63055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结果可追溯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4873099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677" y="366677"/>
            <a:ext cx="73335" cy="440012"/>
          </a:xfrm>
          <a:custGeom>
            <a:avLst/>
            <a:gdLst/>
            <a:ahLst/>
            <a:cxnLst/>
            <a:rect l="l" t="t" r="r" b="b"/>
            <a:pathLst>
              <a:path w="73335" h="440012">
                <a:moveTo>
                  <a:pt x="36668" y="0"/>
                </a:moveTo>
                <a:lnTo>
                  <a:pt x="36668" y="0"/>
                </a:lnTo>
                <a:cubicBezTo>
                  <a:pt x="56905" y="0"/>
                  <a:pt x="73335" y="16430"/>
                  <a:pt x="73335" y="36668"/>
                </a:cubicBezTo>
                <a:lnTo>
                  <a:pt x="73335" y="403344"/>
                </a:lnTo>
                <a:cubicBezTo>
                  <a:pt x="73335" y="423582"/>
                  <a:pt x="56905" y="440012"/>
                  <a:pt x="36668" y="440012"/>
                </a:cubicBezTo>
                <a:lnTo>
                  <a:pt x="36668" y="440012"/>
                </a:lnTo>
                <a:cubicBezTo>
                  <a:pt x="16430" y="440012"/>
                  <a:pt x="0" y="423582"/>
                  <a:pt x="0" y="403344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计算机场地测评服务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6100" y="934166"/>
            <a:ext cx="1173365" cy="36668"/>
          </a:xfrm>
          <a:custGeom>
            <a:avLst/>
            <a:gdLst/>
            <a:ahLst/>
            <a:cxnLst/>
            <a:rect l="l" t="t" r="r" b="b"/>
            <a:pathLst>
              <a:path w="1173365" h="36668">
                <a:moveTo>
                  <a:pt x="18334" y="0"/>
                </a:moveTo>
                <a:lnTo>
                  <a:pt x="1155032" y="0"/>
                </a:lnTo>
                <a:cubicBezTo>
                  <a:pt x="1165157" y="0"/>
                  <a:pt x="1173365" y="8208"/>
                  <a:pt x="1173365" y="18334"/>
                </a:cubicBezTo>
                <a:lnTo>
                  <a:pt x="1173365" y="18334"/>
                </a:lnTo>
                <a:cubicBezTo>
                  <a:pt x="1173365" y="28459"/>
                  <a:pt x="1165157" y="36668"/>
                  <a:pt x="1155032" y="36668"/>
                </a:cubicBezTo>
                <a:lnTo>
                  <a:pt x="18334" y="36668"/>
                </a:lnTo>
                <a:cubicBezTo>
                  <a:pt x="8215" y="36668"/>
                  <a:pt x="0" y="28453"/>
                  <a:pt x="0" y="18334"/>
                </a:cubicBezTo>
                <a:lnTo>
                  <a:pt x="0" y="18334"/>
                </a:lnTo>
                <a:cubicBezTo>
                  <a:pt x="0" y="8215"/>
                  <a:pt x="8215" y="0"/>
                  <a:pt x="18334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1897552" y="880142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8334" y="9167"/>
                </a:moveTo>
                <a:cubicBezTo>
                  <a:pt x="8222" y="9167"/>
                  <a:pt x="0" y="17388"/>
                  <a:pt x="0" y="27501"/>
                </a:cubicBezTo>
                <a:lnTo>
                  <a:pt x="0" y="45835"/>
                </a:lnTo>
                <a:cubicBezTo>
                  <a:pt x="0" y="55947"/>
                  <a:pt x="8222" y="64168"/>
                  <a:pt x="18334" y="64168"/>
                </a:cubicBezTo>
                <a:lnTo>
                  <a:pt x="110003" y="64168"/>
                </a:lnTo>
                <a:cubicBezTo>
                  <a:pt x="120115" y="64168"/>
                  <a:pt x="128337" y="55947"/>
                  <a:pt x="128337" y="45835"/>
                </a:cubicBezTo>
                <a:lnTo>
                  <a:pt x="128337" y="27501"/>
                </a:lnTo>
                <a:cubicBezTo>
                  <a:pt x="128337" y="17388"/>
                  <a:pt x="120115" y="9167"/>
                  <a:pt x="110003" y="9167"/>
                </a:cubicBezTo>
                <a:lnTo>
                  <a:pt x="18334" y="9167"/>
                </a:lnTo>
                <a:close/>
                <a:moveTo>
                  <a:pt x="80211" y="29792"/>
                </a:moveTo>
                <a:cubicBezTo>
                  <a:pt x="84005" y="29792"/>
                  <a:pt x="87086" y="32873"/>
                  <a:pt x="87086" y="36668"/>
                </a:cubicBezTo>
                <a:cubicBezTo>
                  <a:pt x="87086" y="40462"/>
                  <a:pt x="84005" y="43543"/>
                  <a:pt x="80211" y="43543"/>
                </a:cubicBezTo>
                <a:cubicBezTo>
                  <a:pt x="76416" y="43543"/>
                  <a:pt x="73335" y="40462"/>
                  <a:pt x="73335" y="36668"/>
                </a:cubicBezTo>
                <a:cubicBezTo>
                  <a:pt x="73335" y="32873"/>
                  <a:pt x="76416" y="29792"/>
                  <a:pt x="80211" y="29792"/>
                </a:cubicBezTo>
                <a:close/>
                <a:moveTo>
                  <a:pt x="96253" y="36668"/>
                </a:moveTo>
                <a:cubicBezTo>
                  <a:pt x="96253" y="32873"/>
                  <a:pt x="99333" y="29792"/>
                  <a:pt x="103128" y="29792"/>
                </a:cubicBezTo>
                <a:cubicBezTo>
                  <a:pt x="106922" y="29792"/>
                  <a:pt x="110003" y="32873"/>
                  <a:pt x="110003" y="36668"/>
                </a:cubicBezTo>
                <a:cubicBezTo>
                  <a:pt x="110003" y="40462"/>
                  <a:pt x="106922" y="43543"/>
                  <a:pt x="103128" y="43543"/>
                </a:cubicBezTo>
                <a:cubicBezTo>
                  <a:pt x="99333" y="43543"/>
                  <a:pt x="96253" y="40462"/>
                  <a:pt x="96253" y="36668"/>
                </a:cubicBezTo>
                <a:close/>
                <a:moveTo>
                  <a:pt x="18334" y="82502"/>
                </a:moveTo>
                <a:cubicBezTo>
                  <a:pt x="8222" y="82502"/>
                  <a:pt x="0" y="90724"/>
                  <a:pt x="0" y="100836"/>
                </a:cubicBezTo>
                <a:lnTo>
                  <a:pt x="0" y="119170"/>
                </a:lnTo>
                <a:cubicBezTo>
                  <a:pt x="0" y="129282"/>
                  <a:pt x="8222" y="137504"/>
                  <a:pt x="18334" y="137504"/>
                </a:cubicBezTo>
                <a:lnTo>
                  <a:pt x="110003" y="137504"/>
                </a:lnTo>
                <a:cubicBezTo>
                  <a:pt x="120115" y="137504"/>
                  <a:pt x="128337" y="129282"/>
                  <a:pt x="128337" y="119170"/>
                </a:cubicBezTo>
                <a:lnTo>
                  <a:pt x="128337" y="100836"/>
                </a:lnTo>
                <a:cubicBezTo>
                  <a:pt x="128337" y="90724"/>
                  <a:pt x="120115" y="82502"/>
                  <a:pt x="110003" y="82502"/>
                </a:cubicBezTo>
                <a:lnTo>
                  <a:pt x="18334" y="82502"/>
                </a:lnTo>
                <a:close/>
                <a:moveTo>
                  <a:pt x="80211" y="103128"/>
                </a:moveTo>
                <a:cubicBezTo>
                  <a:pt x="84005" y="103128"/>
                  <a:pt x="87086" y="106208"/>
                  <a:pt x="87086" y="110003"/>
                </a:cubicBezTo>
                <a:cubicBezTo>
                  <a:pt x="87086" y="113798"/>
                  <a:pt x="84005" y="116878"/>
                  <a:pt x="80211" y="116878"/>
                </a:cubicBezTo>
                <a:cubicBezTo>
                  <a:pt x="76416" y="116878"/>
                  <a:pt x="73335" y="113798"/>
                  <a:pt x="73335" y="110003"/>
                </a:cubicBezTo>
                <a:cubicBezTo>
                  <a:pt x="73335" y="106208"/>
                  <a:pt x="76416" y="103128"/>
                  <a:pt x="80211" y="103128"/>
                </a:cubicBezTo>
                <a:close/>
                <a:moveTo>
                  <a:pt x="96253" y="110003"/>
                </a:moveTo>
                <a:cubicBezTo>
                  <a:pt x="96253" y="106208"/>
                  <a:pt x="99333" y="103128"/>
                  <a:pt x="103128" y="103128"/>
                </a:cubicBezTo>
                <a:cubicBezTo>
                  <a:pt x="106922" y="103128"/>
                  <a:pt x="110003" y="106208"/>
                  <a:pt x="110003" y="110003"/>
                </a:cubicBezTo>
                <a:cubicBezTo>
                  <a:pt x="110003" y="113798"/>
                  <a:pt x="106922" y="116878"/>
                  <a:pt x="103128" y="116878"/>
                </a:cubicBezTo>
                <a:cubicBezTo>
                  <a:pt x="99333" y="116878"/>
                  <a:pt x="96253" y="113798"/>
                  <a:pt x="96253" y="110003"/>
                </a:cubicBezTo>
                <a:close/>
              </a:path>
            </a:pathLst>
          </a:custGeom>
          <a:solidFill>
            <a:srgbClr val="2C3E50">
              <a:alpha val="7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826616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标准依据：</a:t>
            </a:r>
            <a:r>
              <a:rPr lang="en-US" altLang="zh-CN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GB 50174-2017</a:t>
            </a:r>
            <a:r>
              <a:rPr lang="zh-CN" altLang="en-US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1150" dirty="0">
                <a:solidFill>
                  <a:srgbClr val="777777">
                    <a:alpha val="70000"/>
                  </a:srgbClr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GB/T 2887-2011</a:t>
            </a:r>
            <a:endParaRPr lang="en-US" sz="1150" dirty="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CustomNav1">
            <a:extLst>
              <a:ext uri="{FF2B5EF4-FFF2-40B4-BE49-F238E27FC236}">
                <a16:creationId xmlns:a16="http://schemas.microsoft.com/office/drawing/2014/main" id="{CC4FA319-16DA-F5DD-0001-E8B5A8C4EAAA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CustomNav2">
            <a:extLst>
              <a:ext uri="{FF2B5EF4-FFF2-40B4-BE49-F238E27FC236}">
                <a16:creationId xmlns:a16="http://schemas.microsoft.com/office/drawing/2014/main" id="{BB0A78DE-AB59-874E-D639-64B3044269E8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CustomNav3">
            <a:extLst>
              <a:ext uri="{FF2B5EF4-FFF2-40B4-BE49-F238E27FC236}">
                <a16:creationId xmlns:a16="http://schemas.microsoft.com/office/drawing/2014/main" id="{D739FE5D-BDE5-9A45-61D4-875499EFFFAC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6" name="CustomNav4">
            <a:extLst>
              <a:ext uri="{FF2B5EF4-FFF2-40B4-BE49-F238E27FC236}">
                <a16:creationId xmlns:a16="http://schemas.microsoft.com/office/drawing/2014/main" id="{B8BF9777-7EE3-4F5E-7FB3-FA276CF85951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7" name="CustomNav5">
            <a:extLst>
              <a:ext uri="{FF2B5EF4-FFF2-40B4-BE49-F238E27FC236}">
                <a16:creationId xmlns:a16="http://schemas.microsoft.com/office/drawing/2014/main" id="{D8CC96D4-BFC1-0ACA-9B26-17C28565C970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30B5D0B7-69F1-12BE-CD76-D84EED44477E}"/>
              </a:ext>
            </a:extLst>
          </p:cNvPr>
          <p:cNvSpPr/>
          <p:nvPr/>
        </p:nvSpPr>
        <p:spPr>
          <a:xfrm>
            <a:off x="400896" y="1168400"/>
            <a:ext cx="5651500" cy="3733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A252D1F-F722-F4DB-FAE9-B6B5FC6CBE66}"/>
              </a:ext>
            </a:extLst>
          </p:cNvPr>
          <p:cNvSpPr/>
          <p:nvPr/>
        </p:nvSpPr>
        <p:spPr>
          <a:xfrm>
            <a:off x="368300" y="1168400"/>
            <a:ext cx="5651500" cy="736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30ADD80-F635-26CF-C72B-15D538BDD465}"/>
              </a:ext>
            </a:extLst>
          </p:cNvPr>
          <p:cNvSpPr txBox="1"/>
          <p:nvPr/>
        </p:nvSpPr>
        <p:spPr>
          <a:xfrm>
            <a:off x="571500" y="1333500"/>
            <a:ext cx="5245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场地环境检测</a:t>
            </a:r>
            <a:endParaRPr lang="zh-Hans-HK" altLang="en-US" sz="16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6CD4D73A-F6EA-ED54-4BC4-6950AC42B835}"/>
              </a:ext>
            </a:extLst>
          </p:cNvPr>
          <p:cNvSpPr/>
          <p:nvPr/>
        </p:nvSpPr>
        <p:spPr>
          <a:xfrm>
            <a:off x="546100" y="2082800"/>
            <a:ext cx="5295900" cy="5842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B44BA6B-8DB8-16A2-C171-C088932FE9F4}"/>
              </a:ext>
            </a:extLst>
          </p:cNvPr>
          <p:cNvSpPr txBox="1"/>
          <p:nvPr/>
        </p:nvSpPr>
        <p:spPr>
          <a:xfrm>
            <a:off x="723900" y="21590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E6EB8"/>
                </a:solidFill>
                <a:latin typeface="Microsoft YaHei" panose="020B0503020204020204" pitchFamily="34" charset="-122"/>
              </a:rPr>
              <a:t>净高与空间条件</a:t>
            </a:r>
            <a:endParaRPr lang="zh-Hans-HK" altLang="en-US" sz="12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5DF904D-E2D3-6247-16E1-362A198361F6}"/>
              </a:ext>
            </a:extLst>
          </p:cNvPr>
          <p:cNvSpPr txBox="1"/>
          <p:nvPr/>
        </p:nvSpPr>
        <p:spPr>
          <a:xfrm>
            <a:off x="723900" y="2362200"/>
            <a:ext cx="50419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777777"/>
                </a:solidFill>
                <a:latin typeface="Microsoft YaHei" panose="020B0503020204020204" pitchFamily="34" charset="-122"/>
              </a:rPr>
              <a:t>按场地功能及设备布置条件核验</a:t>
            </a:r>
            <a:endParaRPr lang="zh-Hans-HK" altLang="en-US" sz="105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7521DAA-318F-1D84-ECA8-6F924CEA062B}"/>
              </a:ext>
            </a:extLst>
          </p:cNvPr>
          <p:cNvSpPr/>
          <p:nvPr/>
        </p:nvSpPr>
        <p:spPr>
          <a:xfrm>
            <a:off x="546100" y="2794000"/>
            <a:ext cx="5295900" cy="5842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C6054E0-6003-B1E4-6DA4-4F40C0606317}"/>
              </a:ext>
            </a:extLst>
          </p:cNvPr>
          <p:cNvSpPr txBox="1"/>
          <p:nvPr/>
        </p:nvSpPr>
        <p:spPr>
          <a:xfrm>
            <a:off x="723900" y="28702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E6EB8"/>
                </a:solidFill>
                <a:latin typeface="Microsoft YaHei" panose="020B0503020204020204" pitchFamily="34" charset="-122"/>
              </a:rPr>
              <a:t>噪声与振动</a:t>
            </a:r>
            <a:endParaRPr lang="zh-Hans-HK" altLang="en-US" sz="12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7152900C-2CC2-8915-A587-67F2B3C5885A}"/>
              </a:ext>
            </a:extLst>
          </p:cNvPr>
          <p:cNvSpPr txBox="1"/>
          <p:nvPr/>
        </p:nvSpPr>
        <p:spPr>
          <a:xfrm>
            <a:off x="723900" y="3073400"/>
            <a:ext cx="50419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777777"/>
                </a:solidFill>
                <a:latin typeface="Microsoft YaHei" panose="020B0503020204020204" pitchFamily="34" charset="-122"/>
              </a:rPr>
              <a:t>按标准限值与运行条件核验</a:t>
            </a:r>
            <a:endParaRPr lang="zh-Hans-HK" altLang="en-US" sz="105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5FD26082-8D15-AF8E-510A-C53DD59C53AD}"/>
              </a:ext>
            </a:extLst>
          </p:cNvPr>
          <p:cNvSpPr/>
          <p:nvPr/>
        </p:nvSpPr>
        <p:spPr>
          <a:xfrm>
            <a:off x="546100" y="3505200"/>
            <a:ext cx="5295900" cy="5842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A2D84C2-07E3-9724-B372-242F9E25062F}"/>
              </a:ext>
            </a:extLst>
          </p:cNvPr>
          <p:cNvSpPr txBox="1"/>
          <p:nvPr/>
        </p:nvSpPr>
        <p:spPr>
          <a:xfrm>
            <a:off x="723900" y="35814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E6EB8"/>
                </a:solidFill>
                <a:latin typeface="Microsoft YaHei" panose="020B0503020204020204" pitchFamily="34" charset="-122"/>
              </a:rPr>
              <a:t>温湿度条件</a:t>
            </a:r>
            <a:endParaRPr lang="zh-Hans-HK" altLang="en-US" sz="12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259D04B-B206-CE0D-B77E-4B5906CC2E9B}"/>
              </a:ext>
            </a:extLst>
          </p:cNvPr>
          <p:cNvSpPr txBox="1"/>
          <p:nvPr/>
        </p:nvSpPr>
        <p:spPr>
          <a:xfrm>
            <a:off x="723900" y="3784600"/>
            <a:ext cx="50419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777777"/>
                </a:solidFill>
                <a:latin typeface="Microsoft YaHei" panose="020B0503020204020204" pitchFamily="34" charset="-122"/>
              </a:rPr>
              <a:t>按电子信息设备运行环境要求核验</a:t>
            </a:r>
            <a:endParaRPr lang="zh-Hans-HK" altLang="en-US" sz="105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4CCAFCA-6CB5-6C67-9D7A-784F89D044EB}"/>
              </a:ext>
            </a:extLst>
          </p:cNvPr>
          <p:cNvSpPr/>
          <p:nvPr/>
        </p:nvSpPr>
        <p:spPr>
          <a:xfrm>
            <a:off x="546100" y="4216400"/>
            <a:ext cx="5295900" cy="5842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F39FFF5-612C-0581-0EC1-77E3823EF7F0}"/>
              </a:ext>
            </a:extLst>
          </p:cNvPr>
          <p:cNvSpPr txBox="1"/>
          <p:nvPr/>
        </p:nvSpPr>
        <p:spPr>
          <a:xfrm>
            <a:off x="723900" y="42926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E6EB8"/>
                </a:solidFill>
                <a:latin typeface="Microsoft YaHei" panose="020B0503020204020204" pitchFamily="34" charset="-122"/>
              </a:rPr>
              <a:t>照明与标识</a:t>
            </a:r>
            <a:endParaRPr lang="zh-Hans-HK" altLang="en-US" sz="12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A35D0B0-FA61-90D5-32F8-D993E81F2E88}"/>
              </a:ext>
            </a:extLst>
          </p:cNvPr>
          <p:cNvSpPr txBox="1"/>
          <p:nvPr/>
        </p:nvSpPr>
        <p:spPr>
          <a:xfrm>
            <a:off x="723900" y="4495800"/>
            <a:ext cx="50419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777777"/>
                </a:solidFill>
                <a:latin typeface="Microsoft YaHei" panose="020B0503020204020204" pitchFamily="34" charset="-122"/>
              </a:rPr>
              <a:t>按照明、应急及标识要求核验</a:t>
            </a:r>
            <a:endParaRPr lang="zh-Hans-HK" altLang="en-US" sz="105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F5952C9D-7982-B923-3EB6-4B8D853E162E}"/>
              </a:ext>
            </a:extLst>
          </p:cNvPr>
          <p:cNvSpPr/>
          <p:nvPr/>
        </p:nvSpPr>
        <p:spPr>
          <a:xfrm>
            <a:off x="6172200" y="1168400"/>
            <a:ext cx="5651500" cy="3733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AF08AA9-94AB-366D-21F0-0BEC8E5A4C32}"/>
              </a:ext>
            </a:extLst>
          </p:cNvPr>
          <p:cNvSpPr/>
          <p:nvPr/>
        </p:nvSpPr>
        <p:spPr>
          <a:xfrm>
            <a:off x="6172200" y="1168400"/>
            <a:ext cx="5651500" cy="736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E2C76D6-8CB0-5DE8-B0A5-BF8F53FDF0AE}"/>
              </a:ext>
            </a:extLst>
          </p:cNvPr>
          <p:cNvSpPr txBox="1"/>
          <p:nvPr/>
        </p:nvSpPr>
        <p:spPr>
          <a:xfrm>
            <a:off x="6375400" y="1333500"/>
            <a:ext cx="52451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电气安全检测</a:t>
            </a:r>
            <a:endParaRPr lang="zh-Hans-HK" altLang="en-US" sz="16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02164BEA-29DA-63DB-1BAA-784F9D5C6A86}"/>
              </a:ext>
            </a:extLst>
          </p:cNvPr>
          <p:cNvSpPr/>
          <p:nvPr/>
        </p:nvSpPr>
        <p:spPr>
          <a:xfrm>
            <a:off x="6350000" y="2082800"/>
            <a:ext cx="5295900" cy="5842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1939D87-073D-5EED-2B93-BE69C29465CF}"/>
              </a:ext>
            </a:extLst>
          </p:cNvPr>
          <p:cNvSpPr txBox="1"/>
          <p:nvPr/>
        </p:nvSpPr>
        <p:spPr>
          <a:xfrm>
            <a:off x="6527800" y="21590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E6EB8"/>
                </a:solidFill>
                <a:latin typeface="Microsoft YaHei" panose="020B0503020204020204" pitchFamily="34" charset="-122"/>
              </a:rPr>
              <a:t>接地与等电位</a:t>
            </a:r>
            <a:endParaRPr lang="zh-Hans-HK" altLang="en-US" sz="12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C605FE6-AFE9-5948-FFC5-15E900047D77}"/>
              </a:ext>
            </a:extLst>
          </p:cNvPr>
          <p:cNvSpPr txBox="1"/>
          <p:nvPr/>
        </p:nvSpPr>
        <p:spPr>
          <a:xfrm>
            <a:off x="6527800" y="2362200"/>
            <a:ext cx="50419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777777"/>
                </a:solidFill>
                <a:latin typeface="Microsoft YaHei" panose="020B0503020204020204" pitchFamily="34" charset="-122"/>
              </a:rPr>
              <a:t>接地连续性与等电位联结核验</a:t>
            </a:r>
            <a:endParaRPr lang="zh-Hans-HK" altLang="en-US" sz="105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8BDAB64-C683-A4E4-3C68-9C3895519507}"/>
              </a:ext>
            </a:extLst>
          </p:cNvPr>
          <p:cNvSpPr/>
          <p:nvPr/>
        </p:nvSpPr>
        <p:spPr>
          <a:xfrm>
            <a:off x="6350000" y="2794000"/>
            <a:ext cx="5295900" cy="5842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E2E33B1F-7056-309D-F2B0-6FC28B8E89F1}"/>
              </a:ext>
            </a:extLst>
          </p:cNvPr>
          <p:cNvSpPr txBox="1"/>
          <p:nvPr/>
        </p:nvSpPr>
        <p:spPr>
          <a:xfrm>
            <a:off x="6527800" y="28702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E6EB8"/>
                </a:solidFill>
                <a:latin typeface="Microsoft YaHei" panose="020B0503020204020204" pitchFamily="34" charset="-122"/>
              </a:rPr>
              <a:t>防雷与接地系统</a:t>
            </a:r>
            <a:endParaRPr lang="zh-Hans-HK" altLang="en-US" sz="12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547596D-F169-39A7-A3D2-5CC302A7787B}"/>
              </a:ext>
            </a:extLst>
          </p:cNvPr>
          <p:cNvSpPr txBox="1"/>
          <p:nvPr/>
        </p:nvSpPr>
        <p:spPr>
          <a:xfrm>
            <a:off x="6527800" y="3073400"/>
            <a:ext cx="50419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777777"/>
                </a:solidFill>
                <a:latin typeface="Microsoft YaHei" panose="020B0503020204020204" pitchFamily="34" charset="-122"/>
              </a:rPr>
              <a:t>防雷设施和接地系统完整性核验</a:t>
            </a:r>
            <a:endParaRPr lang="zh-Hans-HK" altLang="en-US" sz="105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C15A458F-64FD-30E5-B29D-48F9B6B7B56D}"/>
              </a:ext>
            </a:extLst>
          </p:cNvPr>
          <p:cNvSpPr/>
          <p:nvPr/>
        </p:nvSpPr>
        <p:spPr>
          <a:xfrm>
            <a:off x="6350000" y="3505200"/>
            <a:ext cx="5295900" cy="5842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0B57523-9EEB-97A6-16A0-44A46503941D}"/>
              </a:ext>
            </a:extLst>
          </p:cNvPr>
          <p:cNvSpPr txBox="1"/>
          <p:nvPr/>
        </p:nvSpPr>
        <p:spPr>
          <a:xfrm>
            <a:off x="6527800" y="35814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E6EB8"/>
                </a:solidFill>
                <a:latin typeface="Microsoft YaHei" panose="020B0503020204020204" pitchFamily="34" charset="-122"/>
              </a:rPr>
              <a:t>供配电系统</a:t>
            </a:r>
            <a:endParaRPr lang="zh-Hans-HK" altLang="en-US" sz="12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D577002-E90C-3349-0C04-AD568F43ABA0}"/>
              </a:ext>
            </a:extLst>
          </p:cNvPr>
          <p:cNvSpPr txBox="1"/>
          <p:nvPr/>
        </p:nvSpPr>
        <p:spPr>
          <a:xfrm>
            <a:off x="6527800" y="3784600"/>
            <a:ext cx="50419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777777"/>
                </a:solidFill>
                <a:latin typeface="Microsoft YaHei" panose="020B0503020204020204" pitchFamily="34" charset="-122"/>
              </a:rPr>
              <a:t>UPS</a:t>
            </a:r>
            <a:r>
              <a:rPr lang="zh-CN" altLang="en-US" sz="1050">
                <a:solidFill>
                  <a:srgbClr val="777777"/>
                </a:solidFill>
                <a:latin typeface="Microsoft YaHei" panose="020B0503020204020204" pitchFamily="34" charset="-122"/>
              </a:rPr>
              <a:t>、配电柜与配电回路状态核验</a:t>
            </a:r>
            <a:endParaRPr lang="zh-Hans-HK" altLang="en-US" sz="105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B5B2672C-138A-3534-F149-CE4DA1D811DC}"/>
              </a:ext>
            </a:extLst>
          </p:cNvPr>
          <p:cNvSpPr/>
          <p:nvPr/>
        </p:nvSpPr>
        <p:spPr>
          <a:xfrm>
            <a:off x="6350000" y="4216400"/>
            <a:ext cx="5295900" cy="58420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0363CD9-FF3B-8489-30B0-0D3197F34D9D}"/>
              </a:ext>
            </a:extLst>
          </p:cNvPr>
          <p:cNvSpPr txBox="1"/>
          <p:nvPr/>
        </p:nvSpPr>
        <p:spPr>
          <a:xfrm>
            <a:off x="6527800" y="42926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E6EB8"/>
                </a:solidFill>
                <a:latin typeface="Microsoft YaHei" panose="020B0503020204020204" pitchFamily="34" charset="-122"/>
              </a:rPr>
              <a:t>静电防护</a:t>
            </a:r>
            <a:endParaRPr lang="zh-Hans-HK" altLang="en-US" sz="12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056FF989-D3F9-7D92-AAEE-B94DCD1B18DB}"/>
              </a:ext>
            </a:extLst>
          </p:cNvPr>
          <p:cNvSpPr txBox="1"/>
          <p:nvPr/>
        </p:nvSpPr>
        <p:spPr>
          <a:xfrm>
            <a:off x="6527800" y="4495800"/>
            <a:ext cx="50419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777777"/>
                </a:solidFill>
                <a:latin typeface="Microsoft YaHei" panose="020B0503020204020204" pitchFamily="34" charset="-122"/>
              </a:rPr>
              <a:t>地面电阻与静电释放措施核验</a:t>
            </a:r>
            <a:endParaRPr lang="zh-Hans-HK" altLang="en-US" sz="105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3FE74193-B614-948D-5C1F-BFCFDBD98591}"/>
              </a:ext>
            </a:extLst>
          </p:cNvPr>
          <p:cNvSpPr/>
          <p:nvPr/>
        </p:nvSpPr>
        <p:spPr>
          <a:xfrm>
            <a:off x="368300" y="5003800"/>
            <a:ext cx="114554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2456745-CAAE-984D-EB82-C0B51AD1176F}"/>
              </a:ext>
            </a:extLst>
          </p:cNvPr>
          <p:cNvSpPr/>
          <p:nvPr/>
        </p:nvSpPr>
        <p:spPr>
          <a:xfrm>
            <a:off x="533400" y="5232400"/>
            <a:ext cx="50800" cy="228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D01BFED0-494B-8A53-7160-66FC6ADBE786}"/>
              </a:ext>
            </a:extLst>
          </p:cNvPr>
          <p:cNvSpPr txBox="1"/>
          <p:nvPr/>
        </p:nvSpPr>
        <p:spPr>
          <a:xfrm>
            <a:off x="660400" y="51562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常用检测设备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4DB416EC-3552-2821-877C-009BC4F2F4EC}"/>
              </a:ext>
            </a:extLst>
          </p:cNvPr>
          <p:cNvSpPr/>
          <p:nvPr/>
        </p:nvSpPr>
        <p:spPr>
          <a:xfrm>
            <a:off x="533400" y="5613400"/>
            <a:ext cx="1625600" cy="66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1EF15DF4-EC28-A3C0-8ABB-A11FD941E671}"/>
              </a:ext>
            </a:extLst>
          </p:cNvPr>
          <p:cNvSpPr/>
          <p:nvPr/>
        </p:nvSpPr>
        <p:spPr>
          <a:xfrm>
            <a:off x="533400" y="5613400"/>
            <a:ext cx="1625600" cy="762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E60AC8A-2247-5C5E-C573-A381B0446031}"/>
              </a:ext>
            </a:extLst>
          </p:cNvPr>
          <p:cNvSpPr txBox="1"/>
          <p:nvPr/>
        </p:nvSpPr>
        <p:spPr>
          <a:xfrm>
            <a:off x="660400" y="5829300"/>
            <a:ext cx="13716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80" b="1">
                <a:solidFill>
                  <a:srgbClr val="0E6EB8"/>
                </a:solidFill>
                <a:latin typeface="Microsoft YaHei" panose="020B0503020204020204" pitchFamily="34" charset="-122"/>
              </a:rPr>
              <a:t>测距仪</a:t>
            </a:r>
            <a:endParaRPr lang="zh-Hans-HK" altLang="en-US" sz="108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B15C9BFE-CA74-A7DA-118C-2C0A0DFC23E3}"/>
              </a:ext>
            </a:extLst>
          </p:cNvPr>
          <p:cNvSpPr/>
          <p:nvPr/>
        </p:nvSpPr>
        <p:spPr>
          <a:xfrm>
            <a:off x="2374900" y="5613400"/>
            <a:ext cx="1625600" cy="66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A04F7F49-9B52-2687-2C44-94093D2CF2C8}"/>
              </a:ext>
            </a:extLst>
          </p:cNvPr>
          <p:cNvSpPr/>
          <p:nvPr/>
        </p:nvSpPr>
        <p:spPr>
          <a:xfrm>
            <a:off x="2374900" y="5613400"/>
            <a:ext cx="1625600" cy="762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A5A86850-8C2C-8675-E676-61936207B5D3}"/>
              </a:ext>
            </a:extLst>
          </p:cNvPr>
          <p:cNvSpPr txBox="1"/>
          <p:nvPr/>
        </p:nvSpPr>
        <p:spPr>
          <a:xfrm>
            <a:off x="2501900" y="5829300"/>
            <a:ext cx="13716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80" b="1">
                <a:solidFill>
                  <a:srgbClr val="0E6EB8"/>
                </a:solidFill>
                <a:latin typeface="Microsoft YaHei" panose="020B0503020204020204" pitchFamily="34" charset="-122"/>
              </a:rPr>
              <a:t>数字照度计</a:t>
            </a:r>
            <a:endParaRPr lang="zh-Hans-HK" altLang="en-US" sz="108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8A235224-421D-754D-4B49-553D08FBF003}"/>
              </a:ext>
            </a:extLst>
          </p:cNvPr>
          <p:cNvSpPr/>
          <p:nvPr/>
        </p:nvSpPr>
        <p:spPr>
          <a:xfrm>
            <a:off x="4216400" y="5613400"/>
            <a:ext cx="1625600" cy="66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8518E56-AE58-0CD5-DD09-4CF8F3D7D467}"/>
              </a:ext>
            </a:extLst>
          </p:cNvPr>
          <p:cNvSpPr/>
          <p:nvPr/>
        </p:nvSpPr>
        <p:spPr>
          <a:xfrm>
            <a:off x="4216400" y="5613400"/>
            <a:ext cx="1625600" cy="762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4F15265C-237D-C715-22EF-54B20FFB58A8}"/>
              </a:ext>
            </a:extLst>
          </p:cNvPr>
          <p:cNvSpPr txBox="1"/>
          <p:nvPr/>
        </p:nvSpPr>
        <p:spPr>
          <a:xfrm>
            <a:off x="4343400" y="5829300"/>
            <a:ext cx="13716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80" b="1">
                <a:solidFill>
                  <a:srgbClr val="0E6EB8"/>
                </a:solidFill>
                <a:latin typeface="Microsoft YaHei" panose="020B0503020204020204" pitchFamily="34" charset="-122"/>
              </a:rPr>
              <a:t>温湿度计</a:t>
            </a:r>
            <a:endParaRPr lang="zh-Hans-HK" altLang="en-US" sz="108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1B1C4BD7-2001-23E6-242C-6D6F763723C1}"/>
              </a:ext>
            </a:extLst>
          </p:cNvPr>
          <p:cNvSpPr/>
          <p:nvPr/>
        </p:nvSpPr>
        <p:spPr>
          <a:xfrm>
            <a:off x="6057900" y="5613400"/>
            <a:ext cx="1625600" cy="66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935D2777-A0BA-978E-CBBD-6FA96ABEAFCE}"/>
              </a:ext>
            </a:extLst>
          </p:cNvPr>
          <p:cNvSpPr/>
          <p:nvPr/>
        </p:nvSpPr>
        <p:spPr>
          <a:xfrm>
            <a:off x="6057900" y="5613400"/>
            <a:ext cx="1625600" cy="762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C5E2AA6-EEB5-84A7-BE6D-4B2AD197F797}"/>
              </a:ext>
            </a:extLst>
          </p:cNvPr>
          <p:cNvSpPr txBox="1"/>
          <p:nvPr/>
        </p:nvSpPr>
        <p:spPr>
          <a:xfrm>
            <a:off x="6184900" y="5829300"/>
            <a:ext cx="13716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80" b="1">
                <a:solidFill>
                  <a:srgbClr val="0E6EB8"/>
                </a:solidFill>
                <a:latin typeface="Microsoft YaHei" panose="020B0503020204020204" pitchFamily="34" charset="-122"/>
              </a:rPr>
              <a:t>钢卷尺</a:t>
            </a:r>
            <a:endParaRPr lang="zh-Hans-HK" altLang="en-US" sz="108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19618987-A9EE-6034-1EF3-66BE3201243F}"/>
              </a:ext>
            </a:extLst>
          </p:cNvPr>
          <p:cNvSpPr/>
          <p:nvPr/>
        </p:nvSpPr>
        <p:spPr>
          <a:xfrm>
            <a:off x="7899400" y="5613400"/>
            <a:ext cx="1625600" cy="66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800940E-12F1-819D-237D-BA29006B6D22}"/>
              </a:ext>
            </a:extLst>
          </p:cNvPr>
          <p:cNvSpPr/>
          <p:nvPr/>
        </p:nvSpPr>
        <p:spPr>
          <a:xfrm>
            <a:off x="7899400" y="5613400"/>
            <a:ext cx="1625600" cy="762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82ABDE0C-4497-C0DE-991E-9714400142C1}"/>
              </a:ext>
            </a:extLst>
          </p:cNvPr>
          <p:cNvSpPr txBox="1"/>
          <p:nvPr/>
        </p:nvSpPr>
        <p:spPr>
          <a:xfrm>
            <a:off x="8026400" y="5829300"/>
            <a:ext cx="13716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80" b="1">
                <a:solidFill>
                  <a:srgbClr val="0E6EB8"/>
                </a:solidFill>
                <a:latin typeface="Microsoft YaHei" panose="020B0503020204020204" pitchFamily="34" charset="-122"/>
              </a:rPr>
              <a:t>声级计</a:t>
            </a:r>
            <a:endParaRPr lang="zh-Hans-HK" altLang="en-US" sz="108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4EED982E-1AE1-30ED-BA92-4D67AA927F40}"/>
              </a:ext>
            </a:extLst>
          </p:cNvPr>
          <p:cNvSpPr/>
          <p:nvPr/>
        </p:nvSpPr>
        <p:spPr>
          <a:xfrm>
            <a:off x="9740900" y="5613400"/>
            <a:ext cx="1625600" cy="66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46D35418-70EA-BE0B-845D-86BE63685231}"/>
              </a:ext>
            </a:extLst>
          </p:cNvPr>
          <p:cNvSpPr/>
          <p:nvPr/>
        </p:nvSpPr>
        <p:spPr>
          <a:xfrm>
            <a:off x="9740900" y="5613400"/>
            <a:ext cx="1625600" cy="762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6460A3D-1121-0624-5A65-9637C0DF568E}"/>
              </a:ext>
            </a:extLst>
          </p:cNvPr>
          <p:cNvSpPr txBox="1"/>
          <p:nvPr/>
        </p:nvSpPr>
        <p:spPr>
          <a:xfrm>
            <a:off x="9867900" y="5829300"/>
            <a:ext cx="1371600" cy="1661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80" b="1">
                <a:solidFill>
                  <a:srgbClr val="0E6EB8"/>
                </a:solidFill>
                <a:latin typeface="Microsoft YaHei" panose="020B0503020204020204" pitchFamily="34" charset="-122"/>
              </a:rPr>
              <a:t>接地电阻测试仪</a:t>
            </a:r>
            <a:endParaRPr lang="zh-Hans-HK" altLang="en-US" sz="108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510474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364" y="346364"/>
            <a:ext cx="69273" cy="415636"/>
          </a:xfrm>
          <a:custGeom>
            <a:avLst/>
            <a:gdLst/>
            <a:ahLst/>
            <a:cxnLst/>
            <a:rect l="l" t="t" r="r" b="b"/>
            <a:pathLst>
              <a:path w="69273" h="415636">
                <a:moveTo>
                  <a:pt x="34636" y="0"/>
                </a:moveTo>
                <a:lnTo>
                  <a:pt x="34636" y="0"/>
                </a:lnTo>
                <a:cubicBezTo>
                  <a:pt x="53753" y="0"/>
                  <a:pt x="69273" y="15520"/>
                  <a:pt x="69273" y="34636"/>
                </a:cubicBezTo>
                <a:lnTo>
                  <a:pt x="69273" y="381000"/>
                </a:lnTo>
                <a:cubicBezTo>
                  <a:pt x="69273" y="400116"/>
                  <a:pt x="53753" y="415636"/>
                  <a:pt x="34636" y="415636"/>
                </a:cubicBezTo>
                <a:lnTo>
                  <a:pt x="34636" y="415636"/>
                </a:lnTo>
                <a:cubicBezTo>
                  <a:pt x="15520" y="415636"/>
                  <a:pt x="0" y="400116"/>
                  <a:pt x="0" y="381000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检测矩阵与测试流程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4182" y="831273"/>
            <a:ext cx="1108364" cy="34636"/>
          </a:xfrm>
          <a:custGeom>
            <a:avLst/>
            <a:gdLst/>
            <a:ahLst/>
            <a:cxnLst/>
            <a:rect l="l" t="t" r="r" b="b"/>
            <a:pathLst>
              <a:path w="1108364" h="34636">
                <a:moveTo>
                  <a:pt x="17318" y="0"/>
                </a:moveTo>
                <a:lnTo>
                  <a:pt x="1091045" y="0"/>
                </a:lnTo>
                <a:cubicBezTo>
                  <a:pt x="1100610" y="0"/>
                  <a:pt x="1108364" y="7754"/>
                  <a:pt x="1108364" y="17318"/>
                </a:cubicBezTo>
                <a:lnTo>
                  <a:pt x="1108364" y="17318"/>
                </a:lnTo>
                <a:cubicBezTo>
                  <a:pt x="1108364" y="26883"/>
                  <a:pt x="1100610" y="34636"/>
                  <a:pt x="1091045" y="34636"/>
                </a:cubicBezTo>
                <a:lnTo>
                  <a:pt x="17318" y="34636"/>
                </a:lnTo>
                <a:cubicBezTo>
                  <a:pt x="7760" y="34636"/>
                  <a:pt x="0" y="26876"/>
                  <a:pt x="0" y="17318"/>
                </a:cubicBezTo>
                <a:lnTo>
                  <a:pt x="0" y="17318"/>
                </a:lnTo>
                <a:cubicBezTo>
                  <a:pt x="0" y="7760"/>
                  <a:pt x="7760" y="0"/>
                  <a:pt x="17318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346364" y="1004455"/>
            <a:ext cx="11499273" cy="2667000"/>
          </a:xfrm>
          <a:custGeom>
            <a:avLst/>
            <a:gdLst/>
            <a:ahLst/>
            <a:cxnLst/>
            <a:rect l="l" t="t" r="r" b="b"/>
            <a:pathLst>
              <a:path w="11499273" h="2667000">
                <a:moveTo>
                  <a:pt x="103906" y="0"/>
                </a:moveTo>
                <a:lnTo>
                  <a:pt x="11395366" y="0"/>
                </a:lnTo>
                <a:cubicBezTo>
                  <a:pt x="11452752" y="0"/>
                  <a:pt x="11499273" y="46520"/>
                  <a:pt x="11499273" y="103906"/>
                </a:cubicBezTo>
                <a:lnTo>
                  <a:pt x="11499273" y="2563094"/>
                </a:lnTo>
                <a:cubicBezTo>
                  <a:pt x="11499273" y="2620480"/>
                  <a:pt x="11452752" y="2667000"/>
                  <a:pt x="11395366" y="2667000"/>
                </a:cubicBezTo>
                <a:lnTo>
                  <a:pt x="103906" y="2667000"/>
                </a:lnTo>
                <a:cubicBezTo>
                  <a:pt x="46520" y="2667000"/>
                  <a:pt x="0" y="2620480"/>
                  <a:pt x="0" y="2563094"/>
                </a:cubicBezTo>
                <a:lnTo>
                  <a:pt x="0" y="103906"/>
                </a:lnTo>
                <a:cubicBezTo>
                  <a:pt x="0" y="46520"/>
                  <a:pt x="46520" y="0"/>
                  <a:pt x="1039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886" dist="865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7381" y="1177636"/>
            <a:ext cx="151534" cy="173182"/>
          </a:xfrm>
          <a:custGeom>
            <a:avLst/>
            <a:gdLst/>
            <a:ahLst/>
            <a:cxnLst/>
            <a:rect l="l" t="t" r="r" b="b"/>
            <a:pathLst>
              <a:path w="151534" h="173182">
                <a:moveTo>
                  <a:pt x="129886" y="32472"/>
                </a:moveTo>
                <a:lnTo>
                  <a:pt x="129886" y="54119"/>
                </a:lnTo>
                <a:lnTo>
                  <a:pt x="108239" y="54119"/>
                </a:lnTo>
                <a:lnTo>
                  <a:pt x="108239" y="32472"/>
                </a:lnTo>
                <a:lnTo>
                  <a:pt x="129886" y="32472"/>
                </a:lnTo>
                <a:close/>
                <a:moveTo>
                  <a:pt x="129886" y="75767"/>
                </a:moveTo>
                <a:lnTo>
                  <a:pt x="129886" y="97415"/>
                </a:lnTo>
                <a:lnTo>
                  <a:pt x="108239" y="97415"/>
                </a:lnTo>
                <a:lnTo>
                  <a:pt x="108239" y="75767"/>
                </a:lnTo>
                <a:lnTo>
                  <a:pt x="129886" y="75767"/>
                </a:lnTo>
                <a:close/>
                <a:moveTo>
                  <a:pt x="129886" y="119063"/>
                </a:moveTo>
                <a:lnTo>
                  <a:pt x="129886" y="140710"/>
                </a:lnTo>
                <a:lnTo>
                  <a:pt x="108239" y="140710"/>
                </a:lnTo>
                <a:lnTo>
                  <a:pt x="108239" y="119063"/>
                </a:lnTo>
                <a:lnTo>
                  <a:pt x="129886" y="119063"/>
                </a:lnTo>
                <a:close/>
                <a:moveTo>
                  <a:pt x="86591" y="97415"/>
                </a:moveTo>
                <a:lnTo>
                  <a:pt x="64943" y="97415"/>
                </a:lnTo>
                <a:lnTo>
                  <a:pt x="64943" y="75767"/>
                </a:lnTo>
                <a:lnTo>
                  <a:pt x="86591" y="75767"/>
                </a:lnTo>
                <a:lnTo>
                  <a:pt x="86591" y="97415"/>
                </a:lnTo>
                <a:close/>
                <a:moveTo>
                  <a:pt x="64943" y="119063"/>
                </a:moveTo>
                <a:lnTo>
                  <a:pt x="86591" y="119063"/>
                </a:lnTo>
                <a:lnTo>
                  <a:pt x="86591" y="140710"/>
                </a:lnTo>
                <a:lnTo>
                  <a:pt x="64943" y="140710"/>
                </a:lnTo>
                <a:lnTo>
                  <a:pt x="64943" y="119063"/>
                </a:lnTo>
                <a:close/>
                <a:moveTo>
                  <a:pt x="43295" y="97415"/>
                </a:moveTo>
                <a:lnTo>
                  <a:pt x="21648" y="97415"/>
                </a:lnTo>
                <a:lnTo>
                  <a:pt x="21648" y="75767"/>
                </a:lnTo>
                <a:lnTo>
                  <a:pt x="43295" y="75767"/>
                </a:lnTo>
                <a:lnTo>
                  <a:pt x="43295" y="97415"/>
                </a:lnTo>
                <a:close/>
                <a:moveTo>
                  <a:pt x="21648" y="119063"/>
                </a:moveTo>
                <a:lnTo>
                  <a:pt x="43295" y="119063"/>
                </a:lnTo>
                <a:lnTo>
                  <a:pt x="43295" y="140710"/>
                </a:lnTo>
                <a:lnTo>
                  <a:pt x="21648" y="140710"/>
                </a:lnTo>
                <a:lnTo>
                  <a:pt x="21648" y="119063"/>
                </a:lnTo>
                <a:close/>
                <a:moveTo>
                  <a:pt x="21648" y="54119"/>
                </a:moveTo>
                <a:lnTo>
                  <a:pt x="21648" y="32472"/>
                </a:lnTo>
                <a:lnTo>
                  <a:pt x="43295" y="32472"/>
                </a:lnTo>
                <a:lnTo>
                  <a:pt x="43295" y="54119"/>
                </a:lnTo>
                <a:lnTo>
                  <a:pt x="21648" y="54119"/>
                </a:lnTo>
                <a:close/>
                <a:moveTo>
                  <a:pt x="64943" y="54119"/>
                </a:moveTo>
                <a:lnTo>
                  <a:pt x="64943" y="32472"/>
                </a:lnTo>
                <a:lnTo>
                  <a:pt x="86591" y="32472"/>
                </a:lnTo>
                <a:lnTo>
                  <a:pt x="86591" y="54119"/>
                </a:lnTo>
                <a:lnTo>
                  <a:pt x="64943" y="54119"/>
                </a:lnTo>
                <a:close/>
                <a:moveTo>
                  <a:pt x="21648" y="10824"/>
                </a:moveTo>
                <a:cubicBezTo>
                  <a:pt x="9708" y="10824"/>
                  <a:pt x="0" y="20532"/>
                  <a:pt x="0" y="32472"/>
                </a:cubicBezTo>
                <a:lnTo>
                  <a:pt x="0" y="140710"/>
                </a:lnTo>
                <a:cubicBezTo>
                  <a:pt x="0" y="152650"/>
                  <a:pt x="9708" y="162358"/>
                  <a:pt x="21648" y="162358"/>
                </a:cubicBezTo>
                <a:lnTo>
                  <a:pt x="129886" y="162358"/>
                </a:lnTo>
                <a:cubicBezTo>
                  <a:pt x="141826" y="162358"/>
                  <a:pt x="151534" y="152650"/>
                  <a:pt x="151534" y="140710"/>
                </a:cubicBezTo>
                <a:lnTo>
                  <a:pt x="151534" y="32472"/>
                </a:lnTo>
                <a:cubicBezTo>
                  <a:pt x="151534" y="20532"/>
                  <a:pt x="141826" y="10824"/>
                  <a:pt x="129886" y="10824"/>
                </a:cubicBezTo>
                <a:lnTo>
                  <a:pt x="21648" y="10824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7" name="Text 5"/>
          <p:cNvSpPr/>
          <p:nvPr/>
        </p:nvSpPr>
        <p:spPr>
          <a:xfrm>
            <a:off x="701386" y="1143000"/>
            <a:ext cx="1109229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检测服务矩阵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8373" y="1492827"/>
            <a:ext cx="11211791" cy="2033155"/>
          </a:xfrm>
          <a:custGeom>
            <a:avLst/>
            <a:gdLst/>
            <a:ahLst/>
            <a:cxnLst/>
            <a:rect l="l" t="t" r="r" b="b"/>
            <a:pathLst>
              <a:path w="11211791" h="2033155">
                <a:moveTo>
                  <a:pt x="69270" y="0"/>
                </a:moveTo>
                <a:lnTo>
                  <a:pt x="11142521" y="0"/>
                </a:lnTo>
                <a:cubicBezTo>
                  <a:pt x="11180778" y="0"/>
                  <a:pt x="11211791" y="31013"/>
                  <a:pt x="11211791" y="69270"/>
                </a:cubicBezTo>
                <a:lnTo>
                  <a:pt x="11211791" y="1963885"/>
                </a:lnTo>
                <a:cubicBezTo>
                  <a:pt x="11211791" y="2002141"/>
                  <a:pt x="11180778" y="2033155"/>
                  <a:pt x="11142521" y="2033155"/>
                </a:cubicBezTo>
                <a:lnTo>
                  <a:pt x="69270" y="2033155"/>
                </a:lnTo>
                <a:cubicBezTo>
                  <a:pt x="31013" y="2033155"/>
                  <a:pt x="0" y="2002142"/>
                  <a:pt x="0" y="1963885"/>
                </a:cubicBezTo>
                <a:lnTo>
                  <a:pt x="0" y="69270"/>
                </a:lnTo>
                <a:cubicBezTo>
                  <a:pt x="0" y="31039"/>
                  <a:pt x="31039" y="0"/>
                  <a:pt x="6927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5E7E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545694"/>
              </p:ext>
            </p:extLst>
          </p:nvPr>
        </p:nvGraphicFramePr>
        <p:xfrm>
          <a:off x="491836" y="1496293"/>
          <a:ext cx="11204864" cy="2103950"/>
        </p:xfrm>
        <a:graphic>
          <a:graphicData uri="http://schemas.openxmlformats.org/drawingml/2006/table">
            <a:tbl>
              <a:tblPr/>
              <a:tblGrid>
                <a:gridCol w="2450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1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24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50" b="1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检测类型</a:t>
                      </a:r>
                      <a:endParaRPr lang="en-US" sz="1250" b="1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50" b="1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检测方法</a:t>
                      </a:r>
                      <a:endParaRPr lang="en-US" sz="1250" b="1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50" b="1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适用标准</a:t>
                      </a:r>
                      <a:endParaRPr lang="en-US" sz="1250" b="1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50" b="1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交付成果</a:t>
                      </a:r>
                      <a:endParaRPr lang="en-US" sz="1250" b="1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24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质量验收检测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功能测试、性能测试、兼容性测试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GB/T 25000.51-2016、GB/T 15532-2008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 dirty="0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软件测评</a:t>
                      </a:r>
                      <a:r>
                        <a:rPr lang="en-US" altLang="zh-CN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/</a:t>
                      </a:r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检测</a:t>
                      </a:r>
                      <a:r>
                        <a:rPr lang="zh-CN" altLang="en-US" sz="1130" b="0" u="none" dirty="0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报告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24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安全专项检测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配置核查、验证测试、整改复核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GB/T 25000.51-2016 / </a:t>
                      </a:r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项目安全要求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安全专项检测报告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24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源代码审计检测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静态分析、人工复核、整改复测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GB/T 39412-2020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源代码审计报告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24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计算机场地测评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环境核验、电气安全核验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130" b="0" u="none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GB 50174-2017、GB/T 2887-2011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30" b="0" u="none" dirty="0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场地测评</a:t>
                      </a:r>
                      <a:r>
                        <a:rPr lang="en-US" altLang="zh-CN" sz="1130" b="0" u="none" dirty="0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/</a:t>
                      </a:r>
                      <a:r>
                        <a:rPr lang="zh-CN" altLang="en-US" sz="1130" b="0" u="none" dirty="0">
                          <a:solidFill>
                            <a:srgbClr val="505050"/>
                          </a:solidFill>
                          <a:latin typeface="Microsoft YaHei" panose="020B0503020204020204" pitchFamily="34" charset="-122"/>
                          <a:ea typeface="微软雅黑" pitchFamily="34" charset="-122"/>
                          <a:cs typeface="微软雅黑" pitchFamily="34" charset="-120"/>
                        </a:rPr>
                        <a:t>检测报告</a:t>
                      </a:r>
                      <a:endParaRPr lang="en-US" sz="1130" b="0" dirty="0">
                        <a:solidFill>
                          <a:srgbClr val="505050"/>
                        </a:solidFill>
                        <a:latin typeface="Microsoft YaHei" panose="020B0503020204020204" pitchFamily="34" charset="-122"/>
                        <a:ea typeface="微软雅黑" charset="0"/>
                        <a:cs typeface="微软雅黑" charset="0"/>
                      </a:endParaRPr>
                    </a:p>
                  </a:txBody>
                  <a:tcPr marL="69273" marR="69273" marT="69273" marB="6927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46364" y="3723409"/>
            <a:ext cx="11499273" cy="2182091"/>
          </a:xfrm>
          <a:custGeom>
            <a:avLst/>
            <a:gdLst/>
            <a:ahLst/>
            <a:cxnLst/>
            <a:rect l="l" t="t" r="r" b="b"/>
            <a:pathLst>
              <a:path w="11499273" h="2182091">
                <a:moveTo>
                  <a:pt x="103911" y="0"/>
                </a:moveTo>
                <a:lnTo>
                  <a:pt x="11395362" y="0"/>
                </a:lnTo>
                <a:cubicBezTo>
                  <a:pt x="11452750" y="0"/>
                  <a:pt x="11499273" y="46523"/>
                  <a:pt x="11499273" y="103911"/>
                </a:cubicBezTo>
                <a:lnTo>
                  <a:pt x="11499273" y="2078180"/>
                </a:lnTo>
                <a:cubicBezTo>
                  <a:pt x="11499273" y="2135568"/>
                  <a:pt x="11452750" y="2182091"/>
                  <a:pt x="11395362" y="2182091"/>
                </a:cubicBezTo>
                <a:lnTo>
                  <a:pt x="103911" y="2182091"/>
                </a:lnTo>
                <a:cubicBezTo>
                  <a:pt x="46523" y="2182091"/>
                  <a:pt x="0" y="2135568"/>
                  <a:pt x="0" y="2078180"/>
                </a:cubicBezTo>
                <a:lnTo>
                  <a:pt x="0" y="103911"/>
                </a:lnTo>
                <a:cubicBezTo>
                  <a:pt x="0" y="46561"/>
                  <a:pt x="46561" y="0"/>
                  <a:pt x="1039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9886" dist="865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6557" y="3983182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0" y="27060"/>
                </a:moveTo>
                <a:cubicBezTo>
                  <a:pt x="0" y="18096"/>
                  <a:pt x="7272" y="10824"/>
                  <a:pt x="16236" y="10824"/>
                </a:cubicBezTo>
                <a:lnTo>
                  <a:pt x="48707" y="10824"/>
                </a:lnTo>
                <a:cubicBezTo>
                  <a:pt x="57671" y="10824"/>
                  <a:pt x="64943" y="18096"/>
                  <a:pt x="64943" y="27060"/>
                </a:cubicBezTo>
                <a:lnTo>
                  <a:pt x="64943" y="32472"/>
                </a:lnTo>
                <a:lnTo>
                  <a:pt x="108239" y="32472"/>
                </a:lnTo>
                <a:lnTo>
                  <a:pt x="108239" y="27060"/>
                </a:lnTo>
                <a:cubicBezTo>
                  <a:pt x="108239" y="18096"/>
                  <a:pt x="115511" y="10824"/>
                  <a:pt x="124474" y="10824"/>
                </a:cubicBezTo>
                <a:lnTo>
                  <a:pt x="156946" y="10824"/>
                </a:lnTo>
                <a:cubicBezTo>
                  <a:pt x="165910" y="10824"/>
                  <a:pt x="173182" y="18096"/>
                  <a:pt x="173182" y="27060"/>
                </a:cubicBezTo>
                <a:lnTo>
                  <a:pt x="173182" y="59531"/>
                </a:lnTo>
                <a:cubicBezTo>
                  <a:pt x="173182" y="68495"/>
                  <a:pt x="165910" y="75767"/>
                  <a:pt x="156946" y="75767"/>
                </a:cubicBezTo>
                <a:lnTo>
                  <a:pt x="124474" y="75767"/>
                </a:lnTo>
                <a:cubicBezTo>
                  <a:pt x="115511" y="75767"/>
                  <a:pt x="108239" y="68495"/>
                  <a:pt x="108239" y="59531"/>
                </a:cubicBezTo>
                <a:lnTo>
                  <a:pt x="108239" y="54119"/>
                </a:lnTo>
                <a:lnTo>
                  <a:pt x="64943" y="54119"/>
                </a:lnTo>
                <a:lnTo>
                  <a:pt x="64943" y="59531"/>
                </a:lnTo>
                <a:cubicBezTo>
                  <a:pt x="64943" y="62000"/>
                  <a:pt x="64368" y="64368"/>
                  <a:pt x="63387" y="66465"/>
                </a:cubicBezTo>
                <a:lnTo>
                  <a:pt x="86591" y="97415"/>
                </a:lnTo>
                <a:lnTo>
                  <a:pt x="113651" y="97415"/>
                </a:lnTo>
                <a:cubicBezTo>
                  <a:pt x="122614" y="97415"/>
                  <a:pt x="129886" y="104687"/>
                  <a:pt x="129886" y="113651"/>
                </a:cubicBezTo>
                <a:lnTo>
                  <a:pt x="129886" y="146122"/>
                </a:lnTo>
                <a:cubicBezTo>
                  <a:pt x="129886" y="155086"/>
                  <a:pt x="122614" y="162358"/>
                  <a:pt x="113651" y="162358"/>
                </a:cubicBezTo>
                <a:lnTo>
                  <a:pt x="81179" y="162358"/>
                </a:lnTo>
                <a:cubicBezTo>
                  <a:pt x="72215" y="162358"/>
                  <a:pt x="64943" y="155086"/>
                  <a:pt x="64943" y="146122"/>
                </a:cubicBezTo>
                <a:lnTo>
                  <a:pt x="64943" y="113651"/>
                </a:lnTo>
                <a:cubicBezTo>
                  <a:pt x="64943" y="111181"/>
                  <a:pt x="65518" y="108814"/>
                  <a:pt x="66499" y="106717"/>
                </a:cubicBezTo>
                <a:lnTo>
                  <a:pt x="43295" y="75767"/>
                </a:lnTo>
                <a:lnTo>
                  <a:pt x="16236" y="75767"/>
                </a:lnTo>
                <a:cubicBezTo>
                  <a:pt x="7272" y="75767"/>
                  <a:pt x="0" y="68495"/>
                  <a:pt x="0" y="59531"/>
                </a:cubicBezTo>
                <a:lnTo>
                  <a:pt x="0" y="27060"/>
                </a:lnTo>
                <a:close/>
              </a:path>
            </a:pathLst>
          </a:custGeom>
          <a:solidFill>
            <a:srgbClr val="1E5AA8"/>
          </a:solidFill>
          <a:ln/>
        </p:spPr>
      </p:sp>
      <p:sp>
        <p:nvSpPr>
          <p:cNvPr id="12" name="Text 9"/>
          <p:cNvSpPr/>
          <p:nvPr/>
        </p:nvSpPr>
        <p:spPr>
          <a:xfrm>
            <a:off x="701386" y="3948545"/>
            <a:ext cx="1109229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0D3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测试流程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4909" y="4294909"/>
            <a:ext cx="2511136" cy="1558636"/>
          </a:xfrm>
          <a:custGeom>
            <a:avLst/>
            <a:gdLst/>
            <a:ahLst/>
            <a:cxnLst/>
            <a:rect l="l" t="t" r="r" b="b"/>
            <a:pathLst>
              <a:path w="2511136" h="1558636">
                <a:moveTo>
                  <a:pt x="103914" y="0"/>
                </a:moveTo>
                <a:lnTo>
                  <a:pt x="2407222" y="0"/>
                </a:lnTo>
                <a:cubicBezTo>
                  <a:pt x="2464612" y="0"/>
                  <a:pt x="2511136" y="46524"/>
                  <a:pt x="2511136" y="103914"/>
                </a:cubicBezTo>
                <a:lnTo>
                  <a:pt x="2511136" y="1454722"/>
                </a:lnTo>
                <a:cubicBezTo>
                  <a:pt x="2511136" y="1512112"/>
                  <a:pt x="2464612" y="1558636"/>
                  <a:pt x="2407222" y="1558636"/>
                </a:cubicBezTo>
                <a:lnTo>
                  <a:pt x="103914" y="1558636"/>
                </a:lnTo>
                <a:cubicBezTo>
                  <a:pt x="46524" y="1558636"/>
                  <a:pt x="0" y="1512112"/>
                  <a:pt x="0" y="1454722"/>
                </a:cubicBezTo>
                <a:lnTo>
                  <a:pt x="0" y="103914"/>
                </a:lnTo>
                <a:cubicBezTo>
                  <a:pt x="0" y="46562"/>
                  <a:pt x="46562" y="0"/>
                  <a:pt x="1039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100000">
                <a:srgbClr val="4A90D9"/>
              </a:gs>
            </a:gsLst>
            <a:lin ang="2700000" scaled="1"/>
          </a:gradFill>
          <a:ln/>
        </p:spPr>
      </p:sp>
      <p:sp>
        <p:nvSpPr>
          <p:cNvPr id="14" name="Shape 11"/>
          <p:cNvSpPr/>
          <p:nvPr/>
        </p:nvSpPr>
        <p:spPr>
          <a:xfrm>
            <a:off x="1530494" y="4398818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207818" y="0"/>
                </a:moveTo>
                <a:lnTo>
                  <a:pt x="207818" y="0"/>
                </a:lnTo>
                <a:cubicBezTo>
                  <a:pt x="322516" y="0"/>
                  <a:pt x="415636" y="93120"/>
                  <a:pt x="415636" y="207818"/>
                </a:cubicBezTo>
                <a:lnTo>
                  <a:pt x="415636" y="207818"/>
                </a:lnTo>
                <a:cubicBezTo>
                  <a:pt x="415636" y="322516"/>
                  <a:pt x="322516" y="415636"/>
                  <a:pt x="207818" y="415636"/>
                </a:cubicBezTo>
                <a:lnTo>
                  <a:pt x="207818" y="415636"/>
                </a:lnTo>
                <a:cubicBezTo>
                  <a:pt x="93120" y="415636"/>
                  <a:pt x="0" y="322516"/>
                  <a:pt x="0" y="207818"/>
                </a:cubicBezTo>
                <a:lnTo>
                  <a:pt x="0" y="207818"/>
                </a:lnTo>
                <a:cubicBezTo>
                  <a:pt x="0" y="93120"/>
                  <a:pt x="93120" y="0"/>
                  <a:pt x="2078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660381" y="4502727"/>
            <a:ext cx="155864" cy="207818"/>
          </a:xfrm>
          <a:custGeom>
            <a:avLst/>
            <a:gdLst/>
            <a:ahLst/>
            <a:cxnLst/>
            <a:rect l="l" t="t" r="r" b="b"/>
            <a:pathLst>
              <a:path w="155864" h="207818">
                <a:moveTo>
                  <a:pt x="126396" y="12989"/>
                </a:moveTo>
                <a:lnTo>
                  <a:pt x="129886" y="12989"/>
                </a:lnTo>
                <a:cubicBezTo>
                  <a:pt x="144214" y="12989"/>
                  <a:pt x="155864" y="24638"/>
                  <a:pt x="155864" y="38966"/>
                </a:cubicBezTo>
                <a:lnTo>
                  <a:pt x="155864" y="181841"/>
                </a:lnTo>
                <a:cubicBezTo>
                  <a:pt x="155864" y="196169"/>
                  <a:pt x="144214" y="207818"/>
                  <a:pt x="129886" y="207818"/>
                </a:cubicBezTo>
                <a:lnTo>
                  <a:pt x="25977" y="207818"/>
                </a:lnTo>
                <a:cubicBezTo>
                  <a:pt x="11649" y="207818"/>
                  <a:pt x="0" y="196169"/>
                  <a:pt x="0" y="181841"/>
                </a:cubicBezTo>
                <a:lnTo>
                  <a:pt x="0" y="38966"/>
                </a:lnTo>
                <a:cubicBezTo>
                  <a:pt x="0" y="24638"/>
                  <a:pt x="11649" y="12989"/>
                  <a:pt x="25977" y="12989"/>
                </a:cubicBezTo>
                <a:lnTo>
                  <a:pt x="29468" y="12989"/>
                </a:lnTo>
                <a:cubicBezTo>
                  <a:pt x="33933" y="5236"/>
                  <a:pt x="42335" y="0"/>
                  <a:pt x="51955" y="0"/>
                </a:cubicBezTo>
                <a:lnTo>
                  <a:pt x="103909" y="0"/>
                </a:lnTo>
                <a:cubicBezTo>
                  <a:pt x="113529" y="0"/>
                  <a:pt x="121931" y="5236"/>
                  <a:pt x="126396" y="12989"/>
                </a:cubicBezTo>
                <a:close/>
                <a:moveTo>
                  <a:pt x="100662" y="45460"/>
                </a:moveTo>
                <a:cubicBezTo>
                  <a:pt x="106060" y="45460"/>
                  <a:pt x="110403" y="41117"/>
                  <a:pt x="110403" y="35719"/>
                </a:cubicBezTo>
                <a:cubicBezTo>
                  <a:pt x="110403" y="30320"/>
                  <a:pt x="106060" y="25977"/>
                  <a:pt x="100662" y="25977"/>
                </a:cubicBezTo>
                <a:lnTo>
                  <a:pt x="55202" y="25977"/>
                </a:lnTo>
                <a:cubicBezTo>
                  <a:pt x="49803" y="25977"/>
                  <a:pt x="45460" y="30320"/>
                  <a:pt x="45460" y="35719"/>
                </a:cubicBezTo>
                <a:cubicBezTo>
                  <a:pt x="45460" y="41117"/>
                  <a:pt x="49803" y="45460"/>
                  <a:pt x="55202" y="45460"/>
                </a:cubicBezTo>
                <a:lnTo>
                  <a:pt x="100662" y="45460"/>
                </a:lnTo>
                <a:close/>
                <a:moveTo>
                  <a:pt x="51955" y="103909"/>
                </a:moveTo>
                <a:cubicBezTo>
                  <a:pt x="51955" y="96740"/>
                  <a:pt x="46135" y="90920"/>
                  <a:pt x="38966" y="90920"/>
                </a:cubicBezTo>
                <a:cubicBezTo>
                  <a:pt x="31797" y="90920"/>
                  <a:pt x="25977" y="96740"/>
                  <a:pt x="25977" y="103909"/>
                </a:cubicBezTo>
                <a:cubicBezTo>
                  <a:pt x="25977" y="111078"/>
                  <a:pt x="31797" y="116898"/>
                  <a:pt x="38966" y="116898"/>
                </a:cubicBezTo>
                <a:cubicBezTo>
                  <a:pt x="46135" y="116898"/>
                  <a:pt x="51955" y="111078"/>
                  <a:pt x="51955" y="103909"/>
                </a:cubicBezTo>
                <a:close/>
                <a:moveTo>
                  <a:pt x="64943" y="103909"/>
                </a:moveTo>
                <a:cubicBezTo>
                  <a:pt x="64943" y="109307"/>
                  <a:pt x="69286" y="113651"/>
                  <a:pt x="74685" y="113651"/>
                </a:cubicBezTo>
                <a:lnTo>
                  <a:pt x="120145" y="113651"/>
                </a:lnTo>
                <a:cubicBezTo>
                  <a:pt x="125543" y="113651"/>
                  <a:pt x="129886" y="109307"/>
                  <a:pt x="129886" y="103909"/>
                </a:cubicBezTo>
                <a:cubicBezTo>
                  <a:pt x="129886" y="98511"/>
                  <a:pt x="125543" y="94168"/>
                  <a:pt x="120145" y="94168"/>
                </a:cubicBezTo>
                <a:lnTo>
                  <a:pt x="74685" y="94168"/>
                </a:lnTo>
                <a:cubicBezTo>
                  <a:pt x="69286" y="94168"/>
                  <a:pt x="64943" y="98511"/>
                  <a:pt x="64943" y="103909"/>
                </a:cubicBezTo>
                <a:close/>
                <a:moveTo>
                  <a:pt x="64943" y="155864"/>
                </a:moveTo>
                <a:cubicBezTo>
                  <a:pt x="64943" y="161262"/>
                  <a:pt x="69286" y="165605"/>
                  <a:pt x="74685" y="165605"/>
                </a:cubicBezTo>
                <a:lnTo>
                  <a:pt x="120145" y="165605"/>
                </a:lnTo>
                <a:cubicBezTo>
                  <a:pt x="125543" y="165605"/>
                  <a:pt x="129886" y="161262"/>
                  <a:pt x="129886" y="155864"/>
                </a:cubicBezTo>
                <a:cubicBezTo>
                  <a:pt x="129886" y="150465"/>
                  <a:pt x="125543" y="146122"/>
                  <a:pt x="120145" y="146122"/>
                </a:cubicBezTo>
                <a:lnTo>
                  <a:pt x="74685" y="146122"/>
                </a:lnTo>
                <a:cubicBezTo>
                  <a:pt x="69286" y="146122"/>
                  <a:pt x="64943" y="150465"/>
                  <a:pt x="64943" y="155864"/>
                </a:cubicBezTo>
                <a:close/>
                <a:moveTo>
                  <a:pt x="38966" y="168852"/>
                </a:moveTo>
                <a:cubicBezTo>
                  <a:pt x="46135" y="168852"/>
                  <a:pt x="51955" y="163032"/>
                  <a:pt x="51955" y="155864"/>
                </a:cubicBezTo>
                <a:cubicBezTo>
                  <a:pt x="51955" y="148695"/>
                  <a:pt x="46135" y="142875"/>
                  <a:pt x="38966" y="142875"/>
                </a:cubicBezTo>
                <a:cubicBezTo>
                  <a:pt x="31797" y="142875"/>
                  <a:pt x="25977" y="148695"/>
                  <a:pt x="25977" y="155864"/>
                </a:cubicBezTo>
                <a:cubicBezTo>
                  <a:pt x="25977" y="163032"/>
                  <a:pt x="31797" y="168852"/>
                  <a:pt x="38966" y="1688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49852" y="4883727"/>
            <a:ext cx="2381250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需求分析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8511" y="5160818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明确项目范围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8511" y="5368636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识别适用标准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8511" y="5576455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制定检测计划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086966" y="4970318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204003" y="113082"/>
                </a:moveTo>
                <a:cubicBezTo>
                  <a:pt x="209076" y="108009"/>
                  <a:pt x="209076" y="99769"/>
                  <a:pt x="204003" y="94695"/>
                </a:cubicBezTo>
                <a:lnTo>
                  <a:pt x="139060" y="29752"/>
                </a:lnTo>
                <a:cubicBezTo>
                  <a:pt x="133986" y="24678"/>
                  <a:pt x="125746" y="24678"/>
                  <a:pt x="120673" y="29752"/>
                </a:cubicBezTo>
                <a:cubicBezTo>
                  <a:pt x="115599" y="34826"/>
                  <a:pt x="115599" y="43065"/>
                  <a:pt x="120673" y="48139"/>
                </a:cubicBezTo>
                <a:lnTo>
                  <a:pt x="163454" y="90920"/>
                </a:lnTo>
                <a:lnTo>
                  <a:pt x="12989" y="90920"/>
                </a:lnTo>
                <a:cubicBezTo>
                  <a:pt x="5804" y="90920"/>
                  <a:pt x="0" y="96725"/>
                  <a:pt x="0" y="103909"/>
                </a:cubicBezTo>
                <a:cubicBezTo>
                  <a:pt x="0" y="111093"/>
                  <a:pt x="5804" y="116898"/>
                  <a:pt x="12989" y="116898"/>
                </a:cubicBezTo>
                <a:lnTo>
                  <a:pt x="163454" y="116898"/>
                </a:lnTo>
                <a:lnTo>
                  <a:pt x="120673" y="159679"/>
                </a:lnTo>
                <a:cubicBezTo>
                  <a:pt x="115599" y="164753"/>
                  <a:pt x="115599" y="172992"/>
                  <a:pt x="120673" y="178066"/>
                </a:cubicBezTo>
                <a:cubicBezTo>
                  <a:pt x="125746" y="183140"/>
                  <a:pt x="133986" y="183140"/>
                  <a:pt x="139060" y="178066"/>
                </a:cubicBezTo>
                <a:lnTo>
                  <a:pt x="204003" y="113123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1" name="Shape 18"/>
          <p:cNvSpPr/>
          <p:nvPr/>
        </p:nvSpPr>
        <p:spPr>
          <a:xfrm>
            <a:off x="3390034" y="4294909"/>
            <a:ext cx="2511136" cy="1558636"/>
          </a:xfrm>
          <a:custGeom>
            <a:avLst/>
            <a:gdLst/>
            <a:ahLst/>
            <a:cxnLst/>
            <a:rect l="l" t="t" r="r" b="b"/>
            <a:pathLst>
              <a:path w="2511136" h="1558636">
                <a:moveTo>
                  <a:pt x="103914" y="0"/>
                </a:moveTo>
                <a:lnTo>
                  <a:pt x="2407222" y="0"/>
                </a:lnTo>
                <a:cubicBezTo>
                  <a:pt x="2464612" y="0"/>
                  <a:pt x="2511136" y="46524"/>
                  <a:pt x="2511136" y="103914"/>
                </a:cubicBezTo>
                <a:lnTo>
                  <a:pt x="2511136" y="1454722"/>
                </a:lnTo>
                <a:cubicBezTo>
                  <a:pt x="2511136" y="1512112"/>
                  <a:pt x="2464612" y="1558636"/>
                  <a:pt x="2407222" y="1558636"/>
                </a:cubicBezTo>
                <a:lnTo>
                  <a:pt x="103914" y="1558636"/>
                </a:lnTo>
                <a:cubicBezTo>
                  <a:pt x="46524" y="1558636"/>
                  <a:pt x="0" y="1512112"/>
                  <a:pt x="0" y="1454722"/>
                </a:cubicBezTo>
                <a:lnTo>
                  <a:pt x="0" y="103914"/>
                </a:lnTo>
                <a:cubicBezTo>
                  <a:pt x="0" y="46562"/>
                  <a:pt x="46562" y="0"/>
                  <a:pt x="10391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D9"/>
              </a:gs>
              <a:gs pos="100000">
                <a:srgbClr val="1E5AA8"/>
              </a:gs>
            </a:gsLst>
            <a:lin ang="2700000" scaled="1"/>
          </a:gradFill>
          <a:ln/>
        </p:spPr>
      </p:sp>
      <p:sp>
        <p:nvSpPr>
          <p:cNvPr id="22" name="Shape 19"/>
          <p:cNvSpPr/>
          <p:nvPr/>
        </p:nvSpPr>
        <p:spPr>
          <a:xfrm>
            <a:off x="4435619" y="4398818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207818" y="0"/>
                </a:moveTo>
                <a:lnTo>
                  <a:pt x="207818" y="0"/>
                </a:lnTo>
                <a:cubicBezTo>
                  <a:pt x="322516" y="0"/>
                  <a:pt x="415636" y="93120"/>
                  <a:pt x="415636" y="207818"/>
                </a:cubicBezTo>
                <a:lnTo>
                  <a:pt x="415636" y="207818"/>
                </a:lnTo>
                <a:cubicBezTo>
                  <a:pt x="415636" y="322516"/>
                  <a:pt x="322516" y="415636"/>
                  <a:pt x="207818" y="415636"/>
                </a:cubicBezTo>
                <a:lnTo>
                  <a:pt x="207818" y="415636"/>
                </a:lnTo>
                <a:cubicBezTo>
                  <a:pt x="93120" y="415636"/>
                  <a:pt x="0" y="322516"/>
                  <a:pt x="0" y="207818"/>
                </a:cubicBezTo>
                <a:lnTo>
                  <a:pt x="0" y="207818"/>
                </a:lnTo>
                <a:cubicBezTo>
                  <a:pt x="0" y="93120"/>
                  <a:pt x="93120" y="0"/>
                  <a:pt x="2078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526540" y="4502727"/>
            <a:ext cx="233795" cy="207818"/>
          </a:xfrm>
          <a:custGeom>
            <a:avLst/>
            <a:gdLst/>
            <a:ahLst/>
            <a:cxnLst/>
            <a:rect l="l" t="t" r="r" b="b"/>
            <a:pathLst>
              <a:path w="233795" h="207818">
                <a:moveTo>
                  <a:pt x="90961" y="39412"/>
                </a:moveTo>
                <a:lnTo>
                  <a:pt x="90961" y="59545"/>
                </a:lnTo>
                <a:lnTo>
                  <a:pt x="91164" y="59748"/>
                </a:lnTo>
                <a:cubicBezTo>
                  <a:pt x="93802" y="26302"/>
                  <a:pt x="121768" y="0"/>
                  <a:pt x="155904" y="0"/>
                </a:cubicBezTo>
                <a:cubicBezTo>
                  <a:pt x="164063" y="0"/>
                  <a:pt x="171896" y="1502"/>
                  <a:pt x="179081" y="4262"/>
                </a:cubicBezTo>
                <a:cubicBezTo>
                  <a:pt x="183140" y="5804"/>
                  <a:pt x="183870" y="10959"/>
                  <a:pt x="180826" y="14044"/>
                </a:cubicBezTo>
                <a:lnTo>
                  <a:pt x="144823" y="50047"/>
                </a:lnTo>
                <a:cubicBezTo>
                  <a:pt x="143606" y="51265"/>
                  <a:pt x="142916" y="52929"/>
                  <a:pt x="142916" y="54633"/>
                </a:cubicBezTo>
                <a:lnTo>
                  <a:pt x="142916" y="71438"/>
                </a:lnTo>
                <a:cubicBezTo>
                  <a:pt x="142916" y="75009"/>
                  <a:pt x="145838" y="77932"/>
                  <a:pt x="149410" y="77932"/>
                </a:cubicBezTo>
                <a:lnTo>
                  <a:pt x="166214" y="77932"/>
                </a:lnTo>
                <a:cubicBezTo>
                  <a:pt x="167919" y="77932"/>
                  <a:pt x="169583" y="77242"/>
                  <a:pt x="170801" y="76024"/>
                </a:cubicBezTo>
                <a:lnTo>
                  <a:pt x="206803" y="40021"/>
                </a:lnTo>
                <a:cubicBezTo>
                  <a:pt x="209888" y="36936"/>
                  <a:pt x="215043" y="37708"/>
                  <a:pt x="216586" y="41767"/>
                </a:cubicBezTo>
                <a:cubicBezTo>
                  <a:pt x="219346" y="48951"/>
                  <a:pt x="220847" y="56785"/>
                  <a:pt x="220847" y="64943"/>
                </a:cubicBezTo>
                <a:cubicBezTo>
                  <a:pt x="220847" y="89540"/>
                  <a:pt x="207169" y="110972"/>
                  <a:pt x="186955" y="121971"/>
                </a:cubicBezTo>
                <a:lnTo>
                  <a:pt x="220036" y="155052"/>
                </a:lnTo>
                <a:cubicBezTo>
                  <a:pt x="227626" y="162642"/>
                  <a:pt x="227626" y="174981"/>
                  <a:pt x="220036" y="182612"/>
                </a:cubicBezTo>
                <a:lnTo>
                  <a:pt x="195641" y="207006"/>
                </a:lnTo>
                <a:cubicBezTo>
                  <a:pt x="188051" y="214597"/>
                  <a:pt x="175712" y="214597"/>
                  <a:pt x="168081" y="207006"/>
                </a:cubicBezTo>
                <a:lnTo>
                  <a:pt x="116938" y="155864"/>
                </a:lnTo>
                <a:cubicBezTo>
                  <a:pt x="105817" y="144742"/>
                  <a:pt x="103300" y="128303"/>
                  <a:pt x="109429" y="114746"/>
                </a:cubicBezTo>
                <a:lnTo>
                  <a:pt x="72615" y="77932"/>
                </a:lnTo>
                <a:lnTo>
                  <a:pt x="52482" y="77932"/>
                </a:lnTo>
                <a:cubicBezTo>
                  <a:pt x="48139" y="77932"/>
                  <a:pt x="44080" y="75781"/>
                  <a:pt x="41685" y="72168"/>
                </a:cubicBezTo>
                <a:lnTo>
                  <a:pt x="9498" y="23907"/>
                </a:lnTo>
                <a:cubicBezTo>
                  <a:pt x="7793" y="21350"/>
                  <a:pt x="8118" y="17900"/>
                  <a:pt x="10310" y="15708"/>
                </a:cubicBezTo>
                <a:lnTo>
                  <a:pt x="28737" y="-2719"/>
                </a:lnTo>
                <a:cubicBezTo>
                  <a:pt x="30929" y="-4911"/>
                  <a:pt x="34339" y="-5236"/>
                  <a:pt x="36936" y="-3531"/>
                </a:cubicBezTo>
                <a:lnTo>
                  <a:pt x="85197" y="28616"/>
                </a:lnTo>
                <a:cubicBezTo>
                  <a:pt x="88810" y="31010"/>
                  <a:pt x="90961" y="35069"/>
                  <a:pt x="90961" y="39412"/>
                </a:cubicBezTo>
                <a:close/>
                <a:moveTo>
                  <a:pt x="87511" y="120388"/>
                </a:moveTo>
                <a:cubicBezTo>
                  <a:pt x="84954" y="135407"/>
                  <a:pt x="88485" y="151277"/>
                  <a:pt x="98227" y="163982"/>
                </a:cubicBezTo>
                <a:lnTo>
                  <a:pt x="59667" y="202501"/>
                </a:lnTo>
                <a:cubicBezTo>
                  <a:pt x="48261" y="213907"/>
                  <a:pt x="29752" y="213907"/>
                  <a:pt x="18346" y="202501"/>
                </a:cubicBezTo>
                <a:cubicBezTo>
                  <a:pt x="6941" y="191095"/>
                  <a:pt x="6941" y="172587"/>
                  <a:pt x="18346" y="161181"/>
                </a:cubicBezTo>
                <a:lnTo>
                  <a:pt x="73305" y="106223"/>
                </a:lnTo>
                <a:lnTo>
                  <a:pt x="87511" y="12042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3454977" y="4883727"/>
            <a:ext cx="2381250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测试准备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463636" y="5160818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资料收集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463636" y="5368636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环境准备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463636" y="5576455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工具配置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92091" y="4970318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204003" y="113082"/>
                </a:moveTo>
                <a:cubicBezTo>
                  <a:pt x="209076" y="108009"/>
                  <a:pt x="209076" y="99769"/>
                  <a:pt x="204003" y="94695"/>
                </a:cubicBezTo>
                <a:lnTo>
                  <a:pt x="139060" y="29752"/>
                </a:lnTo>
                <a:cubicBezTo>
                  <a:pt x="133986" y="24678"/>
                  <a:pt x="125746" y="24678"/>
                  <a:pt x="120673" y="29752"/>
                </a:cubicBezTo>
                <a:cubicBezTo>
                  <a:pt x="115599" y="34826"/>
                  <a:pt x="115599" y="43065"/>
                  <a:pt x="120673" y="48139"/>
                </a:cubicBezTo>
                <a:lnTo>
                  <a:pt x="163454" y="90920"/>
                </a:lnTo>
                <a:lnTo>
                  <a:pt x="12989" y="90920"/>
                </a:lnTo>
                <a:cubicBezTo>
                  <a:pt x="5804" y="90920"/>
                  <a:pt x="0" y="96725"/>
                  <a:pt x="0" y="103909"/>
                </a:cubicBezTo>
                <a:cubicBezTo>
                  <a:pt x="0" y="111093"/>
                  <a:pt x="5804" y="116898"/>
                  <a:pt x="12989" y="116898"/>
                </a:cubicBezTo>
                <a:lnTo>
                  <a:pt x="163454" y="116898"/>
                </a:lnTo>
                <a:lnTo>
                  <a:pt x="120673" y="159679"/>
                </a:lnTo>
                <a:cubicBezTo>
                  <a:pt x="115599" y="164753"/>
                  <a:pt x="115599" y="172992"/>
                  <a:pt x="120673" y="178066"/>
                </a:cubicBezTo>
                <a:cubicBezTo>
                  <a:pt x="125746" y="183140"/>
                  <a:pt x="133986" y="183140"/>
                  <a:pt x="139060" y="178066"/>
                </a:cubicBezTo>
                <a:lnTo>
                  <a:pt x="204003" y="113123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9" name="Shape 26"/>
          <p:cNvSpPr/>
          <p:nvPr/>
        </p:nvSpPr>
        <p:spPr>
          <a:xfrm>
            <a:off x="6295159" y="4294909"/>
            <a:ext cx="2511136" cy="1558636"/>
          </a:xfrm>
          <a:custGeom>
            <a:avLst/>
            <a:gdLst/>
            <a:ahLst/>
            <a:cxnLst/>
            <a:rect l="l" t="t" r="r" b="b"/>
            <a:pathLst>
              <a:path w="2511136" h="1558636">
                <a:moveTo>
                  <a:pt x="103914" y="0"/>
                </a:moveTo>
                <a:lnTo>
                  <a:pt x="2407222" y="0"/>
                </a:lnTo>
                <a:cubicBezTo>
                  <a:pt x="2464612" y="0"/>
                  <a:pt x="2511136" y="46524"/>
                  <a:pt x="2511136" y="103914"/>
                </a:cubicBezTo>
                <a:lnTo>
                  <a:pt x="2511136" y="1454722"/>
                </a:lnTo>
                <a:cubicBezTo>
                  <a:pt x="2511136" y="1512112"/>
                  <a:pt x="2464612" y="1558636"/>
                  <a:pt x="2407222" y="1558636"/>
                </a:cubicBezTo>
                <a:lnTo>
                  <a:pt x="103914" y="1558636"/>
                </a:lnTo>
                <a:cubicBezTo>
                  <a:pt x="46524" y="1558636"/>
                  <a:pt x="0" y="1512112"/>
                  <a:pt x="0" y="1454722"/>
                </a:cubicBezTo>
                <a:lnTo>
                  <a:pt x="0" y="103914"/>
                </a:lnTo>
                <a:cubicBezTo>
                  <a:pt x="0" y="46562"/>
                  <a:pt x="46562" y="0"/>
                  <a:pt x="1039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100000">
                <a:srgbClr val="4A90D9"/>
              </a:gs>
            </a:gsLst>
            <a:lin ang="2700000" scaled="1"/>
          </a:gradFill>
          <a:ln/>
        </p:spPr>
      </p:sp>
      <p:sp>
        <p:nvSpPr>
          <p:cNvPr id="30" name="Shape 27"/>
          <p:cNvSpPr/>
          <p:nvPr/>
        </p:nvSpPr>
        <p:spPr>
          <a:xfrm>
            <a:off x="7340744" y="4398818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207818" y="0"/>
                </a:moveTo>
                <a:lnTo>
                  <a:pt x="207818" y="0"/>
                </a:lnTo>
                <a:cubicBezTo>
                  <a:pt x="322516" y="0"/>
                  <a:pt x="415636" y="93120"/>
                  <a:pt x="415636" y="207818"/>
                </a:cubicBezTo>
                <a:lnTo>
                  <a:pt x="415636" y="207818"/>
                </a:lnTo>
                <a:cubicBezTo>
                  <a:pt x="415636" y="322516"/>
                  <a:pt x="322516" y="415636"/>
                  <a:pt x="207818" y="415636"/>
                </a:cubicBezTo>
                <a:lnTo>
                  <a:pt x="207818" y="415636"/>
                </a:lnTo>
                <a:cubicBezTo>
                  <a:pt x="93120" y="415636"/>
                  <a:pt x="0" y="322516"/>
                  <a:pt x="0" y="207818"/>
                </a:cubicBezTo>
                <a:lnTo>
                  <a:pt x="0" y="207818"/>
                </a:lnTo>
                <a:cubicBezTo>
                  <a:pt x="0" y="93120"/>
                  <a:pt x="93120" y="0"/>
                  <a:pt x="2078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444653" y="4502727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0" y="103909"/>
                </a:moveTo>
                <a:cubicBezTo>
                  <a:pt x="0" y="46560"/>
                  <a:pt x="46560" y="0"/>
                  <a:pt x="103909" y="0"/>
                </a:cubicBezTo>
                <a:cubicBezTo>
                  <a:pt x="161258" y="0"/>
                  <a:pt x="207818" y="46560"/>
                  <a:pt x="207818" y="103909"/>
                </a:cubicBezTo>
                <a:cubicBezTo>
                  <a:pt x="207818" y="161258"/>
                  <a:pt x="161258" y="207818"/>
                  <a:pt x="103909" y="207818"/>
                </a:cubicBezTo>
                <a:cubicBezTo>
                  <a:pt x="46560" y="207818"/>
                  <a:pt x="0" y="161258"/>
                  <a:pt x="0" y="103909"/>
                </a:cubicBezTo>
                <a:close/>
                <a:moveTo>
                  <a:pt x="76430" y="59707"/>
                </a:moveTo>
                <a:cubicBezTo>
                  <a:pt x="73345" y="61412"/>
                  <a:pt x="71438" y="64700"/>
                  <a:pt x="71438" y="68190"/>
                </a:cubicBezTo>
                <a:lnTo>
                  <a:pt x="71438" y="139628"/>
                </a:lnTo>
                <a:cubicBezTo>
                  <a:pt x="71438" y="143159"/>
                  <a:pt x="73345" y="146406"/>
                  <a:pt x="76430" y="148111"/>
                </a:cubicBezTo>
                <a:cubicBezTo>
                  <a:pt x="79515" y="149816"/>
                  <a:pt x="83249" y="149775"/>
                  <a:pt x="86293" y="147908"/>
                </a:cubicBezTo>
                <a:lnTo>
                  <a:pt x="144742" y="112189"/>
                </a:lnTo>
                <a:cubicBezTo>
                  <a:pt x="147624" y="110403"/>
                  <a:pt x="149410" y="107278"/>
                  <a:pt x="149410" y="103869"/>
                </a:cubicBezTo>
                <a:cubicBezTo>
                  <a:pt x="149410" y="100459"/>
                  <a:pt x="147624" y="97334"/>
                  <a:pt x="144742" y="95548"/>
                </a:cubicBezTo>
                <a:lnTo>
                  <a:pt x="86293" y="59829"/>
                </a:lnTo>
                <a:cubicBezTo>
                  <a:pt x="83290" y="58002"/>
                  <a:pt x="79515" y="57921"/>
                  <a:pt x="76430" y="596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6360102" y="4883727"/>
            <a:ext cx="2381250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测试执行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68761" y="5160818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软件检测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68761" y="5368636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安全专项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68761" y="5576455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场地核验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897216" y="4970318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204003" y="113082"/>
                </a:moveTo>
                <a:cubicBezTo>
                  <a:pt x="209076" y="108009"/>
                  <a:pt x="209076" y="99769"/>
                  <a:pt x="204003" y="94695"/>
                </a:cubicBezTo>
                <a:lnTo>
                  <a:pt x="139060" y="29752"/>
                </a:lnTo>
                <a:cubicBezTo>
                  <a:pt x="133986" y="24678"/>
                  <a:pt x="125746" y="24678"/>
                  <a:pt x="120673" y="29752"/>
                </a:cubicBezTo>
                <a:cubicBezTo>
                  <a:pt x="115599" y="34826"/>
                  <a:pt x="115599" y="43065"/>
                  <a:pt x="120673" y="48139"/>
                </a:cubicBezTo>
                <a:lnTo>
                  <a:pt x="163454" y="90920"/>
                </a:lnTo>
                <a:lnTo>
                  <a:pt x="12989" y="90920"/>
                </a:lnTo>
                <a:cubicBezTo>
                  <a:pt x="5804" y="90920"/>
                  <a:pt x="0" y="96725"/>
                  <a:pt x="0" y="103909"/>
                </a:cubicBezTo>
                <a:cubicBezTo>
                  <a:pt x="0" y="111093"/>
                  <a:pt x="5804" y="116898"/>
                  <a:pt x="12989" y="116898"/>
                </a:cubicBezTo>
                <a:lnTo>
                  <a:pt x="163454" y="116898"/>
                </a:lnTo>
                <a:lnTo>
                  <a:pt x="120673" y="159679"/>
                </a:lnTo>
                <a:cubicBezTo>
                  <a:pt x="115599" y="164753"/>
                  <a:pt x="115599" y="172992"/>
                  <a:pt x="120673" y="178066"/>
                </a:cubicBezTo>
                <a:cubicBezTo>
                  <a:pt x="125746" y="183140"/>
                  <a:pt x="133986" y="183140"/>
                  <a:pt x="139060" y="178066"/>
                </a:cubicBezTo>
                <a:lnTo>
                  <a:pt x="204003" y="113123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37" name="Shape 34"/>
          <p:cNvSpPr/>
          <p:nvPr/>
        </p:nvSpPr>
        <p:spPr>
          <a:xfrm>
            <a:off x="9200284" y="4294909"/>
            <a:ext cx="2511136" cy="1558636"/>
          </a:xfrm>
          <a:custGeom>
            <a:avLst/>
            <a:gdLst/>
            <a:ahLst/>
            <a:cxnLst/>
            <a:rect l="l" t="t" r="r" b="b"/>
            <a:pathLst>
              <a:path w="2511136" h="1558636">
                <a:moveTo>
                  <a:pt x="103914" y="0"/>
                </a:moveTo>
                <a:lnTo>
                  <a:pt x="2407222" y="0"/>
                </a:lnTo>
                <a:cubicBezTo>
                  <a:pt x="2464612" y="0"/>
                  <a:pt x="2511136" y="46524"/>
                  <a:pt x="2511136" y="103914"/>
                </a:cubicBezTo>
                <a:lnTo>
                  <a:pt x="2511136" y="1454722"/>
                </a:lnTo>
                <a:cubicBezTo>
                  <a:pt x="2511136" y="1512112"/>
                  <a:pt x="2464612" y="1558636"/>
                  <a:pt x="2407222" y="1558636"/>
                </a:cubicBezTo>
                <a:lnTo>
                  <a:pt x="103914" y="1558636"/>
                </a:lnTo>
                <a:cubicBezTo>
                  <a:pt x="46524" y="1558636"/>
                  <a:pt x="0" y="1512112"/>
                  <a:pt x="0" y="1454722"/>
                </a:cubicBezTo>
                <a:lnTo>
                  <a:pt x="0" y="103914"/>
                </a:lnTo>
                <a:cubicBezTo>
                  <a:pt x="0" y="46562"/>
                  <a:pt x="46562" y="0"/>
                  <a:pt x="10391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90D9"/>
              </a:gs>
              <a:gs pos="100000">
                <a:srgbClr val="1E5AA8"/>
              </a:gs>
            </a:gsLst>
            <a:lin ang="2700000" scaled="1"/>
          </a:gradFill>
          <a:ln/>
        </p:spPr>
      </p:sp>
      <p:sp>
        <p:nvSpPr>
          <p:cNvPr id="38" name="Shape 35"/>
          <p:cNvSpPr/>
          <p:nvPr/>
        </p:nvSpPr>
        <p:spPr>
          <a:xfrm>
            <a:off x="10245869" y="4398818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207818" y="0"/>
                </a:moveTo>
                <a:lnTo>
                  <a:pt x="207818" y="0"/>
                </a:lnTo>
                <a:cubicBezTo>
                  <a:pt x="322516" y="0"/>
                  <a:pt x="415636" y="93120"/>
                  <a:pt x="415636" y="207818"/>
                </a:cubicBezTo>
                <a:lnTo>
                  <a:pt x="415636" y="207818"/>
                </a:lnTo>
                <a:cubicBezTo>
                  <a:pt x="415636" y="322516"/>
                  <a:pt x="322516" y="415636"/>
                  <a:pt x="207818" y="415636"/>
                </a:cubicBezTo>
                <a:lnTo>
                  <a:pt x="207818" y="415636"/>
                </a:lnTo>
                <a:cubicBezTo>
                  <a:pt x="93120" y="415636"/>
                  <a:pt x="0" y="322516"/>
                  <a:pt x="0" y="207818"/>
                </a:cubicBezTo>
                <a:lnTo>
                  <a:pt x="0" y="207818"/>
                </a:lnTo>
                <a:cubicBezTo>
                  <a:pt x="0" y="93120"/>
                  <a:pt x="93120" y="0"/>
                  <a:pt x="2078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0375756" y="4502727"/>
            <a:ext cx="155864" cy="207818"/>
          </a:xfrm>
          <a:custGeom>
            <a:avLst/>
            <a:gdLst/>
            <a:ahLst/>
            <a:cxnLst/>
            <a:rect l="l" t="t" r="r" b="b"/>
            <a:pathLst>
              <a:path w="155864" h="207818">
                <a:moveTo>
                  <a:pt x="0" y="25977"/>
                </a:moveTo>
                <a:cubicBezTo>
                  <a:pt x="0" y="11649"/>
                  <a:pt x="11649" y="0"/>
                  <a:pt x="25977" y="0"/>
                </a:cubicBezTo>
                <a:lnTo>
                  <a:pt x="86659" y="0"/>
                </a:lnTo>
                <a:cubicBezTo>
                  <a:pt x="93559" y="0"/>
                  <a:pt x="100175" y="2719"/>
                  <a:pt x="105046" y="7590"/>
                </a:cubicBezTo>
                <a:lnTo>
                  <a:pt x="148273" y="50859"/>
                </a:lnTo>
                <a:cubicBezTo>
                  <a:pt x="153144" y="55729"/>
                  <a:pt x="155864" y="62345"/>
                  <a:pt x="155864" y="69246"/>
                </a:cubicBezTo>
                <a:lnTo>
                  <a:pt x="155864" y="181841"/>
                </a:lnTo>
                <a:cubicBezTo>
                  <a:pt x="155864" y="196169"/>
                  <a:pt x="144214" y="207818"/>
                  <a:pt x="129886" y="207818"/>
                </a:cubicBezTo>
                <a:lnTo>
                  <a:pt x="25977" y="207818"/>
                </a:lnTo>
                <a:cubicBezTo>
                  <a:pt x="11649" y="207818"/>
                  <a:pt x="0" y="196169"/>
                  <a:pt x="0" y="181841"/>
                </a:cubicBezTo>
                <a:lnTo>
                  <a:pt x="0" y="25977"/>
                </a:lnTo>
                <a:close/>
                <a:moveTo>
                  <a:pt x="84426" y="23745"/>
                </a:moveTo>
                <a:lnTo>
                  <a:pt x="84426" y="61696"/>
                </a:lnTo>
                <a:cubicBezTo>
                  <a:pt x="84426" y="67094"/>
                  <a:pt x="88769" y="71438"/>
                  <a:pt x="94168" y="71438"/>
                </a:cubicBezTo>
                <a:lnTo>
                  <a:pt x="132119" y="71438"/>
                </a:lnTo>
                <a:lnTo>
                  <a:pt x="84426" y="23745"/>
                </a:lnTo>
                <a:close/>
                <a:moveTo>
                  <a:pt x="48707" y="103909"/>
                </a:moveTo>
                <a:cubicBezTo>
                  <a:pt x="43309" y="103909"/>
                  <a:pt x="38966" y="108252"/>
                  <a:pt x="38966" y="113651"/>
                </a:cubicBezTo>
                <a:cubicBezTo>
                  <a:pt x="38966" y="119049"/>
                  <a:pt x="43309" y="123392"/>
                  <a:pt x="48707" y="123392"/>
                </a:cubicBezTo>
                <a:lnTo>
                  <a:pt x="107156" y="123392"/>
                </a:lnTo>
                <a:cubicBezTo>
                  <a:pt x="112555" y="123392"/>
                  <a:pt x="116898" y="119049"/>
                  <a:pt x="116898" y="113651"/>
                </a:cubicBezTo>
                <a:cubicBezTo>
                  <a:pt x="116898" y="108252"/>
                  <a:pt x="112555" y="103909"/>
                  <a:pt x="107156" y="103909"/>
                </a:cubicBezTo>
                <a:lnTo>
                  <a:pt x="48707" y="103909"/>
                </a:lnTo>
                <a:close/>
                <a:moveTo>
                  <a:pt x="48707" y="142875"/>
                </a:moveTo>
                <a:cubicBezTo>
                  <a:pt x="43309" y="142875"/>
                  <a:pt x="38966" y="147218"/>
                  <a:pt x="38966" y="152616"/>
                </a:cubicBezTo>
                <a:cubicBezTo>
                  <a:pt x="38966" y="158015"/>
                  <a:pt x="43309" y="162358"/>
                  <a:pt x="48707" y="162358"/>
                </a:cubicBezTo>
                <a:lnTo>
                  <a:pt x="107156" y="162358"/>
                </a:lnTo>
                <a:cubicBezTo>
                  <a:pt x="112555" y="162358"/>
                  <a:pt x="116898" y="158015"/>
                  <a:pt x="116898" y="152616"/>
                </a:cubicBezTo>
                <a:cubicBezTo>
                  <a:pt x="116898" y="147218"/>
                  <a:pt x="112555" y="142875"/>
                  <a:pt x="107156" y="142875"/>
                </a:cubicBezTo>
                <a:lnTo>
                  <a:pt x="48707" y="1428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9265227" y="4883727"/>
            <a:ext cx="2381250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报告输出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273886" y="5160818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问题汇总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273886" y="5368636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整改建议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9273886" y="5576455"/>
            <a:ext cx="23639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55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复核支持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46364" y="6096000"/>
            <a:ext cx="11499273" cy="415636"/>
          </a:xfrm>
          <a:custGeom>
            <a:avLst/>
            <a:gdLst/>
            <a:ahLst/>
            <a:cxnLst/>
            <a:rect l="l" t="t" r="r" b="b"/>
            <a:pathLst>
              <a:path w="11499273" h="415636">
                <a:moveTo>
                  <a:pt x="103909" y="0"/>
                </a:moveTo>
                <a:lnTo>
                  <a:pt x="11395364" y="0"/>
                </a:lnTo>
                <a:cubicBezTo>
                  <a:pt x="11452751" y="0"/>
                  <a:pt x="11499273" y="46522"/>
                  <a:pt x="11499273" y="103909"/>
                </a:cubicBezTo>
                <a:lnTo>
                  <a:pt x="11499273" y="311727"/>
                </a:lnTo>
                <a:cubicBezTo>
                  <a:pt x="11499273" y="369115"/>
                  <a:pt x="11452751" y="415636"/>
                  <a:pt x="11395364" y="415636"/>
                </a:cubicBezTo>
                <a:lnTo>
                  <a:pt x="103909" y="415636"/>
                </a:lnTo>
                <a:cubicBezTo>
                  <a:pt x="46522" y="415636"/>
                  <a:pt x="0" y="369115"/>
                  <a:pt x="0" y="311727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100000">
                <a:srgbClr val="4A90D9"/>
              </a:gs>
            </a:gsLst>
            <a:lin ang="0" scaled="1"/>
          </a:gradFill>
          <a:ln/>
        </p:spPr>
      </p:sp>
      <p:sp>
        <p:nvSpPr>
          <p:cNvPr id="45" name="Shape 42"/>
          <p:cNvSpPr/>
          <p:nvPr/>
        </p:nvSpPr>
        <p:spPr>
          <a:xfrm>
            <a:off x="3801341" y="6217227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86591" y="173182"/>
                </a:moveTo>
                <a:cubicBezTo>
                  <a:pt x="134382" y="173182"/>
                  <a:pt x="173182" y="134382"/>
                  <a:pt x="173182" y="86591"/>
                </a:cubicBezTo>
                <a:cubicBezTo>
                  <a:pt x="173182" y="38800"/>
                  <a:pt x="134382" y="0"/>
                  <a:pt x="86591" y="0"/>
                </a:cubicBezTo>
                <a:cubicBezTo>
                  <a:pt x="38800" y="0"/>
                  <a:pt x="0" y="38800"/>
                  <a:pt x="0" y="86591"/>
                </a:cubicBezTo>
                <a:cubicBezTo>
                  <a:pt x="0" y="134382"/>
                  <a:pt x="38800" y="173182"/>
                  <a:pt x="86591" y="173182"/>
                </a:cubicBezTo>
                <a:close/>
                <a:moveTo>
                  <a:pt x="115139" y="71945"/>
                </a:moveTo>
                <a:lnTo>
                  <a:pt x="88079" y="115240"/>
                </a:lnTo>
                <a:cubicBezTo>
                  <a:pt x="86659" y="117507"/>
                  <a:pt x="84223" y="118927"/>
                  <a:pt x="81551" y="119063"/>
                </a:cubicBezTo>
                <a:cubicBezTo>
                  <a:pt x="78879" y="119198"/>
                  <a:pt x="76308" y="117980"/>
                  <a:pt x="74718" y="115815"/>
                </a:cubicBezTo>
                <a:lnTo>
                  <a:pt x="58483" y="94168"/>
                </a:lnTo>
                <a:cubicBezTo>
                  <a:pt x="55777" y="90582"/>
                  <a:pt x="56521" y="85509"/>
                  <a:pt x="60106" y="82803"/>
                </a:cubicBezTo>
                <a:cubicBezTo>
                  <a:pt x="63692" y="80097"/>
                  <a:pt x="68765" y="80841"/>
                  <a:pt x="71471" y="84426"/>
                </a:cubicBezTo>
                <a:lnTo>
                  <a:pt x="80604" y="96603"/>
                </a:lnTo>
                <a:lnTo>
                  <a:pt x="101372" y="63353"/>
                </a:lnTo>
                <a:cubicBezTo>
                  <a:pt x="103740" y="59565"/>
                  <a:pt x="108746" y="58381"/>
                  <a:pt x="112568" y="60783"/>
                </a:cubicBezTo>
                <a:cubicBezTo>
                  <a:pt x="116390" y="63184"/>
                  <a:pt x="117540" y="68157"/>
                  <a:pt x="115139" y="719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4065443" y="6199909"/>
            <a:ext cx="6234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依据明确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4827443" y="6199909"/>
            <a:ext cx="8659" cy="207818"/>
          </a:xfrm>
          <a:custGeom>
            <a:avLst/>
            <a:gdLst/>
            <a:ahLst/>
            <a:cxnLst/>
            <a:rect l="l" t="t" r="r" b="b"/>
            <a:pathLst>
              <a:path w="8659" h="207818">
                <a:moveTo>
                  <a:pt x="0" y="0"/>
                </a:moveTo>
                <a:lnTo>
                  <a:pt x="8659" y="0"/>
                </a:lnTo>
                <a:lnTo>
                  <a:pt x="8659" y="207818"/>
                </a:lnTo>
                <a:lnTo>
                  <a:pt x="0" y="2078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065568" y="6217227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86591" y="173182"/>
                </a:moveTo>
                <a:cubicBezTo>
                  <a:pt x="134382" y="173182"/>
                  <a:pt x="173182" y="134382"/>
                  <a:pt x="173182" y="86591"/>
                </a:cubicBezTo>
                <a:cubicBezTo>
                  <a:pt x="173182" y="38800"/>
                  <a:pt x="134382" y="0"/>
                  <a:pt x="86591" y="0"/>
                </a:cubicBezTo>
                <a:cubicBezTo>
                  <a:pt x="38800" y="0"/>
                  <a:pt x="0" y="38800"/>
                  <a:pt x="0" y="86591"/>
                </a:cubicBezTo>
                <a:cubicBezTo>
                  <a:pt x="0" y="134382"/>
                  <a:pt x="38800" y="173182"/>
                  <a:pt x="86591" y="173182"/>
                </a:cubicBezTo>
                <a:close/>
                <a:moveTo>
                  <a:pt x="115139" y="71945"/>
                </a:moveTo>
                <a:lnTo>
                  <a:pt x="88079" y="115240"/>
                </a:lnTo>
                <a:cubicBezTo>
                  <a:pt x="86659" y="117507"/>
                  <a:pt x="84223" y="118927"/>
                  <a:pt x="81551" y="119063"/>
                </a:cubicBezTo>
                <a:cubicBezTo>
                  <a:pt x="78879" y="119198"/>
                  <a:pt x="76308" y="117980"/>
                  <a:pt x="74718" y="115815"/>
                </a:cubicBezTo>
                <a:lnTo>
                  <a:pt x="58483" y="94168"/>
                </a:lnTo>
                <a:cubicBezTo>
                  <a:pt x="55777" y="90582"/>
                  <a:pt x="56521" y="85509"/>
                  <a:pt x="60106" y="82803"/>
                </a:cubicBezTo>
                <a:cubicBezTo>
                  <a:pt x="63692" y="80097"/>
                  <a:pt x="68765" y="80841"/>
                  <a:pt x="71471" y="84426"/>
                </a:cubicBezTo>
                <a:lnTo>
                  <a:pt x="80604" y="96603"/>
                </a:lnTo>
                <a:lnTo>
                  <a:pt x="101372" y="63353"/>
                </a:lnTo>
                <a:cubicBezTo>
                  <a:pt x="103740" y="59565"/>
                  <a:pt x="108746" y="58381"/>
                  <a:pt x="112568" y="60783"/>
                </a:cubicBezTo>
                <a:cubicBezTo>
                  <a:pt x="116390" y="63184"/>
                  <a:pt x="117540" y="68157"/>
                  <a:pt x="115139" y="719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5329670" y="6199909"/>
            <a:ext cx="6234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过程规范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091670" y="6199909"/>
            <a:ext cx="8659" cy="207818"/>
          </a:xfrm>
          <a:custGeom>
            <a:avLst/>
            <a:gdLst/>
            <a:ahLst/>
            <a:cxnLst/>
            <a:rect l="l" t="t" r="r" b="b"/>
            <a:pathLst>
              <a:path w="8659" h="207818">
                <a:moveTo>
                  <a:pt x="0" y="0"/>
                </a:moveTo>
                <a:lnTo>
                  <a:pt x="8659" y="0"/>
                </a:lnTo>
                <a:lnTo>
                  <a:pt x="8659" y="207818"/>
                </a:lnTo>
                <a:lnTo>
                  <a:pt x="0" y="2078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329795" y="6217227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86591" y="173182"/>
                </a:moveTo>
                <a:cubicBezTo>
                  <a:pt x="134382" y="173182"/>
                  <a:pt x="173182" y="134382"/>
                  <a:pt x="173182" y="86591"/>
                </a:cubicBezTo>
                <a:cubicBezTo>
                  <a:pt x="173182" y="38800"/>
                  <a:pt x="134382" y="0"/>
                  <a:pt x="86591" y="0"/>
                </a:cubicBezTo>
                <a:cubicBezTo>
                  <a:pt x="38800" y="0"/>
                  <a:pt x="0" y="38800"/>
                  <a:pt x="0" y="86591"/>
                </a:cubicBezTo>
                <a:cubicBezTo>
                  <a:pt x="0" y="134382"/>
                  <a:pt x="38800" y="173182"/>
                  <a:pt x="86591" y="173182"/>
                </a:cubicBezTo>
                <a:close/>
                <a:moveTo>
                  <a:pt x="115139" y="71945"/>
                </a:moveTo>
                <a:lnTo>
                  <a:pt x="88079" y="115240"/>
                </a:lnTo>
                <a:cubicBezTo>
                  <a:pt x="86659" y="117507"/>
                  <a:pt x="84223" y="118927"/>
                  <a:pt x="81551" y="119063"/>
                </a:cubicBezTo>
                <a:cubicBezTo>
                  <a:pt x="78879" y="119198"/>
                  <a:pt x="76308" y="117980"/>
                  <a:pt x="74718" y="115815"/>
                </a:cubicBezTo>
                <a:lnTo>
                  <a:pt x="58483" y="94168"/>
                </a:lnTo>
                <a:cubicBezTo>
                  <a:pt x="55777" y="90582"/>
                  <a:pt x="56521" y="85509"/>
                  <a:pt x="60106" y="82803"/>
                </a:cubicBezTo>
                <a:cubicBezTo>
                  <a:pt x="63692" y="80097"/>
                  <a:pt x="68765" y="80841"/>
                  <a:pt x="71471" y="84426"/>
                </a:cubicBezTo>
                <a:lnTo>
                  <a:pt x="80604" y="96603"/>
                </a:lnTo>
                <a:lnTo>
                  <a:pt x="101372" y="63353"/>
                </a:lnTo>
                <a:cubicBezTo>
                  <a:pt x="103740" y="59565"/>
                  <a:pt x="108746" y="58381"/>
                  <a:pt x="112568" y="60783"/>
                </a:cubicBezTo>
                <a:cubicBezTo>
                  <a:pt x="116390" y="63184"/>
                  <a:pt x="117540" y="68157"/>
                  <a:pt x="115139" y="719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2" name="Text 49"/>
          <p:cNvSpPr/>
          <p:nvPr/>
        </p:nvSpPr>
        <p:spPr>
          <a:xfrm>
            <a:off x="6593898" y="6199909"/>
            <a:ext cx="6234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结论可信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355898" y="6199909"/>
            <a:ext cx="8659" cy="207818"/>
          </a:xfrm>
          <a:custGeom>
            <a:avLst/>
            <a:gdLst/>
            <a:ahLst/>
            <a:cxnLst/>
            <a:rect l="l" t="t" r="r" b="b"/>
            <a:pathLst>
              <a:path w="8659" h="207818">
                <a:moveTo>
                  <a:pt x="0" y="0"/>
                </a:moveTo>
                <a:lnTo>
                  <a:pt x="8659" y="0"/>
                </a:lnTo>
                <a:lnTo>
                  <a:pt x="8659" y="207818"/>
                </a:lnTo>
                <a:lnTo>
                  <a:pt x="0" y="2078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594023" y="6217227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86591" y="173182"/>
                </a:moveTo>
                <a:cubicBezTo>
                  <a:pt x="134382" y="173182"/>
                  <a:pt x="173182" y="134382"/>
                  <a:pt x="173182" y="86591"/>
                </a:cubicBezTo>
                <a:cubicBezTo>
                  <a:pt x="173182" y="38800"/>
                  <a:pt x="134382" y="0"/>
                  <a:pt x="86591" y="0"/>
                </a:cubicBezTo>
                <a:cubicBezTo>
                  <a:pt x="38800" y="0"/>
                  <a:pt x="0" y="38800"/>
                  <a:pt x="0" y="86591"/>
                </a:cubicBezTo>
                <a:cubicBezTo>
                  <a:pt x="0" y="134382"/>
                  <a:pt x="38800" y="173182"/>
                  <a:pt x="86591" y="173182"/>
                </a:cubicBezTo>
                <a:close/>
                <a:moveTo>
                  <a:pt x="115139" y="71945"/>
                </a:moveTo>
                <a:lnTo>
                  <a:pt x="88079" y="115240"/>
                </a:lnTo>
                <a:cubicBezTo>
                  <a:pt x="86659" y="117507"/>
                  <a:pt x="84223" y="118927"/>
                  <a:pt x="81551" y="119063"/>
                </a:cubicBezTo>
                <a:cubicBezTo>
                  <a:pt x="78879" y="119198"/>
                  <a:pt x="76308" y="117980"/>
                  <a:pt x="74718" y="115815"/>
                </a:cubicBezTo>
                <a:lnTo>
                  <a:pt x="58483" y="94168"/>
                </a:lnTo>
                <a:cubicBezTo>
                  <a:pt x="55777" y="90582"/>
                  <a:pt x="56521" y="85509"/>
                  <a:pt x="60106" y="82803"/>
                </a:cubicBezTo>
                <a:cubicBezTo>
                  <a:pt x="63692" y="80097"/>
                  <a:pt x="68765" y="80841"/>
                  <a:pt x="71471" y="84426"/>
                </a:cubicBezTo>
                <a:lnTo>
                  <a:pt x="80604" y="96603"/>
                </a:lnTo>
                <a:lnTo>
                  <a:pt x="101372" y="63353"/>
                </a:lnTo>
                <a:cubicBezTo>
                  <a:pt x="103740" y="59565"/>
                  <a:pt x="108746" y="58381"/>
                  <a:pt x="112568" y="60783"/>
                </a:cubicBezTo>
                <a:cubicBezTo>
                  <a:pt x="116390" y="63184"/>
                  <a:pt x="117540" y="68157"/>
                  <a:pt x="115139" y="719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7858125" y="6199909"/>
            <a:ext cx="6234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交付完整</a:t>
            </a:r>
            <a:endParaRPr lang="en-US" sz="1600" dirty="0"/>
          </a:p>
        </p:txBody>
      </p:sp>
      <p:sp>
        <p:nvSpPr>
          <p:cNvPr id="61" name="CustomNav1">
            <a:extLst>
              <a:ext uri="{FF2B5EF4-FFF2-40B4-BE49-F238E27FC236}">
                <a16:creationId xmlns:a16="http://schemas.microsoft.com/office/drawing/2014/main" id="{469990FD-66CA-87A0-3477-FF3D8B4D7E20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CustomNav2">
            <a:extLst>
              <a:ext uri="{FF2B5EF4-FFF2-40B4-BE49-F238E27FC236}">
                <a16:creationId xmlns:a16="http://schemas.microsoft.com/office/drawing/2014/main" id="{30676B0D-D303-5B5D-F42D-9537069AB5AA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CustomNav3">
            <a:extLst>
              <a:ext uri="{FF2B5EF4-FFF2-40B4-BE49-F238E27FC236}">
                <a16:creationId xmlns:a16="http://schemas.microsoft.com/office/drawing/2014/main" id="{522A75FB-7489-6229-DB37-E8A518513109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CustomNav4">
            <a:extLst>
              <a:ext uri="{FF2B5EF4-FFF2-40B4-BE49-F238E27FC236}">
                <a16:creationId xmlns:a16="http://schemas.microsoft.com/office/drawing/2014/main" id="{DD9D1A1F-5C2F-B78F-C49D-624F75A5621C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CustomNav5">
            <a:extLst>
              <a:ext uri="{FF2B5EF4-FFF2-40B4-BE49-F238E27FC236}">
                <a16:creationId xmlns:a16="http://schemas.microsoft.com/office/drawing/2014/main" id="{45B258B6-8CBD-5994-15CD-16D328A6471E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57034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资质能力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33" name="CustomNav1">
            <a:extLst>
              <a:ext uri="{FF2B5EF4-FFF2-40B4-BE49-F238E27FC236}">
                <a16:creationId xmlns:a16="http://schemas.microsoft.com/office/drawing/2014/main" id="{6BB24929-EFBB-D616-7C7F-865740B406A5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CustomNav2">
            <a:extLst>
              <a:ext uri="{FF2B5EF4-FFF2-40B4-BE49-F238E27FC236}">
                <a16:creationId xmlns:a16="http://schemas.microsoft.com/office/drawing/2014/main" id="{E151637E-2F13-A8B2-9687-9CB17A878164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CustomNav3">
            <a:extLst>
              <a:ext uri="{FF2B5EF4-FFF2-40B4-BE49-F238E27FC236}">
                <a16:creationId xmlns:a16="http://schemas.microsoft.com/office/drawing/2014/main" id="{C2AE18AF-C6D8-9C1D-88FD-BEEDCEB02D75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CustomNav4">
            <a:extLst>
              <a:ext uri="{FF2B5EF4-FFF2-40B4-BE49-F238E27FC236}">
                <a16:creationId xmlns:a16="http://schemas.microsoft.com/office/drawing/2014/main" id="{7802E04C-8F78-5D86-AF88-A1F6BA7FFB5F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CustomNav5">
            <a:extLst>
              <a:ext uri="{FF2B5EF4-FFF2-40B4-BE49-F238E27FC236}">
                <a16:creationId xmlns:a16="http://schemas.microsoft.com/office/drawing/2014/main" id="{A80D99B0-09A6-D362-AF6A-2284C67B05C9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94C3B66-3C37-1775-47F0-879411B7F4BA}"/>
              </a:ext>
            </a:extLst>
          </p:cNvPr>
          <p:cNvSpPr/>
          <p:nvPr/>
        </p:nvSpPr>
        <p:spPr>
          <a:xfrm>
            <a:off x="381000" y="1168400"/>
            <a:ext cx="11430000" cy="685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6971006-9802-699B-A42A-4F1A9576EEF6}"/>
              </a:ext>
            </a:extLst>
          </p:cNvPr>
          <p:cNvSpPr txBox="1"/>
          <p:nvPr/>
        </p:nvSpPr>
        <p:spPr>
          <a:xfrm>
            <a:off x="609600" y="1346200"/>
            <a:ext cx="1104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dirty="0">
                <a:solidFill>
                  <a:srgbClr val="0E6EB8"/>
                </a:solidFill>
                <a:latin typeface="Microsoft YaHei" panose="020B0503020204020204" pitchFamily="34" charset="-122"/>
              </a:rPr>
              <a:t>重点展示检验检测机构资质认定（</a:t>
            </a:r>
            <a:r>
              <a:rPr lang="en-US" altLang="zh-CN" sz="1300" dirty="0">
                <a:solidFill>
                  <a:srgbClr val="0E6EB8"/>
                </a:solidFill>
                <a:latin typeface="Microsoft YaHei" panose="020B0503020204020204" pitchFamily="34" charset="-122"/>
              </a:rPr>
              <a:t>CMA</a:t>
            </a:r>
            <a:r>
              <a:rPr lang="zh-CN" altLang="en-US" sz="1300">
                <a:solidFill>
                  <a:srgbClr val="0E6EB8"/>
                </a:solidFill>
                <a:latin typeface="Microsoft YaHei" panose="020B0503020204020204" pitchFamily="34" charset="-122"/>
              </a:rPr>
              <a:t>）资质证书</a:t>
            </a:r>
            <a:endParaRPr lang="zh-Hans-HK" altLang="en-US" sz="1300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52DAE67-2AB5-9DE1-3E5B-3A72AF0032A0}"/>
              </a:ext>
            </a:extLst>
          </p:cNvPr>
          <p:cNvSpPr/>
          <p:nvPr/>
        </p:nvSpPr>
        <p:spPr>
          <a:xfrm>
            <a:off x="533400" y="2260600"/>
            <a:ext cx="3429000" cy="271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D1B4D72-C593-CF9A-7E33-1C8C46BC348E}"/>
              </a:ext>
            </a:extLst>
          </p:cNvPr>
          <p:cNvSpPr/>
          <p:nvPr/>
        </p:nvSpPr>
        <p:spPr>
          <a:xfrm>
            <a:off x="762000" y="4470400"/>
            <a:ext cx="2971800" cy="3302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CC34825-B15B-9790-4327-A0297CD1FE2B}"/>
              </a:ext>
            </a:extLst>
          </p:cNvPr>
          <p:cNvSpPr txBox="1"/>
          <p:nvPr/>
        </p:nvSpPr>
        <p:spPr>
          <a:xfrm>
            <a:off x="863600" y="4546600"/>
            <a:ext cx="2768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 b="1">
                <a:solidFill>
                  <a:srgbClr val="0E6EB8"/>
                </a:solidFill>
                <a:latin typeface="Microsoft YaHei" panose="020B0503020204020204" pitchFamily="34" charset="-122"/>
              </a:rPr>
              <a:t>资质认定计量认证证书附表</a:t>
            </a:r>
            <a:endParaRPr lang="zh-Hans-HK" altLang="en-US" sz="105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D0FF6E95-9A5B-B7DD-4CF5-F2B77805DC20}"/>
              </a:ext>
            </a:extLst>
          </p:cNvPr>
          <p:cNvSpPr/>
          <p:nvPr/>
        </p:nvSpPr>
        <p:spPr>
          <a:xfrm>
            <a:off x="4343400" y="2260600"/>
            <a:ext cx="3429000" cy="271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73BE2E8-B313-678A-F165-556F638EEFD5}"/>
              </a:ext>
            </a:extLst>
          </p:cNvPr>
          <p:cNvSpPr/>
          <p:nvPr/>
        </p:nvSpPr>
        <p:spPr>
          <a:xfrm>
            <a:off x="4572000" y="4470400"/>
            <a:ext cx="2971800" cy="3302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4ABB4F7-E87D-FDDD-1A32-68226AB997E1}"/>
              </a:ext>
            </a:extLst>
          </p:cNvPr>
          <p:cNvSpPr txBox="1"/>
          <p:nvPr/>
        </p:nvSpPr>
        <p:spPr>
          <a:xfrm>
            <a:off x="4673600" y="4546600"/>
            <a:ext cx="2768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 b="1">
                <a:solidFill>
                  <a:srgbClr val="0E6EB8"/>
                </a:solidFill>
                <a:latin typeface="Microsoft YaHei" panose="020B0503020204020204" pitchFamily="34" charset="-122"/>
              </a:rPr>
              <a:t>检验检测机构资质认定证书（</a:t>
            </a:r>
            <a:r>
              <a:rPr lang="en-US" altLang="zh-CN" sz="1050" b="1">
                <a:solidFill>
                  <a:srgbClr val="0E6EB8"/>
                </a:solidFill>
                <a:latin typeface="Microsoft YaHei" panose="020B0503020204020204" pitchFamily="34" charset="-122"/>
              </a:rPr>
              <a:t>CMA</a:t>
            </a:r>
            <a:r>
              <a:rPr lang="zh-CN" altLang="en-US" sz="1050" b="1">
                <a:solidFill>
                  <a:srgbClr val="0E6EB8"/>
                </a:solidFill>
                <a:latin typeface="Microsoft YaHei" panose="020B0503020204020204" pitchFamily="34" charset="-122"/>
              </a:rPr>
              <a:t>）</a:t>
            </a:r>
            <a:endParaRPr lang="zh-Hans-HK" altLang="en-US" sz="105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FAE8AF6-8744-E993-B709-94BB55F603E8}"/>
              </a:ext>
            </a:extLst>
          </p:cNvPr>
          <p:cNvSpPr/>
          <p:nvPr/>
        </p:nvSpPr>
        <p:spPr>
          <a:xfrm>
            <a:off x="8153400" y="2260600"/>
            <a:ext cx="3429000" cy="271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9362CE3-EEB4-0442-8BAC-E4FAE2850B29}"/>
              </a:ext>
            </a:extLst>
          </p:cNvPr>
          <p:cNvSpPr txBox="1"/>
          <p:nvPr/>
        </p:nvSpPr>
        <p:spPr>
          <a:xfrm>
            <a:off x="8686800" y="3276600"/>
            <a:ext cx="2362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预留后续补充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8EB4092-228C-7365-746F-6FE6925F3366}"/>
              </a:ext>
            </a:extLst>
          </p:cNvPr>
          <p:cNvSpPr/>
          <p:nvPr/>
        </p:nvSpPr>
        <p:spPr>
          <a:xfrm>
            <a:off x="8382000" y="4470400"/>
            <a:ext cx="2971800" cy="3302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FFBE686-9254-88EE-2CF3-946456F9C846}"/>
              </a:ext>
            </a:extLst>
          </p:cNvPr>
          <p:cNvSpPr txBox="1"/>
          <p:nvPr/>
        </p:nvSpPr>
        <p:spPr>
          <a:xfrm>
            <a:off x="8483600" y="4546600"/>
            <a:ext cx="2768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 b="1">
                <a:solidFill>
                  <a:srgbClr val="0E6EB8"/>
                </a:solidFill>
                <a:latin typeface="Microsoft YaHei" panose="020B0503020204020204" pitchFamily="34" charset="-122"/>
              </a:rPr>
              <a:t>证书栏位预留</a:t>
            </a:r>
            <a:endParaRPr lang="zh-Hans-HK" altLang="en-US" sz="105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2F42E876-731B-48FB-DA3B-2840015270BC}"/>
              </a:ext>
            </a:extLst>
          </p:cNvPr>
          <p:cNvSpPr/>
          <p:nvPr/>
        </p:nvSpPr>
        <p:spPr>
          <a:xfrm>
            <a:off x="533400" y="5435600"/>
            <a:ext cx="3479800" cy="431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B0E2957C-27EB-8DE9-F4C2-364BA4CFDA0E}"/>
              </a:ext>
            </a:extLst>
          </p:cNvPr>
          <p:cNvSpPr/>
          <p:nvPr/>
        </p:nvSpPr>
        <p:spPr>
          <a:xfrm>
            <a:off x="685800" y="5562600"/>
            <a:ext cx="139700" cy="139700"/>
          </a:xfrm>
          <a:prstGeom prst="ellipse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8015D80-F8DA-1A65-2F39-54691B53F37E}"/>
              </a:ext>
            </a:extLst>
          </p:cNvPr>
          <p:cNvSpPr txBox="1"/>
          <p:nvPr/>
        </p:nvSpPr>
        <p:spPr>
          <a:xfrm>
            <a:off x="939800" y="55245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证书 </a:t>
            </a:r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：资质认定计量认证证书附表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AC288A0E-4266-39F6-FA3E-C30EC9DE72CD}"/>
              </a:ext>
            </a:extLst>
          </p:cNvPr>
          <p:cNvSpPr/>
          <p:nvPr/>
        </p:nvSpPr>
        <p:spPr>
          <a:xfrm>
            <a:off x="4343400" y="5435600"/>
            <a:ext cx="3479800" cy="431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CBEA0916-C296-AB9E-8779-E2C21C3D58D4}"/>
              </a:ext>
            </a:extLst>
          </p:cNvPr>
          <p:cNvSpPr/>
          <p:nvPr/>
        </p:nvSpPr>
        <p:spPr>
          <a:xfrm>
            <a:off x="4495800" y="5562600"/>
            <a:ext cx="139700" cy="139700"/>
          </a:xfrm>
          <a:prstGeom prst="ellipse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0A49595-8395-070E-EBA7-30CE14C4F68A}"/>
              </a:ext>
            </a:extLst>
          </p:cNvPr>
          <p:cNvSpPr txBox="1"/>
          <p:nvPr/>
        </p:nvSpPr>
        <p:spPr>
          <a:xfrm>
            <a:off x="4749800" y="55245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证书 </a:t>
            </a:r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CMA 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证书编号 </a:t>
            </a:r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202319017339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DEA8A39-CD88-D6B4-FB18-43A0D09DA282}"/>
              </a:ext>
            </a:extLst>
          </p:cNvPr>
          <p:cNvSpPr/>
          <p:nvPr/>
        </p:nvSpPr>
        <p:spPr>
          <a:xfrm>
            <a:off x="8153400" y="5435600"/>
            <a:ext cx="3479800" cy="431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45234666-AC58-BA5B-2F93-56CDE1AC299B}"/>
              </a:ext>
            </a:extLst>
          </p:cNvPr>
          <p:cNvSpPr/>
          <p:nvPr/>
        </p:nvSpPr>
        <p:spPr>
          <a:xfrm>
            <a:off x="8305800" y="5562600"/>
            <a:ext cx="139700" cy="139700"/>
          </a:xfrm>
          <a:prstGeom prst="ellipse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BC87734-F925-AAC0-F95D-82D2E87A700C}"/>
              </a:ext>
            </a:extLst>
          </p:cNvPr>
          <p:cNvSpPr txBox="1"/>
          <p:nvPr/>
        </p:nvSpPr>
        <p:spPr>
          <a:xfrm>
            <a:off x="8559800" y="55245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证书 </a:t>
            </a:r>
            <a:r>
              <a:rPr lang="en-US" altLang="zh-CN" sz="1150">
                <a:solidFill>
                  <a:srgbClr val="505050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：预留补充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22FAF5-5BB1-208E-CB57-0662F98CC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2489200"/>
            <a:ext cx="1311740" cy="1854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09E7534-4495-01F5-517F-36D498F24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137563" y="2727708"/>
            <a:ext cx="1891472" cy="1339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393423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计算机场地测评标准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35" name="CustomNav1">
            <a:extLst>
              <a:ext uri="{FF2B5EF4-FFF2-40B4-BE49-F238E27FC236}">
                <a16:creationId xmlns:a16="http://schemas.microsoft.com/office/drawing/2014/main" id="{B6B49DF2-4405-A73D-7DD0-1FEE658A19C6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CustomNav2">
            <a:extLst>
              <a:ext uri="{FF2B5EF4-FFF2-40B4-BE49-F238E27FC236}">
                <a16:creationId xmlns:a16="http://schemas.microsoft.com/office/drawing/2014/main" id="{A3F4732A-2746-8191-C3D4-3167A57EC5BA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CustomNav3">
            <a:extLst>
              <a:ext uri="{FF2B5EF4-FFF2-40B4-BE49-F238E27FC236}">
                <a16:creationId xmlns:a16="http://schemas.microsoft.com/office/drawing/2014/main" id="{1F1D8C68-8AE1-121C-D248-9B997763B864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CustomNav4">
            <a:extLst>
              <a:ext uri="{FF2B5EF4-FFF2-40B4-BE49-F238E27FC236}">
                <a16:creationId xmlns:a16="http://schemas.microsoft.com/office/drawing/2014/main" id="{64919EEC-62CA-3E6A-98BB-D89DBF7DF504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CustomNav5">
            <a:extLst>
              <a:ext uri="{FF2B5EF4-FFF2-40B4-BE49-F238E27FC236}">
                <a16:creationId xmlns:a16="http://schemas.microsoft.com/office/drawing/2014/main" id="{0850F5ED-CA2A-9E68-BB82-50881BB2F935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55A800A-B05D-BE2B-03AC-5B49B212254F}"/>
              </a:ext>
            </a:extLst>
          </p:cNvPr>
          <p:cNvSpPr/>
          <p:nvPr/>
        </p:nvSpPr>
        <p:spPr>
          <a:xfrm>
            <a:off x="381000" y="1168400"/>
            <a:ext cx="11430000" cy="685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ED06999-5BC4-4021-76AE-908CBB6073FB}"/>
              </a:ext>
            </a:extLst>
          </p:cNvPr>
          <p:cNvSpPr txBox="1"/>
          <p:nvPr/>
        </p:nvSpPr>
        <p:spPr>
          <a:xfrm>
            <a:off x="609600" y="1346200"/>
            <a:ext cx="1092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0E6EB8"/>
                </a:solidFill>
                <a:latin typeface="Microsoft YaHei" panose="020B0503020204020204" pitchFamily="34" charset="-122"/>
              </a:rPr>
              <a:t>围绕机房环境、电气安全、接地、防雷、照明与温湿度等要素开展标准化核验。</a:t>
            </a:r>
            <a:endParaRPr lang="zh-Hans-HK" altLang="en-US" sz="130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59B3035-B3CB-DDF4-76A9-FB495515D50A}"/>
              </a:ext>
            </a:extLst>
          </p:cNvPr>
          <p:cNvSpPr/>
          <p:nvPr/>
        </p:nvSpPr>
        <p:spPr>
          <a:xfrm>
            <a:off x="533400" y="2082800"/>
            <a:ext cx="50800" cy="228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F3E97C2-8537-6968-D980-FECA6F1AF110}"/>
              </a:ext>
            </a:extLst>
          </p:cNvPr>
          <p:cNvSpPr txBox="1"/>
          <p:nvPr/>
        </p:nvSpPr>
        <p:spPr>
          <a:xfrm>
            <a:off x="660400" y="20066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核心标准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26AA74C-61D9-D2B8-4829-276B81D3EBB2}"/>
              </a:ext>
            </a:extLst>
          </p:cNvPr>
          <p:cNvSpPr/>
          <p:nvPr/>
        </p:nvSpPr>
        <p:spPr>
          <a:xfrm>
            <a:off x="6350000" y="2082800"/>
            <a:ext cx="50800" cy="228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1598865-7D81-28AE-4560-5017D79A41A8}"/>
              </a:ext>
            </a:extLst>
          </p:cNvPr>
          <p:cNvSpPr txBox="1"/>
          <p:nvPr/>
        </p:nvSpPr>
        <p:spPr>
          <a:xfrm>
            <a:off x="6477000" y="2006600"/>
            <a:ext cx="215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核验维度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4539030-4E60-87A2-30D5-15EC983BABD3}"/>
              </a:ext>
            </a:extLst>
          </p:cNvPr>
          <p:cNvSpPr/>
          <p:nvPr/>
        </p:nvSpPr>
        <p:spPr>
          <a:xfrm>
            <a:off x="508000" y="2413000"/>
            <a:ext cx="5207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FFFAC1B-212A-669C-AC76-934FF34C3137}"/>
              </a:ext>
            </a:extLst>
          </p:cNvPr>
          <p:cNvSpPr/>
          <p:nvPr/>
        </p:nvSpPr>
        <p:spPr>
          <a:xfrm>
            <a:off x="685800" y="2641600"/>
            <a:ext cx="50800" cy="609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3554942-93DD-6A7D-209F-F796E0411EEB}"/>
              </a:ext>
            </a:extLst>
          </p:cNvPr>
          <p:cNvSpPr txBox="1"/>
          <p:nvPr/>
        </p:nvSpPr>
        <p:spPr>
          <a:xfrm>
            <a:off x="863600" y="2590800"/>
            <a:ext cx="4673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Hans-HK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GB 50174-2017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62DAB24-E5C0-3CA2-3B18-D92154C1F5B6}"/>
              </a:ext>
            </a:extLst>
          </p:cNvPr>
          <p:cNvSpPr txBox="1"/>
          <p:nvPr/>
        </p:nvSpPr>
        <p:spPr>
          <a:xfrm>
            <a:off x="863600" y="2921000"/>
            <a:ext cx="4673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数据中心设计规范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937C55F-58BB-79ED-89EC-4D13DF570F12}"/>
              </a:ext>
            </a:extLst>
          </p:cNvPr>
          <p:cNvSpPr txBox="1"/>
          <p:nvPr/>
        </p:nvSpPr>
        <p:spPr>
          <a:xfrm>
            <a:off x="863600" y="3200400"/>
            <a:ext cx="46736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777777"/>
                </a:solidFill>
                <a:latin typeface="Microsoft YaHei" panose="020B0503020204020204" pitchFamily="34" charset="-122"/>
              </a:rPr>
              <a:t>用于数据中心建筑、电气、环境等设计与核验参考。</a:t>
            </a:r>
            <a:endParaRPr lang="zh-Hans-HK" altLang="en-US" sz="102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B7ABF7AD-BE7D-BB57-F65A-1EA0943BC5FC}"/>
              </a:ext>
            </a:extLst>
          </p:cNvPr>
          <p:cNvSpPr/>
          <p:nvPr/>
        </p:nvSpPr>
        <p:spPr>
          <a:xfrm>
            <a:off x="508000" y="3886200"/>
            <a:ext cx="5207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92DAC4B-F244-2B75-104B-B694A627CF04}"/>
              </a:ext>
            </a:extLst>
          </p:cNvPr>
          <p:cNvSpPr/>
          <p:nvPr/>
        </p:nvSpPr>
        <p:spPr>
          <a:xfrm>
            <a:off x="685800" y="4114800"/>
            <a:ext cx="50800" cy="609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2562B56-DED8-DE91-EC1C-9E263D8AE92D}"/>
              </a:ext>
            </a:extLst>
          </p:cNvPr>
          <p:cNvSpPr txBox="1"/>
          <p:nvPr/>
        </p:nvSpPr>
        <p:spPr>
          <a:xfrm>
            <a:off x="863600" y="4064000"/>
            <a:ext cx="4673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Hans-HK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GB/T 2887-2011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9D4D006-C108-AD36-940A-D1E91C32D0D2}"/>
              </a:ext>
            </a:extLst>
          </p:cNvPr>
          <p:cNvSpPr txBox="1"/>
          <p:nvPr/>
        </p:nvSpPr>
        <p:spPr>
          <a:xfrm>
            <a:off x="863600" y="4394200"/>
            <a:ext cx="4673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计算机场地通用规范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72338ED-DE15-77F2-8590-BD977EACB2A4}"/>
              </a:ext>
            </a:extLst>
          </p:cNvPr>
          <p:cNvSpPr txBox="1"/>
          <p:nvPr/>
        </p:nvSpPr>
        <p:spPr>
          <a:xfrm>
            <a:off x="863600" y="4673600"/>
            <a:ext cx="46736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777777"/>
                </a:solidFill>
                <a:latin typeface="Microsoft YaHei" panose="020B0503020204020204" pitchFamily="34" charset="-122"/>
              </a:rPr>
              <a:t>用于场地条件、环境控制与基础设施通用要求核验。</a:t>
            </a:r>
            <a:endParaRPr lang="zh-Hans-HK" altLang="en-US" sz="102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172764C-0A35-5249-0775-4A72C95315C1}"/>
              </a:ext>
            </a:extLst>
          </p:cNvPr>
          <p:cNvSpPr/>
          <p:nvPr/>
        </p:nvSpPr>
        <p:spPr>
          <a:xfrm>
            <a:off x="508000" y="5359400"/>
            <a:ext cx="5207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8EDCFAE-7B0F-D764-D176-E41B79BF1C6D}"/>
              </a:ext>
            </a:extLst>
          </p:cNvPr>
          <p:cNvSpPr/>
          <p:nvPr/>
        </p:nvSpPr>
        <p:spPr>
          <a:xfrm>
            <a:off x="685800" y="5588000"/>
            <a:ext cx="50800" cy="609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4440359-0E34-FCD4-33BA-C1DAB588272D}"/>
              </a:ext>
            </a:extLst>
          </p:cNvPr>
          <p:cNvSpPr txBox="1"/>
          <p:nvPr/>
        </p:nvSpPr>
        <p:spPr>
          <a:xfrm>
            <a:off x="863600" y="5537200"/>
            <a:ext cx="4673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Hans-HK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GB/T 27025-2019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9D44F31-F3DF-1089-D0E7-FA6EBA6BDE41}"/>
              </a:ext>
            </a:extLst>
          </p:cNvPr>
          <p:cNvSpPr txBox="1"/>
          <p:nvPr/>
        </p:nvSpPr>
        <p:spPr>
          <a:xfrm>
            <a:off x="863600" y="5867400"/>
            <a:ext cx="4673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检测和校准实验室能力的通用要求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9975532-412A-009A-72C4-1A8FD7C0B4F5}"/>
              </a:ext>
            </a:extLst>
          </p:cNvPr>
          <p:cNvSpPr txBox="1"/>
          <p:nvPr/>
        </p:nvSpPr>
        <p:spPr>
          <a:xfrm>
            <a:off x="863600" y="6146800"/>
            <a:ext cx="46736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777777"/>
                </a:solidFill>
                <a:latin typeface="Microsoft YaHei" panose="020B0503020204020204" pitchFamily="34" charset="-122"/>
              </a:rPr>
              <a:t>用于实验室能力、过程控制、结果有效性和质量管理要求参考。</a:t>
            </a:r>
            <a:endParaRPr lang="zh-Hans-HK" altLang="en-US" sz="102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10B80A66-A9F0-05A4-A261-DA65D4587BB7}"/>
              </a:ext>
            </a:extLst>
          </p:cNvPr>
          <p:cNvSpPr/>
          <p:nvPr/>
        </p:nvSpPr>
        <p:spPr>
          <a:xfrm>
            <a:off x="6324600" y="2413000"/>
            <a:ext cx="25400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3EB64FA-CDD3-2960-2885-545AD4D3AE58}"/>
              </a:ext>
            </a:extLst>
          </p:cNvPr>
          <p:cNvSpPr/>
          <p:nvPr/>
        </p:nvSpPr>
        <p:spPr>
          <a:xfrm>
            <a:off x="6324600" y="2413000"/>
            <a:ext cx="25400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EB3BD0A-C572-8B9C-2CD3-F55852E034F9}"/>
              </a:ext>
            </a:extLst>
          </p:cNvPr>
          <p:cNvSpPr txBox="1"/>
          <p:nvPr/>
        </p:nvSpPr>
        <p:spPr>
          <a:xfrm>
            <a:off x="6477000" y="2489200"/>
            <a:ext cx="22352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</a:rPr>
              <a:t>机房环境条件</a:t>
            </a:r>
            <a:endParaRPr lang="zh-Hans-HK" altLang="en-US" sz="12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A5ECF01-9853-E8AA-64FE-AD18BF031FDA}"/>
              </a:ext>
            </a:extLst>
          </p:cNvPr>
          <p:cNvSpPr txBox="1"/>
          <p:nvPr/>
        </p:nvSpPr>
        <p:spPr>
          <a:xfrm>
            <a:off x="6477000" y="29718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空间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8ABD8B6-2554-B913-F27C-12424815C38D}"/>
              </a:ext>
            </a:extLst>
          </p:cNvPr>
          <p:cNvSpPr txBox="1"/>
          <p:nvPr/>
        </p:nvSpPr>
        <p:spPr>
          <a:xfrm>
            <a:off x="6477000" y="32385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温湿度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7A6221C-D374-3D8D-FB97-A72B135FE490}"/>
              </a:ext>
            </a:extLst>
          </p:cNvPr>
          <p:cNvSpPr txBox="1"/>
          <p:nvPr/>
        </p:nvSpPr>
        <p:spPr>
          <a:xfrm>
            <a:off x="6477000" y="35052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噪声与振动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03FE2435-6E08-A619-7934-E2F1497016AD}"/>
              </a:ext>
            </a:extLst>
          </p:cNvPr>
          <p:cNvSpPr/>
          <p:nvPr/>
        </p:nvSpPr>
        <p:spPr>
          <a:xfrm>
            <a:off x="9093200" y="2413000"/>
            <a:ext cx="25400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B3BE3C82-9C74-A58E-0168-98A594916BA2}"/>
              </a:ext>
            </a:extLst>
          </p:cNvPr>
          <p:cNvSpPr/>
          <p:nvPr/>
        </p:nvSpPr>
        <p:spPr>
          <a:xfrm>
            <a:off x="9093200" y="2413000"/>
            <a:ext cx="25400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9EBE025-4B1F-4CE3-A84D-B402D238587F}"/>
              </a:ext>
            </a:extLst>
          </p:cNvPr>
          <p:cNvSpPr txBox="1"/>
          <p:nvPr/>
        </p:nvSpPr>
        <p:spPr>
          <a:xfrm>
            <a:off x="9245600" y="2489200"/>
            <a:ext cx="22352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</a:rPr>
              <a:t>供配电与接地</a:t>
            </a:r>
            <a:endParaRPr lang="zh-Hans-HK" altLang="en-US" sz="12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74FE054-8508-DE21-9FDA-98FD35CD6E22}"/>
              </a:ext>
            </a:extLst>
          </p:cNvPr>
          <p:cNvSpPr txBox="1"/>
          <p:nvPr/>
        </p:nvSpPr>
        <p:spPr>
          <a:xfrm>
            <a:off x="9245600" y="29718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配电回路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4A8F39DA-4621-FFB3-8832-B3C731E7207A}"/>
              </a:ext>
            </a:extLst>
          </p:cNvPr>
          <p:cNvSpPr txBox="1"/>
          <p:nvPr/>
        </p:nvSpPr>
        <p:spPr>
          <a:xfrm>
            <a:off x="9245600" y="32385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Hans-HK" sz="1050">
                <a:solidFill>
                  <a:srgbClr val="505050"/>
                </a:solidFill>
                <a:latin typeface="Microsoft YaHei" panose="020B0503020204020204" pitchFamily="34" charset="-122"/>
              </a:rPr>
              <a:t>- UPS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17C04B51-46B6-59E1-F70B-9E506BA3E523}"/>
              </a:ext>
            </a:extLst>
          </p:cNvPr>
          <p:cNvSpPr txBox="1"/>
          <p:nvPr/>
        </p:nvSpPr>
        <p:spPr>
          <a:xfrm>
            <a:off x="9245600" y="35052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等电位联结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8B48CF61-583C-A35B-9B07-A3341ECDE4D7}"/>
              </a:ext>
            </a:extLst>
          </p:cNvPr>
          <p:cNvSpPr/>
          <p:nvPr/>
        </p:nvSpPr>
        <p:spPr>
          <a:xfrm>
            <a:off x="6324600" y="4089400"/>
            <a:ext cx="25400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2F262EA-8D24-7397-1965-59AD9652104A}"/>
              </a:ext>
            </a:extLst>
          </p:cNvPr>
          <p:cNvSpPr/>
          <p:nvPr/>
        </p:nvSpPr>
        <p:spPr>
          <a:xfrm>
            <a:off x="6324600" y="4089400"/>
            <a:ext cx="25400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4F1BB0-F5F6-043C-06EC-3ECBA7135F12}"/>
              </a:ext>
            </a:extLst>
          </p:cNvPr>
          <p:cNvSpPr txBox="1"/>
          <p:nvPr/>
        </p:nvSpPr>
        <p:spPr>
          <a:xfrm>
            <a:off x="6477000" y="4165600"/>
            <a:ext cx="22352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</a:rPr>
              <a:t>防雷与静电防护</a:t>
            </a:r>
            <a:endParaRPr lang="zh-Hans-HK" altLang="en-US" sz="12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6DA60122-A098-A1EF-6271-BA2686003690}"/>
              </a:ext>
            </a:extLst>
          </p:cNvPr>
          <p:cNvSpPr txBox="1"/>
          <p:nvPr/>
        </p:nvSpPr>
        <p:spPr>
          <a:xfrm>
            <a:off x="6477000" y="46482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防雷设施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956DAC6-2F1E-0718-6740-3F347E8AA3D0}"/>
              </a:ext>
            </a:extLst>
          </p:cNvPr>
          <p:cNvSpPr txBox="1"/>
          <p:nvPr/>
        </p:nvSpPr>
        <p:spPr>
          <a:xfrm>
            <a:off x="6477000" y="49149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接地系统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D3002EF3-9259-F860-37BA-0883669AFFE4}"/>
              </a:ext>
            </a:extLst>
          </p:cNvPr>
          <p:cNvSpPr txBox="1"/>
          <p:nvPr/>
        </p:nvSpPr>
        <p:spPr>
          <a:xfrm>
            <a:off x="6477000" y="51816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静电释放措施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D4E84D62-042F-9FDB-909A-87CB90EDB362}"/>
              </a:ext>
            </a:extLst>
          </p:cNvPr>
          <p:cNvSpPr/>
          <p:nvPr/>
        </p:nvSpPr>
        <p:spPr>
          <a:xfrm>
            <a:off x="9093200" y="4089400"/>
            <a:ext cx="25400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310962D3-504F-3B8B-27C9-2D6CDE12D82D}"/>
              </a:ext>
            </a:extLst>
          </p:cNvPr>
          <p:cNvSpPr/>
          <p:nvPr/>
        </p:nvSpPr>
        <p:spPr>
          <a:xfrm>
            <a:off x="9093200" y="4089400"/>
            <a:ext cx="25400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AA6FB32-C1A5-7E9C-CD2A-D34B6463ABBB}"/>
              </a:ext>
            </a:extLst>
          </p:cNvPr>
          <p:cNvSpPr txBox="1"/>
          <p:nvPr/>
        </p:nvSpPr>
        <p:spPr>
          <a:xfrm>
            <a:off x="9245600" y="4165600"/>
            <a:ext cx="22352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</a:rPr>
              <a:t>照明与安全标识</a:t>
            </a:r>
            <a:endParaRPr lang="zh-Hans-HK" altLang="en-US" sz="12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987ECE9-E4CF-9EFE-3F4B-B6FDEFAAD281}"/>
              </a:ext>
            </a:extLst>
          </p:cNvPr>
          <p:cNvSpPr txBox="1"/>
          <p:nvPr/>
        </p:nvSpPr>
        <p:spPr>
          <a:xfrm>
            <a:off x="9245600" y="46482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照明条件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ABFE540-D655-39F8-54BC-BDB47A1D9FAC}"/>
              </a:ext>
            </a:extLst>
          </p:cNvPr>
          <p:cNvSpPr txBox="1"/>
          <p:nvPr/>
        </p:nvSpPr>
        <p:spPr>
          <a:xfrm>
            <a:off x="9245600" y="49149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应急照明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3E04B46-67F6-C4F2-379A-0FB809FCDDCC}"/>
              </a:ext>
            </a:extLst>
          </p:cNvPr>
          <p:cNvSpPr txBox="1"/>
          <p:nvPr/>
        </p:nvSpPr>
        <p:spPr>
          <a:xfrm>
            <a:off x="9245600" y="51816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标识配置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902500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软件测评标准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33" name="CustomNav1">
            <a:extLst>
              <a:ext uri="{FF2B5EF4-FFF2-40B4-BE49-F238E27FC236}">
                <a16:creationId xmlns:a16="http://schemas.microsoft.com/office/drawing/2014/main" id="{15E9D359-4A05-8579-9484-6F9FF13F8871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CustomNav2">
            <a:extLst>
              <a:ext uri="{FF2B5EF4-FFF2-40B4-BE49-F238E27FC236}">
                <a16:creationId xmlns:a16="http://schemas.microsoft.com/office/drawing/2014/main" id="{887925A6-4B88-0282-AAB9-6DB9E181EBA4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CustomNav3">
            <a:extLst>
              <a:ext uri="{FF2B5EF4-FFF2-40B4-BE49-F238E27FC236}">
                <a16:creationId xmlns:a16="http://schemas.microsoft.com/office/drawing/2014/main" id="{52EB71D3-9FCC-BA15-6BA2-A67483B92D5B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CustomNav4">
            <a:extLst>
              <a:ext uri="{FF2B5EF4-FFF2-40B4-BE49-F238E27FC236}">
                <a16:creationId xmlns:a16="http://schemas.microsoft.com/office/drawing/2014/main" id="{A958AD83-DE67-B0D3-1118-F3AF8CBCFA48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CustomNav5">
            <a:extLst>
              <a:ext uri="{FF2B5EF4-FFF2-40B4-BE49-F238E27FC236}">
                <a16:creationId xmlns:a16="http://schemas.microsoft.com/office/drawing/2014/main" id="{3F701F19-F401-A920-230B-0BAA181CFED6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CC51034-C98C-5899-8CD0-64D8DB72FADE}"/>
              </a:ext>
            </a:extLst>
          </p:cNvPr>
          <p:cNvSpPr/>
          <p:nvPr/>
        </p:nvSpPr>
        <p:spPr>
          <a:xfrm>
            <a:off x="381000" y="1168400"/>
            <a:ext cx="11430000" cy="685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EC25928-AF35-123B-0694-ACA257041766}"/>
              </a:ext>
            </a:extLst>
          </p:cNvPr>
          <p:cNvSpPr txBox="1"/>
          <p:nvPr/>
        </p:nvSpPr>
        <p:spPr>
          <a:xfrm>
            <a:off x="609600" y="1346200"/>
            <a:ext cx="1092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0E6EB8"/>
                </a:solidFill>
                <a:latin typeface="Microsoft YaHei" panose="020B0503020204020204" pitchFamily="34" charset="-122"/>
              </a:rPr>
              <a:t>围绕软件质量验收、安全专项与代码审计场景组织标准化检测与评价。</a:t>
            </a:r>
            <a:endParaRPr lang="zh-Hans-HK" altLang="en-US" sz="130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D04068E-4FD1-8FC4-68B5-1BC5329B6911}"/>
              </a:ext>
            </a:extLst>
          </p:cNvPr>
          <p:cNvSpPr/>
          <p:nvPr/>
        </p:nvSpPr>
        <p:spPr>
          <a:xfrm>
            <a:off x="508000" y="2133600"/>
            <a:ext cx="5334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6BD337F-E893-1F83-E898-E2144C571A74}"/>
              </a:ext>
            </a:extLst>
          </p:cNvPr>
          <p:cNvSpPr/>
          <p:nvPr/>
        </p:nvSpPr>
        <p:spPr>
          <a:xfrm>
            <a:off x="685800" y="2362200"/>
            <a:ext cx="50800" cy="609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92944B0-8014-D555-989E-368AA66D3BAF}"/>
              </a:ext>
            </a:extLst>
          </p:cNvPr>
          <p:cNvSpPr txBox="1"/>
          <p:nvPr/>
        </p:nvSpPr>
        <p:spPr>
          <a:xfrm>
            <a:off x="863600" y="2311400"/>
            <a:ext cx="4800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Hans-HK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GB/T 25000.51-2016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B161632-2F33-6A41-0AC3-C4D7886F3CF6}"/>
              </a:ext>
            </a:extLst>
          </p:cNvPr>
          <p:cNvSpPr txBox="1"/>
          <p:nvPr/>
        </p:nvSpPr>
        <p:spPr>
          <a:xfrm>
            <a:off x="863600" y="26416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软件产品质量要求和测试细则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4D3B9B6-4FF1-5C3A-787C-D6982F06E4B8}"/>
              </a:ext>
            </a:extLst>
          </p:cNvPr>
          <p:cNvSpPr txBox="1"/>
          <p:nvPr/>
        </p:nvSpPr>
        <p:spPr>
          <a:xfrm>
            <a:off x="863600" y="2921000"/>
            <a:ext cx="48006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777777"/>
                </a:solidFill>
                <a:latin typeface="Microsoft YaHei" panose="020B0503020204020204" pitchFamily="34" charset="-122"/>
              </a:rPr>
              <a:t>用于质量验收指标与测试细则参考。</a:t>
            </a:r>
            <a:endParaRPr lang="zh-Hans-HK" altLang="en-US" sz="102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CCD3097-EDB7-E220-E3BF-181A49A02EE0}"/>
              </a:ext>
            </a:extLst>
          </p:cNvPr>
          <p:cNvSpPr/>
          <p:nvPr/>
        </p:nvSpPr>
        <p:spPr>
          <a:xfrm>
            <a:off x="6350000" y="2133600"/>
            <a:ext cx="5334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8669017-A03F-0C5C-DE0D-DAF295C3E664}"/>
              </a:ext>
            </a:extLst>
          </p:cNvPr>
          <p:cNvSpPr/>
          <p:nvPr/>
        </p:nvSpPr>
        <p:spPr>
          <a:xfrm>
            <a:off x="6527800" y="2362200"/>
            <a:ext cx="50800" cy="609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453F7A0-59E3-731F-D3C1-A0FD80A0DFB9}"/>
              </a:ext>
            </a:extLst>
          </p:cNvPr>
          <p:cNvSpPr txBox="1"/>
          <p:nvPr/>
        </p:nvSpPr>
        <p:spPr>
          <a:xfrm>
            <a:off x="6705600" y="2311400"/>
            <a:ext cx="4800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Hans-HK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GB/T 15532-2008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8ADF1E1-EC26-5724-0776-78E1A7A29311}"/>
              </a:ext>
            </a:extLst>
          </p:cNvPr>
          <p:cNvSpPr txBox="1"/>
          <p:nvPr/>
        </p:nvSpPr>
        <p:spPr>
          <a:xfrm>
            <a:off x="6705600" y="26416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计算机软件测试规范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1984CFF-8E6C-2F23-7DB1-D23491CF9261}"/>
              </a:ext>
            </a:extLst>
          </p:cNvPr>
          <p:cNvSpPr txBox="1"/>
          <p:nvPr/>
        </p:nvSpPr>
        <p:spPr>
          <a:xfrm>
            <a:off x="6705600" y="2921000"/>
            <a:ext cx="48006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777777"/>
                </a:solidFill>
                <a:latin typeface="Microsoft YaHei" panose="020B0503020204020204" pitchFamily="34" charset="-122"/>
              </a:rPr>
              <a:t>用于测试组织、实施过程与测试文档编制参考。</a:t>
            </a:r>
            <a:endParaRPr lang="zh-Hans-HK" altLang="en-US" sz="102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537745B-E8F6-7AEC-80A3-7D5529A8EEC2}"/>
              </a:ext>
            </a:extLst>
          </p:cNvPr>
          <p:cNvSpPr/>
          <p:nvPr/>
        </p:nvSpPr>
        <p:spPr>
          <a:xfrm>
            <a:off x="508000" y="3835400"/>
            <a:ext cx="5334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2930159-4529-F7F5-B0C6-7D3E9C03F6DD}"/>
              </a:ext>
            </a:extLst>
          </p:cNvPr>
          <p:cNvSpPr/>
          <p:nvPr/>
        </p:nvSpPr>
        <p:spPr>
          <a:xfrm>
            <a:off x="685800" y="4064000"/>
            <a:ext cx="50800" cy="609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BBC703B-3B9A-D375-0C12-18700B9631D6}"/>
              </a:ext>
            </a:extLst>
          </p:cNvPr>
          <p:cNvSpPr txBox="1"/>
          <p:nvPr/>
        </p:nvSpPr>
        <p:spPr>
          <a:xfrm>
            <a:off x="863600" y="4013200"/>
            <a:ext cx="4800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Hans-HK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GB/T 39412-2020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BD8F425-D110-AB82-40F3-F11797D8E74C}"/>
              </a:ext>
            </a:extLst>
          </p:cNvPr>
          <p:cNvSpPr txBox="1"/>
          <p:nvPr/>
        </p:nvSpPr>
        <p:spPr>
          <a:xfrm>
            <a:off x="863600" y="43434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信息安全技术 代码安全审计规范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D55AAE8-0228-0C9A-9E53-706AC6CDF50A}"/>
              </a:ext>
            </a:extLst>
          </p:cNvPr>
          <p:cNvSpPr txBox="1"/>
          <p:nvPr/>
        </p:nvSpPr>
        <p:spPr>
          <a:xfrm>
            <a:off x="863600" y="4622800"/>
            <a:ext cx="48006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777777"/>
                </a:solidFill>
                <a:latin typeface="Microsoft YaHei" panose="020B0503020204020204" pitchFamily="34" charset="-122"/>
              </a:rPr>
              <a:t>用于源代码审计检测参考。</a:t>
            </a:r>
            <a:endParaRPr lang="zh-Hans-HK" altLang="en-US" sz="102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A0546045-194B-A2DC-34A3-429443E31A76}"/>
              </a:ext>
            </a:extLst>
          </p:cNvPr>
          <p:cNvSpPr/>
          <p:nvPr/>
        </p:nvSpPr>
        <p:spPr>
          <a:xfrm>
            <a:off x="6350000" y="3835400"/>
            <a:ext cx="5334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AFEA119-3AD9-4880-F53D-51FA1C886C95}"/>
              </a:ext>
            </a:extLst>
          </p:cNvPr>
          <p:cNvSpPr/>
          <p:nvPr/>
        </p:nvSpPr>
        <p:spPr>
          <a:xfrm>
            <a:off x="6527800" y="4064000"/>
            <a:ext cx="50800" cy="6096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941D533-FEA6-4B13-FEE7-A6E92D6930D1}"/>
              </a:ext>
            </a:extLst>
          </p:cNvPr>
          <p:cNvSpPr txBox="1"/>
          <p:nvPr/>
        </p:nvSpPr>
        <p:spPr>
          <a:xfrm>
            <a:off x="6705600" y="4013200"/>
            <a:ext cx="4800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Hans-HK" sz="1500" b="1">
                <a:solidFill>
                  <a:srgbClr val="0E6EB8"/>
                </a:solidFill>
                <a:latin typeface="Microsoft YaHei" panose="020B0503020204020204" pitchFamily="34" charset="-122"/>
              </a:rPr>
              <a:t>GB/T 27025-2019</a:t>
            </a:r>
            <a:endParaRPr lang="zh-Hans-HK" altLang="en-US" sz="15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F4B682C-70D6-C15B-8FDD-7A78DF4D0DB3}"/>
              </a:ext>
            </a:extLst>
          </p:cNvPr>
          <p:cNvSpPr txBox="1"/>
          <p:nvPr/>
        </p:nvSpPr>
        <p:spPr>
          <a:xfrm>
            <a:off x="6705600" y="4343400"/>
            <a:ext cx="4800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505050"/>
                </a:solidFill>
                <a:latin typeface="Microsoft YaHei" panose="020B0503020204020204" pitchFamily="34" charset="-122"/>
              </a:rPr>
              <a:t>检测和校准实验室能力的通用要求</a:t>
            </a:r>
            <a:endParaRPr lang="zh-Hans-HK" altLang="en-US" sz="11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EFC0492-A474-7C64-B71D-A30E57C41583}"/>
              </a:ext>
            </a:extLst>
          </p:cNvPr>
          <p:cNvSpPr txBox="1"/>
          <p:nvPr/>
        </p:nvSpPr>
        <p:spPr>
          <a:xfrm>
            <a:off x="6705600" y="4622800"/>
            <a:ext cx="4800600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20">
                <a:solidFill>
                  <a:srgbClr val="777777"/>
                </a:solidFill>
                <a:latin typeface="Microsoft YaHei" panose="020B0503020204020204" pitchFamily="34" charset="-122"/>
              </a:rPr>
              <a:t>用于实验室能力、过程控制、结果有效性和质量管理要求参考。</a:t>
            </a:r>
            <a:endParaRPr lang="zh-Hans-HK" altLang="en-US" sz="102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E56BA961-E3FB-50CC-DFE0-682F94E0D82A}"/>
              </a:ext>
            </a:extLst>
          </p:cNvPr>
          <p:cNvSpPr/>
          <p:nvPr/>
        </p:nvSpPr>
        <p:spPr>
          <a:xfrm>
            <a:off x="508000" y="5613400"/>
            <a:ext cx="25400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C6F302D-8C54-5570-6EFD-0C53EB0F2BEA}"/>
              </a:ext>
            </a:extLst>
          </p:cNvPr>
          <p:cNvSpPr/>
          <p:nvPr/>
        </p:nvSpPr>
        <p:spPr>
          <a:xfrm>
            <a:off x="508000" y="5613400"/>
            <a:ext cx="25400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C345C45-7A35-28C5-46C7-F1735F14B86E}"/>
              </a:ext>
            </a:extLst>
          </p:cNvPr>
          <p:cNvSpPr txBox="1"/>
          <p:nvPr/>
        </p:nvSpPr>
        <p:spPr>
          <a:xfrm>
            <a:off x="660400" y="5689600"/>
            <a:ext cx="22352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</a:rPr>
              <a:t>质量验收</a:t>
            </a:r>
            <a:endParaRPr lang="zh-Hans-HK" altLang="en-US" sz="12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725AA1A-D9FB-4094-C7AC-6BB76E20DA51}"/>
              </a:ext>
            </a:extLst>
          </p:cNvPr>
          <p:cNvSpPr txBox="1"/>
          <p:nvPr/>
        </p:nvSpPr>
        <p:spPr>
          <a:xfrm>
            <a:off x="660400" y="61722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功能、性能、兼容性等维度评价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661F3821-722F-4ACD-4347-7F2955308E2A}"/>
              </a:ext>
            </a:extLst>
          </p:cNvPr>
          <p:cNvSpPr/>
          <p:nvPr/>
        </p:nvSpPr>
        <p:spPr>
          <a:xfrm>
            <a:off x="3352800" y="5613400"/>
            <a:ext cx="25400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22A1584-A1A2-98CF-0E57-707FA1588F70}"/>
              </a:ext>
            </a:extLst>
          </p:cNvPr>
          <p:cNvSpPr/>
          <p:nvPr/>
        </p:nvSpPr>
        <p:spPr>
          <a:xfrm>
            <a:off x="3352800" y="5613400"/>
            <a:ext cx="25400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FB1C05C-E8F1-D21D-3FC3-0588C2D5289F}"/>
              </a:ext>
            </a:extLst>
          </p:cNvPr>
          <p:cNvSpPr txBox="1"/>
          <p:nvPr/>
        </p:nvSpPr>
        <p:spPr>
          <a:xfrm>
            <a:off x="3505200" y="5689600"/>
            <a:ext cx="22352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</a:rPr>
              <a:t>安全专项</a:t>
            </a:r>
            <a:endParaRPr lang="zh-Hans-HK" altLang="en-US" sz="12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F4B057E-CD91-9DF2-B6C4-C555F9B9A7FF}"/>
              </a:ext>
            </a:extLst>
          </p:cNvPr>
          <p:cNvSpPr txBox="1"/>
          <p:nvPr/>
        </p:nvSpPr>
        <p:spPr>
          <a:xfrm>
            <a:off x="3505200" y="61722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按项目安全要求组织核查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DFD6789D-ED76-BF02-2162-B3BD7D03449D}"/>
              </a:ext>
            </a:extLst>
          </p:cNvPr>
          <p:cNvSpPr/>
          <p:nvPr/>
        </p:nvSpPr>
        <p:spPr>
          <a:xfrm>
            <a:off x="6197600" y="5613400"/>
            <a:ext cx="25400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6E2EF95-D53C-BD76-B8F9-31923EC7178B}"/>
              </a:ext>
            </a:extLst>
          </p:cNvPr>
          <p:cNvSpPr/>
          <p:nvPr/>
        </p:nvSpPr>
        <p:spPr>
          <a:xfrm>
            <a:off x="6197600" y="5613400"/>
            <a:ext cx="25400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755DD71-F576-8661-FF29-AB1FC983F0B3}"/>
              </a:ext>
            </a:extLst>
          </p:cNvPr>
          <p:cNvSpPr txBox="1"/>
          <p:nvPr/>
        </p:nvSpPr>
        <p:spPr>
          <a:xfrm>
            <a:off x="6350000" y="5689600"/>
            <a:ext cx="22352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</a:rPr>
              <a:t>代码审计</a:t>
            </a:r>
            <a:endParaRPr lang="zh-Hans-HK" altLang="en-US" sz="12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D7BC420-385F-D62F-40EE-074B51E2D1EC}"/>
              </a:ext>
            </a:extLst>
          </p:cNvPr>
          <p:cNvSpPr txBox="1"/>
          <p:nvPr/>
        </p:nvSpPr>
        <p:spPr>
          <a:xfrm>
            <a:off x="6350000" y="6172200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按代码安全审计规范实施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8BF64938-5683-C400-0F31-7574E7A83731}"/>
              </a:ext>
            </a:extLst>
          </p:cNvPr>
          <p:cNvSpPr/>
          <p:nvPr/>
        </p:nvSpPr>
        <p:spPr>
          <a:xfrm>
            <a:off x="9042400" y="5613400"/>
            <a:ext cx="26416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27F9AF7-270D-A718-918B-8E79709296CA}"/>
              </a:ext>
            </a:extLst>
          </p:cNvPr>
          <p:cNvSpPr/>
          <p:nvPr/>
        </p:nvSpPr>
        <p:spPr>
          <a:xfrm>
            <a:off x="9042400" y="5613400"/>
            <a:ext cx="26416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DCC38B3-9E72-D878-71BF-D6D03620AC95}"/>
              </a:ext>
            </a:extLst>
          </p:cNvPr>
          <p:cNvSpPr txBox="1"/>
          <p:nvPr/>
        </p:nvSpPr>
        <p:spPr>
          <a:xfrm>
            <a:off x="9194800" y="5689600"/>
            <a:ext cx="23368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FFFFF"/>
                </a:solidFill>
                <a:latin typeface="Microsoft YaHei" panose="020B0503020204020204" pitchFamily="34" charset="-122"/>
              </a:rPr>
              <a:t>交付支撑</a:t>
            </a:r>
            <a:endParaRPr lang="zh-Hans-HK" altLang="en-US" sz="125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8B4BC20D-2A51-CB6E-71AA-EEA6D88BF00C}"/>
              </a:ext>
            </a:extLst>
          </p:cNvPr>
          <p:cNvSpPr txBox="1"/>
          <p:nvPr/>
        </p:nvSpPr>
        <p:spPr>
          <a:xfrm>
            <a:off x="9194800" y="6172200"/>
            <a:ext cx="2336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05050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050">
                <a:solidFill>
                  <a:srgbClr val="505050"/>
                </a:solidFill>
                <a:latin typeface="Microsoft YaHei" panose="020B0503020204020204" pitchFamily="34" charset="-122"/>
              </a:rPr>
              <a:t>报告、整改建议与复核支持</a:t>
            </a:r>
            <a:endParaRPr lang="zh-Hans-HK" altLang="en-US" sz="105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666121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5AA8"/>
              </a:gs>
              <a:gs pos="0">
                <a:srgbClr val="FFFFFF"/>
              </a:gs>
              <a:gs pos="100000">
                <a:srgbClr val="4A90D9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0E6EB8"/>
                </a:solidFill>
                <a:latin typeface="Microsoft YaHei" panose="020B0503020204020204" pitchFamily="34" charset="-122"/>
                <a:ea typeface="MiSans" pitchFamily="34" charset="-122"/>
                <a:cs typeface="MiSans" pitchFamily="34" charset="-120"/>
              </a:rPr>
              <a:t>专业团队</a:t>
            </a:r>
            <a:endParaRPr lang="en-US" sz="24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61" name="CustomNav1">
            <a:extLst>
              <a:ext uri="{FF2B5EF4-FFF2-40B4-BE49-F238E27FC236}">
                <a16:creationId xmlns:a16="http://schemas.microsoft.com/office/drawing/2014/main" id="{1CF3D025-2A06-4186-FA00-84A903469261}"/>
              </a:ext>
            </a:extLst>
          </p:cNvPr>
          <p:cNvSpPr txBox="1"/>
          <p:nvPr/>
        </p:nvSpPr>
        <p:spPr>
          <a:xfrm>
            <a:off x="53086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服务范围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CustomNav2">
            <a:extLst>
              <a:ext uri="{FF2B5EF4-FFF2-40B4-BE49-F238E27FC236}">
                <a16:creationId xmlns:a16="http://schemas.microsoft.com/office/drawing/2014/main" id="{F815C377-01E6-C28D-4FC2-6D8E833AEDEC}"/>
              </a:ext>
            </a:extLst>
          </p:cNvPr>
          <p:cNvSpPr txBox="1"/>
          <p:nvPr/>
        </p:nvSpPr>
        <p:spPr>
          <a:xfrm>
            <a:off x="64008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检测服务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CustomNav3">
            <a:extLst>
              <a:ext uri="{FF2B5EF4-FFF2-40B4-BE49-F238E27FC236}">
                <a16:creationId xmlns:a16="http://schemas.microsoft.com/office/drawing/2014/main" id="{4A29071F-B609-6342-1E86-E71633EE09EE}"/>
              </a:ext>
            </a:extLst>
          </p:cNvPr>
          <p:cNvSpPr txBox="1"/>
          <p:nvPr/>
        </p:nvSpPr>
        <p:spPr>
          <a:xfrm>
            <a:off x="74930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检测流程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CustomNav4">
            <a:extLst>
              <a:ext uri="{FF2B5EF4-FFF2-40B4-BE49-F238E27FC236}">
                <a16:creationId xmlns:a16="http://schemas.microsoft.com/office/drawing/2014/main" id="{A788BAE4-07F5-4448-56C9-9EB565A33650}"/>
              </a:ext>
            </a:extLst>
          </p:cNvPr>
          <p:cNvSpPr txBox="1"/>
          <p:nvPr/>
        </p:nvSpPr>
        <p:spPr>
          <a:xfrm>
            <a:off x="85852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89C3F7"/>
                </a:solidFill>
                <a:latin typeface="Microsoft YaHei" panose="020B0503020204020204" pitchFamily="34" charset="-122"/>
              </a:rPr>
              <a:t>资质标准</a:t>
            </a:r>
            <a:endParaRPr lang="zh-Hans-HK" altLang="en-US" sz="1600" b="1">
              <a:solidFill>
                <a:srgbClr val="89C3F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CustomNav5">
            <a:extLst>
              <a:ext uri="{FF2B5EF4-FFF2-40B4-BE49-F238E27FC236}">
                <a16:creationId xmlns:a16="http://schemas.microsoft.com/office/drawing/2014/main" id="{FE7E0D03-4414-6245-56E0-F7F8DDB3EE4F}"/>
              </a:ext>
            </a:extLst>
          </p:cNvPr>
          <p:cNvSpPr txBox="1"/>
          <p:nvPr/>
        </p:nvSpPr>
        <p:spPr>
          <a:xfrm>
            <a:off x="9677400" y="184150"/>
            <a:ext cx="990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zh-CN" altLang="en-US" sz="1600" b="1">
                <a:solidFill>
                  <a:srgbClr val="0E6EB8"/>
                </a:solidFill>
                <a:latin typeface="Microsoft YaHei" panose="020B0503020204020204" pitchFamily="34" charset="-122"/>
              </a:rPr>
              <a:t>专业团队</a:t>
            </a:r>
            <a:endParaRPr lang="zh-Hans-HK" altLang="en-US" sz="16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6536914F-54F7-4254-95DE-ABA6F57953AB}"/>
              </a:ext>
            </a:extLst>
          </p:cNvPr>
          <p:cNvSpPr/>
          <p:nvPr/>
        </p:nvSpPr>
        <p:spPr>
          <a:xfrm>
            <a:off x="381000" y="1168400"/>
            <a:ext cx="11430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1EA274A-B476-4A02-E120-EC3EF6DDD16E}"/>
              </a:ext>
            </a:extLst>
          </p:cNvPr>
          <p:cNvSpPr/>
          <p:nvPr/>
        </p:nvSpPr>
        <p:spPr>
          <a:xfrm>
            <a:off x="558800" y="1295400"/>
            <a:ext cx="63500" cy="431800"/>
          </a:xfrm>
          <a:prstGeom prst="rect">
            <a:avLst/>
          </a:prstGeom>
          <a:solidFill>
            <a:srgbClr val="1E5A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5FF991A-6453-408C-F2F8-8F4FCF5EAAB0}"/>
              </a:ext>
            </a:extLst>
          </p:cNvPr>
          <p:cNvSpPr txBox="1"/>
          <p:nvPr/>
        </p:nvSpPr>
        <p:spPr>
          <a:xfrm>
            <a:off x="762000" y="1320800"/>
            <a:ext cx="10871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dirty="0">
                <a:solidFill>
                  <a:srgbClr val="0E6EB8"/>
                </a:solidFill>
                <a:latin typeface="Microsoft YaHei" panose="020B0503020204020204" pitchFamily="34" charset="-122"/>
              </a:rPr>
              <a:t>项目管理与技术骨干协同参与，支撑检测、整改与交付全流程。</a:t>
            </a:r>
            <a:endParaRPr lang="zh-Hans-HK" altLang="en-US" sz="1300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EC8989C7-D77A-1D8E-1CB9-A49FC747EA39}"/>
              </a:ext>
            </a:extLst>
          </p:cNvPr>
          <p:cNvSpPr/>
          <p:nvPr/>
        </p:nvSpPr>
        <p:spPr>
          <a:xfrm>
            <a:off x="381000" y="20320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1D0B3E82-C7E4-0D57-48DE-858A2A194C5D}"/>
              </a:ext>
            </a:extLst>
          </p:cNvPr>
          <p:cNvSpPr/>
          <p:nvPr/>
        </p:nvSpPr>
        <p:spPr>
          <a:xfrm>
            <a:off x="558800" y="2209800"/>
            <a:ext cx="889000" cy="304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62E97E1-A37E-FF17-E7C7-2B5D8E654FF6}"/>
              </a:ext>
            </a:extLst>
          </p:cNvPr>
          <p:cNvSpPr txBox="1"/>
          <p:nvPr/>
        </p:nvSpPr>
        <p:spPr>
          <a:xfrm>
            <a:off x="685800" y="22733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0E6EB8"/>
                </a:solidFill>
                <a:latin typeface="Microsoft YaHei" panose="020B0503020204020204" pitchFamily="34" charset="-122"/>
              </a:rPr>
              <a:t>核心骨干</a:t>
            </a:r>
            <a:endParaRPr lang="zh-Hans-HK" altLang="en-US" sz="1000" b="1" dirty="0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0A88288-7FA8-2A27-8675-378F2C031E10}"/>
              </a:ext>
            </a:extLst>
          </p:cNvPr>
          <p:cNvSpPr txBox="1"/>
          <p:nvPr/>
        </p:nvSpPr>
        <p:spPr>
          <a:xfrm>
            <a:off x="558800" y="26416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E6EB8"/>
                </a:solidFill>
                <a:latin typeface="Microsoft YaHei" panose="020B0503020204020204" pitchFamily="34" charset="-122"/>
              </a:rPr>
              <a:t>井天福</a:t>
            </a:r>
            <a:endParaRPr lang="zh-Hans-HK" altLang="en-US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D650FFB-BF95-5016-4017-D713ECD997E8}"/>
              </a:ext>
            </a:extLst>
          </p:cNvPr>
          <p:cNvSpPr txBox="1"/>
          <p:nvPr/>
        </p:nvSpPr>
        <p:spPr>
          <a:xfrm>
            <a:off x="558800" y="2971800"/>
            <a:ext cx="21844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董事长 </a:t>
            </a:r>
            <a:r>
              <a:rPr lang="en-US" altLang="zh-CN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高级工程师</a:t>
            </a:r>
            <a:endParaRPr lang="zh-Hans-HK" altLang="en-US" sz="1040" dirty="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E712CA62-9CFD-557A-CCA7-C6B96E6D839D}"/>
              </a:ext>
            </a:extLst>
          </p:cNvPr>
          <p:cNvSpPr txBox="1"/>
          <p:nvPr/>
        </p:nvSpPr>
        <p:spPr>
          <a:xfrm>
            <a:off x="558800" y="32512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职称</a:t>
            </a:r>
            <a:r>
              <a:rPr lang="en-US" altLang="zh-CN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证书：</a:t>
            </a:r>
            <a:endParaRPr lang="zh-Hans-HK" altLang="en-US" sz="1000" b="1" dirty="0">
              <a:solidFill>
                <a:srgbClr val="1E5AA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9719004-E677-19BA-D21C-7F1A3432CFA5}"/>
              </a:ext>
            </a:extLst>
          </p:cNvPr>
          <p:cNvSpPr txBox="1"/>
          <p:nvPr/>
        </p:nvSpPr>
        <p:spPr>
          <a:xfrm>
            <a:off x="558800" y="3530600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10">
                <a:solidFill>
                  <a:srgbClr val="777777"/>
                </a:solidFill>
                <a:latin typeface="Microsoft YaHei" panose="020B0503020204020204" pitchFamily="34" charset="-122"/>
              </a:rPr>
              <a:t>- 16</a:t>
            </a:r>
            <a:r>
              <a:rPr lang="zh-CN" altLang="en-US" sz="1010">
                <a:solidFill>
                  <a:srgbClr val="777777"/>
                </a:solidFill>
                <a:latin typeface="Microsoft YaHei" panose="020B0503020204020204" pitchFamily="34" charset="-122"/>
              </a:rPr>
              <a:t>年信息化咨询设计</a:t>
            </a:r>
            <a:endParaRPr lang="zh-Hans-HK" altLang="en-US" sz="101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AF178A-C4A9-5A12-2CAA-CE404F12F3A5}"/>
              </a:ext>
            </a:extLst>
          </p:cNvPr>
          <p:cNvSpPr txBox="1"/>
          <p:nvPr/>
        </p:nvSpPr>
        <p:spPr>
          <a:xfrm>
            <a:off x="558800" y="3784600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10">
                <a:solidFill>
                  <a:srgbClr val="777777"/>
                </a:solidFill>
                <a:latin typeface="Microsoft YaHei" panose="020B0503020204020204" pitchFamily="34" charset="-122"/>
              </a:rPr>
              <a:t>- 12</a:t>
            </a:r>
            <a:r>
              <a:rPr lang="zh-CN" altLang="en-US" sz="1010">
                <a:solidFill>
                  <a:srgbClr val="777777"/>
                </a:solidFill>
                <a:latin typeface="Microsoft YaHei" panose="020B0503020204020204" pitchFamily="34" charset="-122"/>
              </a:rPr>
              <a:t>年信息化项目管理</a:t>
            </a:r>
            <a:endParaRPr lang="zh-Hans-HK" altLang="en-US" sz="101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20E22E9B-B922-6A78-E874-42C6913578D3}"/>
              </a:ext>
            </a:extLst>
          </p:cNvPr>
          <p:cNvSpPr/>
          <p:nvPr/>
        </p:nvSpPr>
        <p:spPr>
          <a:xfrm>
            <a:off x="4318000" y="20320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A6C1EC6E-5956-AAB8-5902-B752326EA9E9}"/>
              </a:ext>
            </a:extLst>
          </p:cNvPr>
          <p:cNvSpPr/>
          <p:nvPr/>
        </p:nvSpPr>
        <p:spPr>
          <a:xfrm>
            <a:off x="4495800" y="2209800"/>
            <a:ext cx="889000" cy="304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AA0B55C-CE8C-CAD1-3903-412DC837B24D}"/>
              </a:ext>
            </a:extLst>
          </p:cNvPr>
          <p:cNvSpPr txBox="1"/>
          <p:nvPr/>
        </p:nvSpPr>
        <p:spPr>
          <a:xfrm>
            <a:off x="4622800" y="22733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0E6EB8"/>
                </a:solidFill>
                <a:latin typeface="Microsoft YaHei" panose="020B0503020204020204" pitchFamily="34" charset="-122"/>
              </a:rPr>
              <a:t>核心骨干</a:t>
            </a:r>
            <a:endParaRPr lang="zh-Hans-HK" altLang="en-US" sz="10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E5610017-5728-CA21-F9D7-CF77E6019AC4}"/>
              </a:ext>
            </a:extLst>
          </p:cNvPr>
          <p:cNvSpPr txBox="1"/>
          <p:nvPr/>
        </p:nvSpPr>
        <p:spPr>
          <a:xfrm>
            <a:off x="4495800" y="26416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E6EB8"/>
                </a:solidFill>
                <a:latin typeface="Microsoft YaHei" panose="020B0503020204020204" pitchFamily="34" charset="-122"/>
              </a:rPr>
              <a:t>沈钢</a:t>
            </a:r>
            <a:endParaRPr lang="zh-Hans-HK" altLang="en-US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4001E27-DAE1-65E8-3A07-43BD0C05B8A4}"/>
              </a:ext>
            </a:extLst>
          </p:cNvPr>
          <p:cNvSpPr txBox="1"/>
          <p:nvPr/>
        </p:nvSpPr>
        <p:spPr>
          <a:xfrm>
            <a:off x="4495800" y="2971800"/>
            <a:ext cx="21844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40">
                <a:solidFill>
                  <a:srgbClr val="505050"/>
                </a:solidFill>
                <a:latin typeface="Microsoft YaHei" panose="020B0503020204020204" pitchFamily="34" charset="-122"/>
              </a:rPr>
              <a:t>总经理 </a:t>
            </a:r>
            <a:r>
              <a:rPr lang="en-US" altLang="zh-CN" sz="1040">
                <a:solidFill>
                  <a:srgbClr val="50505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40">
                <a:solidFill>
                  <a:srgbClr val="505050"/>
                </a:solidFill>
                <a:latin typeface="Microsoft YaHei" panose="020B0503020204020204" pitchFamily="34" charset="-122"/>
              </a:rPr>
              <a:t>高级工程师</a:t>
            </a:r>
            <a:endParaRPr lang="zh-Hans-HK" altLang="en-US" sz="104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493F2F7-4A80-5EDE-F51C-1A09DD7E2B82}"/>
              </a:ext>
            </a:extLst>
          </p:cNvPr>
          <p:cNvSpPr txBox="1"/>
          <p:nvPr/>
        </p:nvSpPr>
        <p:spPr>
          <a:xfrm>
            <a:off x="4495800" y="32512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职称</a:t>
            </a:r>
            <a:r>
              <a:rPr lang="en-US" altLang="zh-CN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证书：信息系统项目管理师（高级）</a:t>
            </a:r>
            <a:endParaRPr lang="zh-Hans-HK" altLang="en-US" sz="1000" b="1" dirty="0">
              <a:solidFill>
                <a:srgbClr val="1E5AA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8D48B7E0-72D9-E24E-A4DB-8EC4D9441745}"/>
              </a:ext>
            </a:extLst>
          </p:cNvPr>
          <p:cNvSpPr txBox="1"/>
          <p:nvPr/>
        </p:nvSpPr>
        <p:spPr>
          <a:xfrm>
            <a:off x="4495800" y="3530600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10">
                <a:solidFill>
                  <a:srgbClr val="777777"/>
                </a:solidFill>
                <a:latin typeface="Microsoft YaHei" panose="020B0503020204020204" pitchFamily="34" charset="-122"/>
              </a:rPr>
              <a:t>- 25</a:t>
            </a:r>
            <a:r>
              <a:rPr lang="zh-CN" altLang="en-US" sz="1010">
                <a:solidFill>
                  <a:srgbClr val="777777"/>
                </a:solidFill>
                <a:latin typeface="Microsoft YaHei" panose="020B0503020204020204" pitchFamily="34" charset="-122"/>
              </a:rPr>
              <a:t>年智慧城市项目开发与集成</a:t>
            </a:r>
            <a:endParaRPr lang="zh-Hans-HK" altLang="en-US" sz="101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99F217D-F4A2-A3CB-5650-6423AF6FE63D}"/>
              </a:ext>
            </a:extLst>
          </p:cNvPr>
          <p:cNvSpPr txBox="1"/>
          <p:nvPr/>
        </p:nvSpPr>
        <p:spPr>
          <a:xfrm>
            <a:off x="4495800" y="3784600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10">
                <a:solidFill>
                  <a:srgbClr val="777777"/>
                </a:solidFill>
                <a:latin typeface="Microsoft YaHei" panose="020B0503020204020204" pitchFamily="34" charset="-122"/>
              </a:rPr>
              <a:t>- 10</a:t>
            </a:r>
            <a:r>
              <a:rPr lang="zh-CN" altLang="en-US" sz="1010">
                <a:solidFill>
                  <a:srgbClr val="777777"/>
                </a:solidFill>
                <a:latin typeface="Microsoft YaHei" panose="020B0503020204020204" pitchFamily="34" charset="-122"/>
              </a:rPr>
              <a:t>年智慧城市项目咨询设计</a:t>
            </a:r>
            <a:endParaRPr lang="zh-Hans-HK" altLang="en-US" sz="101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473D0463-04A7-6F67-1D47-1B860CD0557F}"/>
              </a:ext>
            </a:extLst>
          </p:cNvPr>
          <p:cNvSpPr/>
          <p:nvPr/>
        </p:nvSpPr>
        <p:spPr>
          <a:xfrm>
            <a:off x="8255000" y="20320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5A589C6D-9232-70A1-5B74-21BC67CF8425}"/>
              </a:ext>
            </a:extLst>
          </p:cNvPr>
          <p:cNvSpPr/>
          <p:nvPr/>
        </p:nvSpPr>
        <p:spPr>
          <a:xfrm>
            <a:off x="8432800" y="2209800"/>
            <a:ext cx="889000" cy="304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006355E-D81A-E9D7-777B-3E2D5766727C}"/>
              </a:ext>
            </a:extLst>
          </p:cNvPr>
          <p:cNvSpPr txBox="1"/>
          <p:nvPr/>
        </p:nvSpPr>
        <p:spPr>
          <a:xfrm>
            <a:off x="8559800" y="22733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0E6EB8"/>
                </a:solidFill>
                <a:latin typeface="Microsoft YaHei" panose="020B0503020204020204" pitchFamily="34" charset="-122"/>
              </a:rPr>
              <a:t>核心骨干</a:t>
            </a:r>
            <a:endParaRPr lang="zh-Hans-HK" altLang="en-US" sz="10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A4DEB20-B458-970C-08A1-44683A50C2DA}"/>
              </a:ext>
            </a:extLst>
          </p:cNvPr>
          <p:cNvSpPr txBox="1"/>
          <p:nvPr/>
        </p:nvSpPr>
        <p:spPr>
          <a:xfrm>
            <a:off x="8432800" y="26416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E6EB8"/>
                </a:solidFill>
                <a:latin typeface="Microsoft YaHei" panose="020B0503020204020204" pitchFamily="34" charset="-122"/>
              </a:rPr>
              <a:t>陈柏安</a:t>
            </a:r>
            <a:endParaRPr lang="zh-Hans-HK" altLang="en-US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E073A33-88CD-F932-0D70-1F97FFEDED2A}"/>
              </a:ext>
            </a:extLst>
          </p:cNvPr>
          <p:cNvSpPr txBox="1"/>
          <p:nvPr/>
        </p:nvSpPr>
        <p:spPr>
          <a:xfrm>
            <a:off x="8432800" y="2971800"/>
            <a:ext cx="21844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质量负责人 </a:t>
            </a:r>
            <a:r>
              <a:rPr lang="en-US" altLang="zh-CN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高级工程师</a:t>
            </a:r>
            <a:endParaRPr lang="zh-Hans-HK" altLang="en-US" sz="1040" dirty="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DB0F2DD-972E-0794-2812-B4E3702F8511}"/>
              </a:ext>
            </a:extLst>
          </p:cNvPr>
          <p:cNvSpPr txBox="1"/>
          <p:nvPr/>
        </p:nvSpPr>
        <p:spPr>
          <a:xfrm>
            <a:off x="8432800" y="32512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职称</a:t>
            </a:r>
            <a:r>
              <a:rPr lang="en-US" altLang="zh-CN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证书：信息系统项目管理师（高级）</a:t>
            </a:r>
            <a:endParaRPr lang="zh-Hans-HK" altLang="en-US" sz="1000" b="1" dirty="0">
              <a:solidFill>
                <a:srgbClr val="1E5AA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E7F2688E-EC34-D9AD-5090-160364609586}"/>
              </a:ext>
            </a:extLst>
          </p:cNvPr>
          <p:cNvSpPr txBox="1"/>
          <p:nvPr/>
        </p:nvSpPr>
        <p:spPr>
          <a:xfrm>
            <a:off x="8432800" y="3530600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10">
                <a:solidFill>
                  <a:srgbClr val="777777"/>
                </a:solidFill>
                <a:latin typeface="Microsoft YaHei" panose="020B0503020204020204" pitchFamily="34" charset="-122"/>
              </a:rPr>
              <a:t>- 18</a:t>
            </a:r>
            <a:r>
              <a:rPr lang="zh-CN" altLang="en-US" sz="1010">
                <a:solidFill>
                  <a:srgbClr val="777777"/>
                </a:solidFill>
                <a:latin typeface="Microsoft YaHei" panose="020B0503020204020204" pitchFamily="34" charset="-122"/>
              </a:rPr>
              <a:t>年智慧城市项目监理</a:t>
            </a:r>
            <a:endParaRPr lang="zh-Hans-HK" altLang="en-US" sz="101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195337D8-0A95-AEA3-800A-074C00C0627C}"/>
              </a:ext>
            </a:extLst>
          </p:cNvPr>
          <p:cNvSpPr txBox="1"/>
          <p:nvPr/>
        </p:nvSpPr>
        <p:spPr>
          <a:xfrm>
            <a:off x="8432800" y="3784600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10">
                <a:solidFill>
                  <a:srgbClr val="777777"/>
                </a:solidFill>
                <a:latin typeface="Microsoft YaHei" panose="020B0503020204020204" pitchFamily="34" charset="-122"/>
              </a:rPr>
              <a:t>- 12</a:t>
            </a:r>
            <a:r>
              <a:rPr lang="zh-CN" altLang="en-US" sz="1010">
                <a:solidFill>
                  <a:srgbClr val="777777"/>
                </a:solidFill>
                <a:latin typeface="Microsoft YaHei" panose="020B0503020204020204" pitchFamily="34" charset="-122"/>
              </a:rPr>
              <a:t>年智慧城市项目管理</a:t>
            </a:r>
            <a:endParaRPr lang="zh-Hans-HK" altLang="en-US" sz="101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8552BA6-C68C-5760-4F12-C7B71B6722F2}"/>
              </a:ext>
            </a:extLst>
          </p:cNvPr>
          <p:cNvSpPr/>
          <p:nvPr/>
        </p:nvSpPr>
        <p:spPr>
          <a:xfrm>
            <a:off x="381000" y="42164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684681E9-DC70-B98F-CD27-C1CC84361B09}"/>
              </a:ext>
            </a:extLst>
          </p:cNvPr>
          <p:cNvSpPr/>
          <p:nvPr/>
        </p:nvSpPr>
        <p:spPr>
          <a:xfrm>
            <a:off x="558800" y="4394200"/>
            <a:ext cx="889000" cy="304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D3D65153-5789-C3E1-2697-58AF7E3A3179}"/>
              </a:ext>
            </a:extLst>
          </p:cNvPr>
          <p:cNvSpPr txBox="1"/>
          <p:nvPr/>
        </p:nvSpPr>
        <p:spPr>
          <a:xfrm>
            <a:off x="685800" y="44577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0E6EB8"/>
                </a:solidFill>
                <a:latin typeface="Microsoft YaHei" panose="020B0503020204020204" pitchFamily="34" charset="-122"/>
              </a:rPr>
              <a:t>核心骨干</a:t>
            </a:r>
            <a:endParaRPr lang="zh-Hans-HK" altLang="en-US" sz="10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F016EE0-AC41-E794-465E-AD653D73CD46}"/>
              </a:ext>
            </a:extLst>
          </p:cNvPr>
          <p:cNvSpPr txBox="1"/>
          <p:nvPr/>
        </p:nvSpPr>
        <p:spPr>
          <a:xfrm>
            <a:off x="558800" y="4826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E6EB8"/>
                </a:solidFill>
                <a:latin typeface="Microsoft YaHei" panose="020B0503020204020204" pitchFamily="34" charset="-122"/>
              </a:rPr>
              <a:t>马玉涛</a:t>
            </a:r>
            <a:endParaRPr lang="zh-Hans-HK" altLang="en-US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28AD47E-91DD-9DAE-F9E8-5810CD266F8F}"/>
              </a:ext>
            </a:extLst>
          </p:cNvPr>
          <p:cNvSpPr txBox="1"/>
          <p:nvPr/>
        </p:nvSpPr>
        <p:spPr>
          <a:xfrm>
            <a:off x="558800" y="5156200"/>
            <a:ext cx="21844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技术负责人 </a:t>
            </a:r>
            <a:r>
              <a:rPr lang="en-US" altLang="zh-CN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高级工程师</a:t>
            </a:r>
            <a:endParaRPr lang="zh-Hans-HK" altLang="en-US" sz="1040" dirty="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C134920-6666-A9C5-D9C8-F2E0ADCD4FBC}"/>
              </a:ext>
            </a:extLst>
          </p:cNvPr>
          <p:cNvSpPr txBox="1"/>
          <p:nvPr/>
        </p:nvSpPr>
        <p:spPr>
          <a:xfrm>
            <a:off x="558800" y="54356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职称</a:t>
            </a:r>
            <a:r>
              <a:rPr lang="en-US" altLang="zh-CN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证书：信息系统项目管理师（高级）</a:t>
            </a:r>
            <a:endParaRPr lang="zh-Hans-HK" altLang="en-US" sz="1000" b="1" dirty="0">
              <a:solidFill>
                <a:srgbClr val="1E5AA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82DFE4EA-17CF-EE7A-982D-1D0000A57681}"/>
              </a:ext>
            </a:extLst>
          </p:cNvPr>
          <p:cNvSpPr txBox="1"/>
          <p:nvPr/>
        </p:nvSpPr>
        <p:spPr>
          <a:xfrm>
            <a:off x="558800" y="5715000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10">
                <a:solidFill>
                  <a:srgbClr val="777777"/>
                </a:solidFill>
                <a:latin typeface="Microsoft YaHei" panose="020B0503020204020204" pitchFamily="34" charset="-122"/>
              </a:rPr>
              <a:t>- 8</a:t>
            </a:r>
            <a:r>
              <a:rPr lang="zh-CN" altLang="en-US" sz="1010">
                <a:solidFill>
                  <a:srgbClr val="777777"/>
                </a:solidFill>
                <a:latin typeface="Microsoft YaHei" panose="020B0503020204020204" pitchFamily="34" charset="-122"/>
              </a:rPr>
              <a:t>年智慧城市项目解决方案</a:t>
            </a:r>
            <a:endParaRPr lang="zh-Hans-HK" altLang="en-US" sz="101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83FA21FF-0812-E5BC-15AC-771E1CDEC331}"/>
              </a:ext>
            </a:extLst>
          </p:cNvPr>
          <p:cNvSpPr txBox="1"/>
          <p:nvPr/>
        </p:nvSpPr>
        <p:spPr>
          <a:xfrm>
            <a:off x="558800" y="5969000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10">
                <a:solidFill>
                  <a:srgbClr val="777777"/>
                </a:solidFill>
                <a:latin typeface="Microsoft YaHei" panose="020B0503020204020204" pitchFamily="34" charset="-122"/>
              </a:rPr>
              <a:t>- 10</a:t>
            </a:r>
            <a:r>
              <a:rPr lang="zh-CN" altLang="en-US" sz="1010">
                <a:solidFill>
                  <a:srgbClr val="777777"/>
                </a:solidFill>
                <a:latin typeface="Microsoft YaHei" panose="020B0503020204020204" pitchFamily="34" charset="-122"/>
              </a:rPr>
              <a:t>年智慧城市项目咨询与管理</a:t>
            </a:r>
            <a:endParaRPr lang="zh-Hans-HK" altLang="en-US" sz="101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B67C5797-905D-72A4-2655-F2F3CC6BE98F}"/>
              </a:ext>
            </a:extLst>
          </p:cNvPr>
          <p:cNvSpPr/>
          <p:nvPr/>
        </p:nvSpPr>
        <p:spPr>
          <a:xfrm>
            <a:off x="4318000" y="4216400"/>
            <a:ext cx="35560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B173660F-1513-6801-7CB6-53C3EF0EC0DE}"/>
              </a:ext>
            </a:extLst>
          </p:cNvPr>
          <p:cNvSpPr/>
          <p:nvPr/>
        </p:nvSpPr>
        <p:spPr>
          <a:xfrm>
            <a:off x="4495800" y="4394200"/>
            <a:ext cx="889000" cy="304800"/>
          </a:xfrm>
          <a:prstGeom prst="roundRect">
            <a:avLst/>
          </a:prstGeom>
          <a:solidFill>
            <a:srgbClr val="F9E8EA"/>
          </a:solidFill>
          <a:ln w="9525">
            <a:solidFill>
              <a:srgbClr val="F9E8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72107CA-90E4-74B7-1CF1-DBA92215224B}"/>
              </a:ext>
            </a:extLst>
          </p:cNvPr>
          <p:cNvSpPr txBox="1"/>
          <p:nvPr/>
        </p:nvSpPr>
        <p:spPr>
          <a:xfrm>
            <a:off x="4622800" y="44577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0E6EB8"/>
                </a:solidFill>
                <a:latin typeface="Microsoft YaHei" panose="020B0503020204020204" pitchFamily="34" charset="-122"/>
              </a:rPr>
              <a:t>核心骨干</a:t>
            </a:r>
            <a:endParaRPr lang="zh-Hans-HK" altLang="en-US" sz="1000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7CF0454-C482-536F-A1AC-5634AFDB952C}"/>
              </a:ext>
            </a:extLst>
          </p:cNvPr>
          <p:cNvSpPr txBox="1"/>
          <p:nvPr/>
        </p:nvSpPr>
        <p:spPr>
          <a:xfrm>
            <a:off x="4495800" y="4826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E6EB8"/>
                </a:solidFill>
                <a:latin typeface="Microsoft YaHei" panose="020B0503020204020204" pitchFamily="34" charset="-122"/>
              </a:rPr>
              <a:t>邓应燊</a:t>
            </a:r>
            <a:endParaRPr lang="zh-Hans-HK" altLang="en-US" b="1">
              <a:solidFill>
                <a:srgbClr val="0E6E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4D8DB57-AD50-FE4E-FD7E-EED8C370D90D}"/>
              </a:ext>
            </a:extLst>
          </p:cNvPr>
          <p:cNvSpPr txBox="1"/>
          <p:nvPr/>
        </p:nvSpPr>
        <p:spPr>
          <a:xfrm>
            <a:off x="4495800" y="5156200"/>
            <a:ext cx="218440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软件测评工程师</a:t>
            </a:r>
            <a:r>
              <a:rPr lang="en-US" altLang="zh-CN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40" dirty="0">
                <a:solidFill>
                  <a:srgbClr val="505050"/>
                </a:solidFill>
                <a:latin typeface="Microsoft YaHei" panose="020B0503020204020204" pitchFamily="34" charset="-122"/>
              </a:rPr>
              <a:t>中级工程师</a:t>
            </a:r>
            <a:endParaRPr lang="zh-Hans-HK" altLang="en-US" sz="1040" dirty="0">
              <a:solidFill>
                <a:srgbClr val="50505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8C5C441D-327C-BC14-77B1-B6A5618C7BEA}"/>
              </a:ext>
            </a:extLst>
          </p:cNvPr>
          <p:cNvSpPr txBox="1"/>
          <p:nvPr/>
        </p:nvSpPr>
        <p:spPr>
          <a:xfrm>
            <a:off x="4495800" y="5435600"/>
            <a:ext cx="2235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职称</a:t>
            </a:r>
            <a:r>
              <a:rPr lang="en-US" altLang="zh-CN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1E5AA8"/>
                </a:solidFill>
                <a:latin typeface="Microsoft YaHei" panose="020B0503020204020204" pitchFamily="34" charset="-122"/>
              </a:rPr>
              <a:t>证书：系统集成项目管理工程师（中级）</a:t>
            </a:r>
            <a:endParaRPr lang="zh-Hans-HK" altLang="en-US" sz="1000" b="1" dirty="0">
              <a:solidFill>
                <a:srgbClr val="1E5AA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14C6DDB-5511-58D6-E2E5-11B0863F04DD}"/>
              </a:ext>
            </a:extLst>
          </p:cNvPr>
          <p:cNvSpPr txBox="1"/>
          <p:nvPr/>
        </p:nvSpPr>
        <p:spPr>
          <a:xfrm>
            <a:off x="4495800" y="5812862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10" dirty="0">
                <a:solidFill>
                  <a:srgbClr val="777777"/>
                </a:solidFill>
                <a:latin typeface="Microsoft YaHei" panose="020B0503020204020204" pitchFamily="34" charset="-122"/>
              </a:rPr>
              <a:t>- 3</a:t>
            </a:r>
            <a:r>
              <a:rPr lang="zh-CN" altLang="en-US" sz="1010" dirty="0">
                <a:solidFill>
                  <a:srgbClr val="777777"/>
                </a:solidFill>
                <a:latin typeface="Microsoft YaHei" panose="020B0503020204020204" pitchFamily="34" charset="-122"/>
              </a:rPr>
              <a:t>年第三方检测</a:t>
            </a:r>
            <a:endParaRPr lang="zh-Hans-HK" altLang="en-US" sz="1010" dirty="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EEC16D1C-BCED-2635-07B1-D47E9DB7487C}"/>
              </a:ext>
            </a:extLst>
          </p:cNvPr>
          <p:cNvSpPr txBox="1"/>
          <p:nvPr/>
        </p:nvSpPr>
        <p:spPr>
          <a:xfrm>
            <a:off x="4495800" y="5969000"/>
            <a:ext cx="3200400" cy="1554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zh-Hans-HK" altLang="en-US" sz="1010">
              <a:solidFill>
                <a:srgbClr val="77777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63F0EB1B-8B9A-C3FC-E1BE-31EFEE17645A}"/>
              </a:ext>
            </a:extLst>
          </p:cNvPr>
          <p:cNvSpPr>
            <a:spLocks noChangeAspect="1"/>
          </p:cNvSpPr>
          <p:nvPr/>
        </p:nvSpPr>
        <p:spPr>
          <a:xfrm>
            <a:off x="2819400" y="2362200"/>
            <a:ext cx="974035" cy="11430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ED4CA395-CF7E-7465-770C-1D35F07EC64E}"/>
              </a:ext>
            </a:extLst>
          </p:cNvPr>
          <p:cNvSpPr>
            <a:spLocks noChangeAspect="1"/>
          </p:cNvSpPr>
          <p:nvPr/>
        </p:nvSpPr>
        <p:spPr>
          <a:xfrm>
            <a:off x="6756400" y="2362200"/>
            <a:ext cx="870775" cy="11430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27F4FA77-4476-94EF-CED2-0DF2C2D3941F}"/>
              </a:ext>
            </a:extLst>
          </p:cNvPr>
          <p:cNvSpPr>
            <a:spLocks noChangeAspect="1"/>
          </p:cNvSpPr>
          <p:nvPr/>
        </p:nvSpPr>
        <p:spPr>
          <a:xfrm>
            <a:off x="6756400" y="4485001"/>
            <a:ext cx="939800" cy="1204599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94B43FE-BD97-33D5-C836-70238063A533}"/>
              </a:ext>
            </a:extLst>
          </p:cNvPr>
          <p:cNvSpPr>
            <a:spLocks noChangeAspect="1"/>
          </p:cNvSpPr>
          <p:nvPr/>
        </p:nvSpPr>
        <p:spPr>
          <a:xfrm>
            <a:off x="10693400" y="2362200"/>
            <a:ext cx="891742" cy="114300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3F79F24-6A70-3EAD-E922-929497874056}"/>
              </a:ext>
            </a:extLst>
          </p:cNvPr>
          <p:cNvSpPr>
            <a:spLocks noChangeAspect="1"/>
          </p:cNvSpPr>
          <p:nvPr/>
        </p:nvSpPr>
        <p:spPr>
          <a:xfrm>
            <a:off x="2819400" y="4546600"/>
            <a:ext cx="864617" cy="114300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46102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C66B8"/>
      </a:accent1>
      <a:accent2>
        <a:srgbClr val="2DA8F3"/>
      </a:accent2>
      <a:accent3>
        <a:srgbClr val="3CC2D0"/>
      </a:accent3>
      <a:accent4>
        <a:srgbClr val="50CB8E"/>
      </a:accent4>
      <a:accent5>
        <a:srgbClr val="A1A1A1"/>
      </a:accent5>
      <a:accent6>
        <a:srgbClr val="C9C9C9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temp-source</Template>
  <TotalTime>60</TotalTime>
  <Words>1406</Words>
  <Application>Microsoft Office PowerPoint</Application>
  <PresentationFormat>宽屏</PresentationFormat>
  <Paragraphs>389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MiSans</vt:lpstr>
      <vt:lpstr>微软雅黑</vt:lpstr>
      <vt:lpstr>Arial</vt:lpstr>
      <vt:lpstr>Designed by iSlide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第三方测评服务介绍 - 深圳智信方略工程咨询有限公司</dc:title>
  <dc:subject>第三方测评服务介绍 - 深圳智信方略工程咨询有限公司</dc:subject>
  <dc:creator>Kimi</dc:creator>
  <cp:lastModifiedBy>应燊 邓</cp:lastModifiedBy>
  <cp:revision>49</cp:revision>
  <dcterms:created xsi:type="dcterms:W3CDTF">2026-03-22T09:09:59Z</dcterms:created>
  <dcterms:modified xsi:type="dcterms:W3CDTF">2026-03-23T03:23:25Z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{"Label":"第三方测评服务介绍 - 深圳智信方略工程咨询有限公司","ContentProducer":"001191110108MACG2KBH8F10000","ProduceID":"19d14c66-d382-8c42-8000-0000c3be8586","ReservedCode1":"","ContentPropagator":"001191110108MACG2KBH8F20000","PropagateID":"19d14c66-d382-8c42-8000-0000c3be8586","ReservedCode2":""}</vt:lpwstr>
  </property>
</Properties>
</file>